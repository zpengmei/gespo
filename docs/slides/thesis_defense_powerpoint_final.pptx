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1"/>
  </p:notesMasterIdLst>
  <p:sldIdLst>
    <p:sldId id="256" r:id="rId2"/>
    <p:sldId id="257" r:id="rId3"/>
    <p:sldId id="258" r:id="rId4"/>
    <p:sldId id="259" r:id="rId5"/>
    <p:sldId id="260" r:id="rId6"/>
    <p:sldId id="261" r:id="rId7"/>
    <p:sldId id="306" r:id="rId8"/>
    <p:sldId id="262" r:id="rId9"/>
    <p:sldId id="263" r:id="rId10"/>
    <p:sldId id="264" r:id="rId11"/>
    <p:sldId id="265" r:id="rId12"/>
    <p:sldId id="266" r:id="rId13"/>
    <p:sldId id="268" r:id="rId14"/>
    <p:sldId id="295" r:id="rId15"/>
    <p:sldId id="307" r:id="rId16"/>
    <p:sldId id="273" r:id="rId17"/>
    <p:sldId id="269" r:id="rId18"/>
    <p:sldId id="270" r:id="rId19"/>
    <p:sldId id="274" r:id="rId20"/>
    <p:sldId id="275" r:id="rId21"/>
    <p:sldId id="276" r:id="rId22"/>
    <p:sldId id="271" r:id="rId23"/>
    <p:sldId id="303" r:id="rId24"/>
    <p:sldId id="304" r:id="rId25"/>
    <p:sldId id="277" r:id="rId26"/>
    <p:sldId id="278" r:id="rId27"/>
    <p:sldId id="279" r:id="rId28"/>
    <p:sldId id="280" r:id="rId29"/>
    <p:sldId id="289" r:id="rId30"/>
    <p:sldId id="284" r:id="rId31"/>
    <p:sldId id="305" r:id="rId32"/>
    <p:sldId id="281" r:id="rId33"/>
    <p:sldId id="282" r:id="rId34"/>
    <p:sldId id="283" r:id="rId35"/>
    <p:sldId id="285" r:id="rId36"/>
    <p:sldId id="286" r:id="rId37"/>
    <p:sldId id="287" r:id="rId38"/>
    <p:sldId id="302" r:id="rId39"/>
    <p:sldId id="298" r:id="rId40"/>
    <p:sldId id="299" r:id="rId41"/>
    <p:sldId id="300" r:id="rId42"/>
    <p:sldId id="296" r:id="rId43"/>
    <p:sldId id="297" r:id="rId44"/>
    <p:sldId id="267" r:id="rId45"/>
    <p:sldId id="290" r:id="rId46"/>
    <p:sldId id="288" r:id="rId47"/>
    <p:sldId id="291" r:id="rId48"/>
    <p:sldId id="292" r:id="rId49"/>
    <p:sldId id="294" r:id="rId50"/>
  </p:sldIdLst>
  <p:sldSz cx="12192000" cy="6858000"/>
  <p:notesSz cx="6858000" cy="9144000"/>
  <p:embeddedFontLst>
    <p:embeddedFont>
      <p:font typeface="Cambria Math" panose="02040503050406030204" pitchFamily="18" charset="0"/>
      <p:regular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3" roundtripDataSignature="AMtx7mgsnH7gHeVhv2AL4/VoExdfzkWjk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196" autoAdjust="0"/>
  </p:normalViewPr>
  <p:slideViewPr>
    <p:cSldViewPr snapToGrid="0">
      <p:cViewPr>
        <p:scale>
          <a:sx n="78" d="100"/>
          <a:sy n="78" d="100"/>
        </p:scale>
        <p:origin x="1164" y="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63"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01. Representation and Reinforcement Learning for Molecular Dynamics</a:t>
            </a:r>
          </a:p>
          <a:p>
            <a:endParaRPr dirty="0"/>
          </a:p>
          <a:p>
            <a:r>
              <a:rPr dirty="0"/>
              <a:t>SCRIPT (about 0:30):</a:t>
            </a:r>
          </a:p>
          <a:p>
            <a:endParaRPr dirty="0"/>
          </a:p>
          <a:p>
            <a:r>
              <a:rPr dirty="0"/>
              <a:t>Thank you all for coming. My thesis applies several machine learning methods to molecular dynamics, but they all address two long-standing bottlenecks that limit what MD simulations can tell us: how to represent a molecular configuration so that we can gain insight from the simulations, and where to spend the simulation budget so that we can observe biologically important rare events.</a:t>
            </a:r>
          </a:p>
          <a:p>
            <a:endParaRPr dirty="0"/>
          </a:p>
          <a:p>
            <a:r>
              <a:rPr dirty="0"/>
              <a:t>I will develop methods for both, and test them on the</a:t>
            </a:r>
            <a:r>
              <a:rPr lang="en-US" dirty="0"/>
              <a:t>se</a:t>
            </a:r>
            <a:r>
              <a:rPr lang="zh-CN" altLang="en-US" dirty="0"/>
              <a:t> </a:t>
            </a:r>
            <a:r>
              <a:rPr lang="en-US" altLang="zh-CN" dirty="0"/>
              <a:t>benchmark</a:t>
            </a:r>
            <a:r>
              <a:rPr lang="zh-CN" altLang="en-US" dirty="0"/>
              <a:t> </a:t>
            </a:r>
            <a:r>
              <a:rPr dirty="0"/>
              <a:t>systems you see her</a:t>
            </a:r>
            <a:r>
              <a:rPr lang="en-US" dirty="0"/>
              <a:t>e.</a:t>
            </a:r>
          </a:p>
          <a:p>
            <a:endParaRPr dirty="0"/>
          </a:p>
          <a:p>
            <a:r>
              <a:rPr dirty="0"/>
              <a:t>DETAIL / Q&amp;A:</a:t>
            </a:r>
          </a:p>
          <a:p>
            <a:r>
              <a:rPr dirty="0"/>
              <a:t>Opening, about 30 s. Title, affiliation, advisor.</a:t>
            </a:r>
          </a:p>
          <a:p>
            <a:endParaRPr dirty="0"/>
          </a:p>
          <a:p>
            <a:r>
              <a:rPr dirty="0"/>
              <a:t>One sentence on the thesis: what to represent, and where to simulate, in molecular dynamics. The three test systems on the right return in Part II: alanine dipeptide, Trp-cage, and trypsin–benzamidine.</a:t>
            </a:r>
          </a:p>
        </p:txBody>
      </p:sp>
      <p:sp>
        <p:nvSpPr>
          <p:cNvPr id="83" name="Google Shape;83;p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 name="Google Shape;97;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02. A binding pose does not reveal a binding mechanism</a:t>
            </a:r>
          </a:p>
          <a:p>
            <a:endParaRPr dirty="0"/>
          </a:p>
          <a:p>
            <a:r>
              <a:rPr dirty="0"/>
              <a:t>SCRIPT (about 1:00):</a:t>
            </a:r>
          </a:p>
          <a:p>
            <a:endParaRPr dirty="0"/>
          </a:p>
          <a:p>
            <a:r>
              <a:rPr dirty="0"/>
              <a:t>Let me start with the question that motivates the work. Here is trypsin with benzamidine. On the left is the native binding mode, S1, with the Trp215 loop closed. On the right is an alternative mode, S1-star, where that loop is open.</a:t>
            </a:r>
          </a:p>
          <a:p>
            <a:endParaRPr dirty="0"/>
          </a:p>
          <a:p>
            <a:r>
              <a:rPr dirty="0"/>
              <a:t>A structure tells us where the ligand sits. It does not tell us how the ligand gets in or out, how the pocket changes along the way, or which of those changes happens first. Those are questions about kinetics, and that is what I mean by mechanism. We will come back to exactly this system at the end of the talk.</a:t>
            </a:r>
          </a:p>
          <a:p>
            <a:endParaRPr dirty="0"/>
          </a:p>
          <a:p>
            <a:r>
              <a:rPr dirty="0"/>
              <a:t>DETAIL / Q&amp;A:</a:t>
            </a:r>
          </a:p>
          <a:p>
            <a:r>
              <a:rPr dirty="0"/>
              <a:t>A structure is a snapshot; binding is a process. The two panels show benzamidine in trypsin in the native S1 mode (Trp215 loop closed) and the alternative S1* mode (loop open), as defined by Plattner &amp; Noé.</a:t>
            </a:r>
          </a:p>
          <a:p>
            <a:endParaRPr dirty="0"/>
          </a:p>
          <a:p>
            <a:r>
              <a:rPr dirty="0"/>
              <a:t>The questions on the right are the ones a pose cannot answer: the route in and out, how the pocket changes, and which change comes first. Say that trypsin returns as Test 3.</a:t>
            </a:r>
          </a:p>
        </p:txBody>
      </p:sp>
      <p:sp>
        <p:nvSpPr>
          <p:cNvPr id="98" name="Google Shape;98;p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7" name="Google Shape;117;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03. Structures show where; MD shows how and how fast</a:t>
            </a:r>
          </a:p>
          <a:p>
            <a:endParaRPr dirty="0"/>
          </a:p>
          <a:p>
            <a:r>
              <a:rPr dirty="0"/>
              <a:t>SCRIPT (about 1:30):</a:t>
            </a:r>
          </a:p>
          <a:p>
            <a:endParaRPr dirty="0"/>
          </a:p>
          <a:p>
            <a:r>
              <a:rPr dirty="0"/>
              <a:t>Here is a toy model that makes the point concrete. On the left are independent samples from a two-dimensional energy landscape. They tell us there are two states, A and B, and very few samples sit between them.</a:t>
            </a:r>
          </a:p>
          <a:p>
            <a:endParaRPr dirty="0"/>
          </a:p>
          <a:p>
            <a:r>
              <a:rPr dirty="0"/>
              <a:t>[click] Now we run dynamics on that landscape. The trajectory stays in A for a long time, then occasionally crosses to B. The orange segments are the crossings. Eighty percent of them take the lower route, and the strip below shows how often they happen. That frequency is a rate, which no set of structures can give us.</a:t>
            </a:r>
          </a:p>
          <a:p>
            <a:endParaRPr dirty="0"/>
          </a:p>
          <a:p>
            <a:r>
              <a:rPr dirty="0"/>
              <a:t>[click] On the right is a second landscape. I added one thin barrier on the lower route. Its equilibrium ensemble differs from the first by less than one percent, so the samples on the left describe both landscapes equally well. But the dynamics are different: transitions now go over the top, and they are four and a half times less frequent.</a:t>
            </a:r>
          </a:p>
          <a:p>
            <a:endParaRPr dirty="0"/>
          </a:p>
          <a:p>
            <a:r>
              <a:rPr dirty="0"/>
              <a:t>So the mechanism of these rare events lives in regions that structures barely visit, and dynamical simulation is what </a:t>
            </a:r>
            <a:r>
              <a:rPr lang="en-US" dirty="0"/>
              <a:t>describes</a:t>
            </a:r>
            <a:r>
              <a:rPr dirty="0"/>
              <a:t> them. </a:t>
            </a:r>
            <a:endParaRPr lang="en-US" dirty="0"/>
          </a:p>
          <a:p>
            <a:endParaRPr dirty="0"/>
          </a:p>
          <a:p>
            <a:r>
              <a:rPr dirty="0"/>
              <a:t>DETAIL / Q&amp;A:</a:t>
            </a:r>
          </a:p>
          <a:p>
            <a:r>
              <a:rPr dirty="0"/>
              <a:t>Suggested window: about 90 seconds (three clicks).</a:t>
            </a:r>
          </a:p>
          <a:p>
            <a:endParaRPr dirty="0"/>
          </a:p>
          <a:p>
            <a:r>
              <a:rPr dirty="0"/>
              <a:t>LEFT (on entry): Independent structures, whether from experiment, structure prediction or an equilibrium generator, tell us where the long-lived states are. Here: two basins, A and B. Very few samples sit between them, because transition regions have low equilibrium probability.</a:t>
            </a:r>
          </a:p>
          <a:p>
            <a:r>
              <a:rPr dirty="0"/>
              <a:t>CLICK 1: Now run dynamics on this landscape. The trajectory rattles in A, then occasionally crosses to B (orange = transition paths). The crossings go along the lower route, and the strip below shows how often they happen. That frequency is a rate, which a set of structures cannot give.</a:t>
            </a:r>
          </a:p>
          <a:p>
            <a:r>
              <a:rPr dirty="0"/>
              <a:t>CLICK 2: Second landscape. I added one thin barrier on the lower route. Its equilibrium ensemble is essentially identical (the two differ by less than 1%), so the structures on the left describe both systems equally well. But the dynamics are different: transitions now go over the top and are about 4.5 times less frequent.</a:t>
            </a:r>
          </a:p>
          <a:p>
            <a:r>
              <a:rPr dirty="0"/>
              <a:t>BRIDGE (say it here, pay it off at chignolin): the thin barrier is the toy version of a side chain blocking a route. It barely changes the ensemble but changes the mechanism. The Thr6/Thr8 side-chain result on the chignolin slides is the molecular example: a learned coordinate has to keep side-chain detail to see it.</a:t>
            </a:r>
          </a:p>
          <a:p>
            <a:r>
              <a:rPr dirty="0"/>
              <a:t>TAKEAWAY: Pathways and rates are set in the regions structures rarely visit. Time-ordered MD is what reaches them. This motivates both bottlenecks on the next slide: representing trajectories and sampling the rare crossings.</a:t>
            </a:r>
          </a:p>
          <a:p>
            <a:endParaRPr dirty="0"/>
          </a:p>
          <a:p>
            <a:r>
              <a:rPr dirty="0"/>
              <a:t>If asked: 2D overdamped Langevin, </a:t>
            </a:r>
            <a:r>
              <a:rPr dirty="0" err="1"/>
              <a:t>kT</a:t>
            </a:r>
            <a:r>
              <a:rPr dirty="0"/>
              <a:t> = 1, D = 1, dt = 0.002; route barriers 3.5 and 5 </a:t>
            </a:r>
            <a:r>
              <a:rPr dirty="0" err="1"/>
              <a:t>kT</a:t>
            </a:r>
            <a:r>
              <a:rPr dirty="0"/>
              <a:t>; thin Gaussian barrier 6 </a:t>
            </a:r>
            <a:r>
              <a:rPr dirty="0" err="1"/>
              <a:t>kT.</a:t>
            </a:r>
            <a:r>
              <a:rPr dirty="0"/>
              <a:t> Rate ratio from 200 independent trajectories per landscape (0.042 vs 0.0095 transitions per unit time). This is a toy model, not a molecular system.</a:t>
            </a:r>
          </a:p>
        </p:txBody>
      </p:sp>
      <p:sp>
        <p:nvSpPr>
          <p:cNvPr id="118" name="Google Shape;118;p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2" name="Google Shape;162;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04. Two bottlenecks of MD</a:t>
            </a:r>
          </a:p>
          <a:p>
            <a:endParaRPr dirty="0"/>
          </a:p>
          <a:p>
            <a:r>
              <a:rPr dirty="0"/>
              <a:t>SCRIPT (about 1:00):</a:t>
            </a:r>
          </a:p>
          <a:p>
            <a:endParaRPr dirty="0"/>
          </a:p>
          <a:p>
            <a:r>
              <a:rPr dirty="0"/>
              <a:t>Molecular dynamics has two bottlenecks for this kind of question.</a:t>
            </a:r>
          </a:p>
          <a:p>
            <a:endParaRPr dirty="0"/>
          </a:p>
          <a:p>
            <a:r>
              <a:rPr dirty="0"/>
              <a:t>The first is representation. Even with perfect sampling, interpreting trajectories in a high-dimensional space is hard. On the left, both states have been sampled, but if we describe them with a coordinate chosen for geometric variance, they project onto each other and the slow process disappears.</a:t>
            </a:r>
          </a:p>
          <a:p>
            <a:endParaRPr dirty="0"/>
          </a:p>
          <a:p>
            <a:r>
              <a:rPr dirty="0"/>
              <a:t>The second is sampling. On the right, the coordinate would separate the states, but the trajectory never crosses the barrier, so the transition is missing from the data. Worse, we usually do not know whether important basins are missing at all. Enhanced sampling methods need a human prior, such as a choice of collective variables, so their results are biased toward that prior, and they can be less trustworthy than they appear.</a:t>
            </a:r>
          </a:p>
          <a:p>
            <a:endParaRPr dirty="0"/>
          </a:p>
          <a:p>
            <a:r>
              <a:rPr dirty="0"/>
              <a:t>The two halves of my thesis address these two problems. Representation learning keeps slow </a:t>
            </a:r>
            <a:r>
              <a:rPr lang="en-US" dirty="0"/>
              <a:t>collective variables</a:t>
            </a:r>
            <a:r>
              <a:rPr dirty="0"/>
              <a:t> visible. Reinforcement learning decides where to sample. And the two </a:t>
            </a:r>
            <a:r>
              <a:rPr lang="en-US" dirty="0"/>
              <a:t>questions </a:t>
            </a:r>
            <a:r>
              <a:rPr dirty="0"/>
              <a:t>are coupled: the representation decides which trajectories count as informative, and each new batch of trajectories improves the representation. That coupling runs through the rest of this talk.</a:t>
            </a:r>
          </a:p>
          <a:p>
            <a:endParaRPr dirty="0"/>
          </a:p>
          <a:p>
            <a:r>
              <a:rPr dirty="0"/>
              <a:t>DETAIL / Q&amp;A:</a:t>
            </a:r>
          </a:p>
          <a:p>
            <a:r>
              <a:rPr dirty="0"/>
              <a:t>Two bottlenecks. Left, representation: both states are sampled, but a coordinate chosen for geometric variance projects them onto each other. Right, sampling: the coordinate would separate the states, but the trajectory never crosses.</a:t>
            </a:r>
          </a:p>
          <a:p>
            <a:endParaRPr dirty="0"/>
          </a:p>
          <a:p>
            <a:r>
              <a:rPr dirty="0"/>
              <a:t>The bottom row states what each part of the thesis does: representation learning keeps slow distinctions visible; reinforcement learning chooses where to sample.</a:t>
            </a:r>
          </a:p>
        </p:txBody>
      </p:sp>
      <p:sp>
        <p:nvSpPr>
          <p:cNvPr id="163" name="Google Shape;163;p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3" name="Google Shape;233;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05. A closed loop links representation, kinetics, and sampling</a:t>
            </a:r>
          </a:p>
          <a:p>
            <a:endParaRPr dirty="0"/>
          </a:p>
          <a:p>
            <a:r>
              <a:rPr dirty="0"/>
              <a:t>SCRIPT (about 1:00):</a:t>
            </a:r>
          </a:p>
          <a:p>
            <a:endParaRPr dirty="0"/>
          </a:p>
          <a:p>
            <a:r>
              <a:rPr dirty="0"/>
              <a:t>This loop is the roadmap, and each box is tagged with its chapters</a:t>
            </a:r>
            <a:r>
              <a:rPr lang="en-US" dirty="0"/>
              <a:t> in the thesis</a:t>
            </a:r>
            <a:r>
              <a:rPr dirty="0"/>
              <a:t>.</a:t>
            </a:r>
          </a:p>
          <a:p>
            <a:endParaRPr dirty="0"/>
          </a:p>
          <a:p>
            <a:r>
              <a:rPr dirty="0"/>
              <a:t>We start from a geometric representation: pretrained all-atom encoders turn each configuration into features. A kinetic model, trained with time-lagged objectives, turns those features into slow coordinates and states. The kinetic model then scores trajectories, and a generative sampling policy learns where to start the next ones. Those short trajectories are ordinary unbiased molecular dynamics, and their data flow back into the representation</a:t>
            </a:r>
            <a:r>
              <a:rPr lang="en-US" dirty="0"/>
              <a:t> in a recursive way.</a:t>
            </a:r>
            <a:endParaRPr dirty="0"/>
          </a:p>
          <a:p>
            <a:endParaRPr dirty="0"/>
          </a:p>
          <a:p>
            <a:r>
              <a:rPr dirty="0"/>
              <a:t>Part I covers the top of this loop; Part II closes it.</a:t>
            </a:r>
          </a:p>
          <a:p>
            <a:endParaRPr dirty="0"/>
          </a:p>
          <a:p>
            <a:r>
              <a:rPr dirty="0"/>
              <a:t>DETAIL / Q&amp;A:</a:t>
            </a:r>
          </a:p>
          <a:p>
            <a:r>
              <a:rPr dirty="0"/>
              <a:t>Roadmap. The loop has four parts, each tagged with its chapters: geometric representation (Ch. 3–4, SubFormer and pretraining), kinetic model (Ch. 5–6, Geom2Vec and token merging), the generative sampling policy (Ch. 7, GESPO), and unbiased MD.</a:t>
            </a:r>
          </a:p>
          <a:p>
            <a:endParaRPr dirty="0"/>
          </a:p>
          <a:p>
            <a:r>
              <a:rPr dirty="0"/>
              <a:t>The policy decides where to sample; it never touches the equations of motion. The same loop returns on the synthesis slide.</a:t>
            </a:r>
          </a:p>
        </p:txBody>
      </p:sp>
      <p:sp>
        <p:nvSpPr>
          <p:cNvPr id="234" name="Google Shape;234;p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5" name="Google Shape;265;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06. Pretrain once, then </a:t>
            </a:r>
            <a:r>
              <a:rPr dirty="0" err="1"/>
              <a:t>featurize</a:t>
            </a:r>
            <a:r>
              <a:rPr dirty="0"/>
              <a:t> every MD frame</a:t>
            </a:r>
          </a:p>
          <a:p>
            <a:endParaRPr dirty="0"/>
          </a:p>
          <a:p>
            <a:r>
              <a:rPr dirty="0"/>
              <a:t>SCRIPT (about 1:30):</a:t>
            </a:r>
          </a:p>
          <a:p>
            <a:endParaRPr dirty="0"/>
          </a:p>
          <a:p>
            <a:r>
              <a:rPr dirty="0"/>
              <a:t>Part I is about representation. The idea is called Geom2Vec, by analogy with word2vec: learn a general vector representation once, then reuse it for many tasks.</a:t>
            </a:r>
          </a:p>
          <a:p>
            <a:endParaRPr dirty="0"/>
          </a:p>
          <a:p>
            <a:r>
              <a:rPr dirty="0"/>
              <a:t>It has three steps. First, we pretrain an equivariant graph neural network, with a denoising objective: we perturb the coordinates of 2.3 million conformations of small molecules and train the network to predict the noise. No energies or labels are needed.</a:t>
            </a:r>
          </a:p>
          <a:p>
            <a:endParaRPr dirty="0"/>
          </a:p>
          <a:p>
            <a:r>
              <a:rPr dirty="0"/>
              <a:t>Second, we freeze that encoder and apply it to every frame of an MD trajectory. Every heavy atom gets a feature vector, and we pool the atoms of each residue into one token.</a:t>
            </a:r>
          </a:p>
          <a:p>
            <a:endParaRPr dirty="0"/>
          </a:p>
          <a:p>
            <a:r>
              <a:rPr dirty="0"/>
              <a:t>Third, only a small head is trained for the downstream task: a token mixer followed by a kinetic objective such as VAMP or SPIB.</a:t>
            </a:r>
          </a:p>
          <a:p>
            <a:endParaRPr dirty="0"/>
          </a:p>
          <a:p>
            <a:r>
              <a:rPr dirty="0"/>
              <a:t>Why freeze the encoder? Kinetic objectives need very large batches of frame pairs to estimate their covariance matrices. Recomputing an all-atom network for every pair at that batch size would need far more memory</a:t>
            </a:r>
            <a:r>
              <a:rPr lang="en-US" dirty="0"/>
              <a:t> </a:t>
            </a:r>
            <a:r>
              <a:rPr dirty="0"/>
              <a:t>than a single GPU, or even several, and would recompute the same frames over and over. With precomputed features, training fits on one GPU at orders of magnitude lower cost.</a:t>
            </a:r>
          </a:p>
          <a:p>
            <a:endParaRPr dirty="0"/>
          </a:p>
          <a:p>
            <a:r>
              <a:rPr dirty="0"/>
              <a:t>DETAIL / Q&amp;A:</a:t>
            </a:r>
          </a:p>
          <a:p>
            <a:r>
              <a:rPr dirty="0"/>
              <a:t>Geom2Vec in three steps. Pretrain an equivariant GNN (</a:t>
            </a:r>
            <a:r>
              <a:rPr dirty="0" err="1"/>
              <a:t>ViSNet</a:t>
            </a:r>
            <a:r>
              <a:rPr dirty="0"/>
              <a:t>) once by denoising 2.3 million conformations of 215,000 molecules (</a:t>
            </a:r>
            <a:r>
              <a:rPr dirty="0" err="1"/>
              <a:t>OrbNet</a:t>
            </a:r>
            <a:r>
              <a:rPr dirty="0"/>
              <a:t> Denali). Freeze it and </a:t>
            </a:r>
            <a:r>
              <a:rPr dirty="0" err="1"/>
              <a:t>featurize</a:t>
            </a:r>
            <a:r>
              <a:rPr dirty="0"/>
              <a:t> every MD frame, pooling heavy atoms into residue tokens. Train only a small head: a token mixer with a VAMP or SPIB objective.</a:t>
            </a:r>
          </a:p>
          <a:p>
            <a:endParaRPr dirty="0"/>
          </a:p>
          <a:p>
            <a:r>
              <a:rPr dirty="0"/>
              <a:t>Why freezing matters: VAMP training needs large batches of time-lagged frame pairs (1,000–5,000) to estimate the covariance matrices stably. Recomputing an all-atom GNN for every pair at that batch size would not fit on a single GPU; for Trp-cage we estimated about 100 GB of memory at a batch of 1,000. With precomputed features, a </a:t>
            </a:r>
            <a:r>
              <a:rPr dirty="0" err="1"/>
              <a:t>VAMPnet</a:t>
            </a:r>
            <a:r>
              <a:rPr dirty="0"/>
              <a:t> trains in minutes on one GPU.</a:t>
            </a:r>
          </a:p>
        </p:txBody>
      </p:sp>
      <p:sp>
        <p:nvSpPr>
          <p:cNvPr id="266" name="Google Shape;266;p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07. Pretrained features organize residues by local geometry</a:t>
            </a:r>
          </a:p>
          <a:p>
            <a:endParaRPr dirty="0"/>
          </a:p>
          <a:p>
            <a:r>
              <a:rPr dirty="0"/>
              <a:t>SCRIPT (about 1:15):</a:t>
            </a:r>
          </a:p>
          <a:p>
            <a:endParaRPr dirty="0"/>
          </a:p>
          <a:p>
            <a:r>
              <a:rPr dirty="0"/>
              <a:t>Before using these features for dynamics, we should ask whether they encode anything about protein geometry at all, since the encoder only ever saw small molecules.</a:t>
            </a:r>
          </a:p>
          <a:p>
            <a:endParaRPr dirty="0"/>
          </a:p>
          <a:p>
            <a:r>
              <a:rPr dirty="0"/>
              <a:t>Here we take histidine residues from a protein-fold dataset and project their embeddings to two dimensions. On the left is the reference: the residues' backbone and side-chain angles, which cluster by construction. That projection also sets the colors in all three panels.</a:t>
            </a:r>
          </a:p>
          <a:p>
            <a:endParaRPr dirty="0"/>
          </a:p>
          <a:p>
            <a:r>
              <a:rPr dirty="0"/>
              <a:t>In the middle, the pretrained embedding keeps the same color groups together as compact clusters. On the right, the same network without pretraining mixes them. So the organization comes from pretraining, not from the architecture alone.</a:t>
            </a:r>
          </a:p>
          <a:p>
            <a:endParaRPr dirty="0"/>
          </a:p>
          <a:p>
            <a:r>
              <a:rPr dirty="0"/>
              <a:t>On the right, each cluster corresponds to one side-chain conformation. The isolated points turned out to be broken residues from preprocessing errors in the dataset, which the embedding exposes. So these features resolve local geometry. They do not yet know anything about time.</a:t>
            </a:r>
          </a:p>
          <a:p>
            <a:endParaRPr dirty="0"/>
          </a:p>
          <a:p>
            <a:r>
              <a:rPr dirty="0"/>
              <a:t>DETAIL / Q&amp;A:</a:t>
            </a:r>
          </a:p>
          <a:p>
            <a:r>
              <a:rPr dirty="0"/>
              <a:t>Does a network pretrained only to denoise small-molecule coordinates encode anything about protein geometry? Here each histidine residue from a protein fold dataset is embedded with its sequence neighbors, and the embeddings are projected to 2D with t-SNE.</a:t>
            </a:r>
          </a:p>
          <a:p>
            <a:endParaRPr dirty="0"/>
          </a:p>
          <a:p>
            <a:r>
              <a:rPr dirty="0"/>
              <a:t>Left: t-SNE of the residue's backbone and side-chain angles, which clusters by construction; this is the reference, and its 1D projection sets the colors in every panel. Middle: the pretrained embedding. The same color groups stay together as compact clusters. Right: the same architecture untrained. Groups overlap, so the organization comes from pretraining, not the architecture alone.</a:t>
            </a:r>
          </a:p>
          <a:p>
            <a:endParaRPr dirty="0"/>
          </a:p>
          <a:p>
            <a:r>
              <a:rPr dirty="0"/>
              <a:t>Right panel: representative structures for the pretrained clusters; each is a distinct side-chain conformation. The circled isolated points turned out to be broken fragments from preprocessing errors in the dataset, which the embedding exposes and angle features hide.</a:t>
            </a:r>
          </a:p>
          <a:p>
            <a:endParaRPr dirty="0"/>
          </a:p>
          <a:p>
            <a:r>
              <a:rPr dirty="0"/>
              <a:t>Point to make: these features are geometric, not kinetic. The next slide adds time.</a:t>
            </a:r>
          </a:p>
          <a:p>
            <a:endParaRPr dirty="0"/>
          </a:p>
          <a:p>
            <a:r>
              <a:rPr dirty="0"/>
              <a:t>If asked: angle features lack all-atom resolution and environment, so the comparison is for consistency, not a ranking. The same pattern holds for Asp, Cys and Met in the appendix.</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5" name="Google Shape;285;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08. Time-lagged learning asks which distinctions persist</a:t>
            </a:r>
          </a:p>
          <a:p>
            <a:endParaRPr dirty="0"/>
          </a:p>
          <a:p>
            <a:r>
              <a:rPr dirty="0"/>
              <a:t>SCRIPT (about 1:15):</a:t>
            </a:r>
          </a:p>
          <a:p>
            <a:endParaRPr dirty="0"/>
          </a:p>
          <a:p>
            <a:r>
              <a:rPr dirty="0"/>
              <a:t>This is how we add time. We take a configuration at time t and another at time t plus tau from the same trajectory. Both go through the same frozen encoder, and a trainable projection, chi, maps them to a few coordinates.</a:t>
            </a:r>
          </a:p>
          <a:p>
            <a:endParaRPr dirty="0"/>
          </a:p>
          <a:p>
            <a:r>
              <a:rPr dirty="0"/>
              <a:t>The time-lagged objective rewards coordinates that stay correlated across the lag. Fast fluctuations decorrelate quickly and are ignored; slow conformational changes persist and are kept.</a:t>
            </a:r>
          </a:p>
          <a:p>
            <a:endParaRPr dirty="0"/>
          </a:p>
          <a:p>
            <a:r>
              <a:rPr dirty="0"/>
              <a:t>One methodological point matters here. Neighboring frames in a trajectory are almost identical, so a random train-validation split lets a model score well by memorizing. We train on the first half of each trajectory and validate on the second half.</a:t>
            </a:r>
            <a:r>
              <a:rPr lang="en-US" dirty="0"/>
              <a:t> Or we split by trajectories.</a:t>
            </a:r>
            <a:endParaRPr dirty="0"/>
          </a:p>
          <a:p>
            <a:endParaRPr dirty="0"/>
          </a:p>
          <a:p>
            <a:r>
              <a:rPr dirty="0"/>
              <a:t>DETAIL / Q&amp;A:</a:t>
            </a:r>
          </a:p>
          <a:p>
            <a:r>
              <a:rPr dirty="0"/>
              <a:t>Time-lagged learning. The same frozen encoder embeds X(t) and X(t + τ); a trainable projection χ is shared across both times; the objective rewards features that stay correlated over the lag.</a:t>
            </a:r>
          </a:p>
          <a:p>
            <a:endParaRPr dirty="0"/>
          </a:p>
          <a:p>
            <a:r>
              <a:rPr dirty="0"/>
              <a:t>Validation must respect time. Neighboring frames are highly correlated, so a random split rewards memorization. We train on the first half of each trajectory and validate on the second half.</a:t>
            </a:r>
          </a:p>
        </p:txBody>
      </p:sp>
      <p:sp>
        <p:nvSpPr>
          <p:cNvPr id="286" name="Google Shape;286;p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09. All-atom features resolve four folded substates</a:t>
            </a:r>
          </a:p>
          <a:p>
            <a:endParaRPr dirty="0"/>
          </a:p>
          <a:p>
            <a:r>
              <a:rPr dirty="0"/>
              <a:t>SCRIPT (about 1:15):</a:t>
            </a:r>
          </a:p>
          <a:p>
            <a:endParaRPr dirty="0"/>
          </a:p>
          <a:p>
            <a:r>
              <a:rPr dirty="0"/>
              <a:t>The first test is chignolin, a ten-residue hairpin, using a 106-microsecond trajectory from D. E. Shaw Research. Every heavy atom enters the model.</a:t>
            </a:r>
          </a:p>
          <a:p>
            <a:endParaRPr dirty="0"/>
          </a:p>
          <a:p>
            <a:r>
              <a:rPr dirty="0"/>
              <a:t>The VAMP model learns two slow coordinates. The first separates unfolded from folded configurations, which is expected. The second is more interesting: it splits the folded ensemble into four substates.</a:t>
            </a:r>
          </a:p>
          <a:p>
            <a:endParaRPr dirty="0"/>
          </a:p>
          <a:p>
            <a:r>
              <a:rPr dirty="0"/>
              <a:t>DETAIL / Q&amp;A:</a:t>
            </a:r>
          </a:p>
          <a:p>
            <a:r>
              <a:rPr dirty="0"/>
              <a:t>Chignolin, 10 residues, 106 </a:t>
            </a:r>
            <a:r>
              <a:rPr dirty="0" err="1"/>
              <a:t>μs</a:t>
            </a:r>
            <a:r>
              <a:rPr dirty="0"/>
              <a:t> at 340 K from D. E. Shaw Research. All heavy atoms enter the model.</a:t>
            </a:r>
          </a:p>
          <a:p>
            <a:endParaRPr dirty="0"/>
          </a:p>
          <a:p>
            <a:r>
              <a:rPr dirty="0"/>
              <a:t>CV 1 separates unfolded from folded configurations. CV 2 splits the folded ensemble into four substates; the next slide shows what they are.</a:t>
            </a:r>
          </a:p>
        </p:txBody>
      </p:sp>
      <p:sp>
        <p:nvSpPr>
          <p:cNvPr id="328" name="Google Shape;328;p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9" name="Google Shape;349;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10. Thr6 and Thr8 rotamers define the four folded substates</a:t>
            </a:r>
          </a:p>
          <a:p>
            <a:endParaRPr dirty="0"/>
          </a:p>
          <a:p>
            <a:r>
              <a:rPr dirty="0"/>
              <a:t>SCRIPT (about 1:15):</a:t>
            </a:r>
          </a:p>
          <a:p>
            <a:endParaRPr dirty="0"/>
          </a:p>
          <a:p>
            <a:r>
              <a:rPr dirty="0"/>
              <a:t>To see what those substates are, we plot the learned coordinates against physical ones: the fraction of native contacts, and the chi-1 side-chain angle of threonine 6 or threonine 8.</a:t>
            </a:r>
          </a:p>
          <a:p>
            <a:endParaRPr dirty="0"/>
          </a:p>
          <a:p>
            <a:r>
              <a:rPr dirty="0"/>
              <a:t>The first coordinate tracks native contacts, so it is folding. The second tracks the two threonine side chains. Each has two rotamers, which gives four combinations and four folded substates.</a:t>
            </a:r>
          </a:p>
          <a:p>
            <a:endParaRPr dirty="0"/>
          </a:p>
          <a:p>
            <a:r>
              <a:rPr dirty="0"/>
              <a:t>This is the molecular version of the thin barrier from the toy model. The backbone barely changes, so backbone coordinates and structure ensembles treat these substates as one, yet they are kinetically distinct. No side-chain angle was given to the model; the all-atom features kept that detail on their own.</a:t>
            </a:r>
          </a:p>
          <a:p>
            <a:endParaRPr dirty="0"/>
          </a:p>
          <a:p>
            <a:r>
              <a:rPr dirty="0"/>
              <a:t>DETAIL / Q&amp;A:</a:t>
            </a:r>
          </a:p>
          <a:p>
            <a:r>
              <a:rPr dirty="0"/>
              <a:t>Each panel plots the mean learned CV against the fraction of native contacts and a threonine χ1 angle. CV 1 tracks folding. CV 2 tracks the rotamers of Thr6 and Thr8: two each, four combinations, four folded substates.</a:t>
            </a:r>
          </a:p>
          <a:p>
            <a:endParaRPr dirty="0"/>
          </a:p>
          <a:p>
            <a:r>
              <a:rPr dirty="0"/>
              <a:t>No side-chain angle was given to the model, and backbone-only inputs cannot resolve these substates. An earlier study found them only after adding hand-picked side-chain distances.</a:t>
            </a:r>
          </a:p>
          <a:p>
            <a:endParaRPr dirty="0"/>
          </a:p>
          <a:p>
            <a:r>
              <a:rPr dirty="0"/>
              <a:t>CALLBACK to slide 3: this is the molecular version of the thin barrier. Two rotamers each for Thr6 and Thr8 barely change the backbone, yet the substates are kinetically distinct. The all-atom features keep that detail without anyone choosing χ1 as an input.</a:t>
            </a:r>
          </a:p>
        </p:txBody>
      </p:sp>
      <p:sp>
        <p:nvSpPr>
          <p:cNvPr id="350" name="Google Shape;350;p1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5" name="Google Shape;365;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11. All-atom features help most where side chains matter</a:t>
            </a:r>
          </a:p>
          <a:p>
            <a:endParaRPr/>
          </a:p>
          <a:p>
            <a:r>
              <a:t>SCRIPT (about 1:15):</a:t>
            </a:r>
          </a:p>
          <a:p>
            <a:endParaRPr/>
          </a:p>
          <a:p>
            <a:r>
              <a:t>These are VAMP-2 scores on the held-out half of each trajectory, as a function of how much training data we use.</a:t>
            </a:r>
          </a:p>
          <a:p>
            <a:endParaRPr/>
          </a:p>
          <a:p>
            <a:r>
              <a:t>For chignolin, where the slow process involves side chains, every all-atom variant beats a model built on distances between C-alpha atoms. For Trp-cage, folding is well described by C-alpha distances, so the distance model and the token mixers perform comparably. Summing the features without a mixer does worst there.</a:t>
            </a:r>
          </a:p>
          <a:p>
            <a:endParaRPr/>
          </a:p>
          <a:p>
            <a:r>
              <a:t>So all-atom features help most when the slow process involves side chains, and a token mixer matters when the protein gets larger. The absolute scores are lower than some published values because we validate on data held out in time.</a:t>
            </a:r>
          </a:p>
          <a:p>
            <a:endParaRPr/>
          </a:p>
          <a:p>
            <a:r>
              <a:t>DETAIL / Q&amp;A:</a:t>
            </a:r>
          </a:p>
          <a:p>
            <a:r>
              <a:t>Held-out VAMP-2 scores as a function of training data. Chignolin: every all-atom GNN variant beats an MLP on Cα distances, because the slow process involves side chains. Trp-cage: Cα distances already describe folding, so the distance MLP and the mixers perform comparably, and simple summation is lowest.</a:t>
            </a:r>
          </a:p>
          <a:p>
            <a:endParaRPr/>
          </a:p>
          <a:p>
            <a:r>
              <a:t>Scores are lower than some published values because validation is on the second half of each trajectory, held out in time.</a:t>
            </a:r>
          </a:p>
        </p:txBody>
      </p:sp>
      <p:sp>
        <p:nvSpPr>
          <p:cNvPr id="366" name="Google Shape;366;p1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3" name="Google Shape;383;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12. A learned state map can be read in molecular terms</a:t>
            </a:r>
          </a:p>
          <a:p>
            <a:endParaRPr/>
          </a:p>
          <a:p>
            <a:r>
              <a:t>SCRIPT (about 1:00):</a:t>
            </a:r>
          </a:p>
          <a:p>
            <a:endParaRPr/>
          </a:p>
          <a:p>
            <a:r>
              <a:t>The same features also support state discovery. Here we use SPIB on the 208-microsecond Trp-cage trajectory and build a Markov state model at a 20-nanosecond lag.</a:t>
            </a:r>
          </a:p>
          <a:p>
            <a:endParaRPr/>
          </a:p>
          <a:p>
            <a:r>
              <a:t>It finds thirteen metastable states. State 11 is the folded structure. States 1 and 2 keep the alpha-helix, and state 8 keeps the 3-10 helix. State 5 is an unfolded hub that connects the intermediates to the folded state.</a:t>
            </a:r>
          </a:p>
          <a:p>
            <a:endParaRPr/>
          </a:p>
          <a:p>
            <a:r>
              <a:t>So Part I gives us a representation that sees atomistic detail and a kinetic model built on it. But all of this used a long trajectory that someone had already run. Part II asks how to collect such data ourselves, efficiently. Trp-cage will come back there.</a:t>
            </a:r>
          </a:p>
          <a:p>
            <a:endParaRPr/>
          </a:p>
          <a:p>
            <a:r>
              <a:t>DETAIL / Q&amp;A:</a:t>
            </a:r>
          </a:p>
          <a:p>
            <a:r>
              <a:t>SPIB on Geom2Vec features of the 208 μs Trp-cage trajectory, Markov model at 20 ns lag. Thirteen metastable states. S11 is folded; S1 and S2 keep the α-helix; S8 keeps the 3₁₀-helix; S5 is an unfolded hub that connects the intermediates to the folded state.</a:t>
            </a:r>
          </a:p>
          <a:p>
            <a:endParaRPr/>
          </a:p>
          <a:p>
            <a:r>
              <a:t>This same protein returns in Part II, where GESPO collects its own data.</a:t>
            </a:r>
          </a:p>
        </p:txBody>
      </p:sp>
      <p:sp>
        <p:nvSpPr>
          <p:cNvPr id="384" name="Google Shape;384;p1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1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2" name="Google Shape;412;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13. Adaptive sampling as policy optimization</a:t>
            </a:r>
          </a:p>
          <a:p>
            <a:endParaRPr dirty="0"/>
          </a:p>
          <a:p>
            <a:r>
              <a:rPr dirty="0"/>
              <a:t>SCRIPT (about 1:45):</a:t>
            </a:r>
          </a:p>
          <a:p>
            <a:endParaRPr dirty="0"/>
          </a:p>
          <a:p>
            <a:r>
              <a:rPr dirty="0"/>
              <a:t>Part II turns to the second bottleneck: sampling. The idea comes from how large language models are post-trained. At the top is group relative policy optimization, or GRPO. A pretrained model generates a group of answers, a reward model scores each one, and the model is updated toward the answers that did better than the rest of their group.</a:t>
            </a:r>
          </a:p>
          <a:p>
            <a:endParaRPr dirty="0"/>
          </a:p>
          <a:p>
            <a:r>
              <a:rPr dirty="0"/>
              <a:t>GESPO applies the same update to molecular simulation. Follow the numbers. One: a generative policy proposes a group of initial conformations. Two: each proposal is realized as an all-atom structure, by taking a nearby frame from the data collected so far, </a:t>
            </a:r>
            <a:r>
              <a:rPr lang="en-US" dirty="0"/>
              <a:t>steering</a:t>
            </a:r>
            <a:r>
              <a:rPr dirty="0"/>
              <a:t> it briefly toward the proposal, and releasing it. Three: short unbiased trajectories run in parallel from those structures. Four: a kinetic model built on Geom2Vec scores each trajectory. Five: rewards are compared within the group, and the policy is updated.</a:t>
            </a:r>
          </a:p>
          <a:p>
            <a:endParaRPr dirty="0"/>
          </a:p>
          <a:p>
            <a:r>
              <a:rPr dirty="0"/>
              <a:t>Two points matter here. The policy only decides where to sample; the dynamics themselves are never biased. And to our knowledge, this is the first sampling policy for biomolecular MD that is trained by reinforcement learning on trajectory outcomes.</a:t>
            </a:r>
          </a:p>
          <a:p>
            <a:endParaRPr dirty="0"/>
          </a:p>
          <a:p>
            <a:r>
              <a:rPr dirty="0"/>
              <a:t>DETAIL / Q&amp;A:</a:t>
            </a:r>
          </a:p>
          <a:p>
            <a:r>
              <a:rPr dirty="0"/>
              <a:t>Part II. Top: GRPO as used to post-train language models. Bottom: the GESPO loop, with numbered steps. (1) The policy proposes a group of initial conformations. (2) Realization restrains a nearby bank frame toward each proposal and releases it. (3) Short unbiased trajectories run in parallel. (4) The Geom2Vec kinetic model scores each trajectory. (5) Group-relative advantages drive the policy update.</a:t>
            </a:r>
          </a:p>
          <a:p>
            <a:endParaRPr dirty="0"/>
          </a:p>
          <a:p>
            <a:r>
              <a:rPr dirty="0"/>
              <a:t>The update rule is shared with language models; the reward comes from the simulated dynamics.</a:t>
            </a:r>
          </a:p>
          <a:p>
            <a:endParaRPr dirty="0"/>
          </a:p>
          <a:p>
            <a:r>
              <a:rPr dirty="0"/>
              <a:t>CLAIM (bottom line): to our knowledge, GESPO is the first adaptive sampling method for biomolecular MD that trains its sampling policy by reinforcement learning, i.e. policy optimization on trajectory-level rewards, while the dynamics stay unbiased.</a:t>
            </a:r>
          </a:p>
          <a:p>
            <a:r>
              <a:rPr dirty="0"/>
              <a:t>If asked about earlier "RL" samplers:</a:t>
            </a:r>
          </a:p>
          <a:p>
            <a:r>
              <a:rPr dirty="0"/>
              <a:t>- REAP (Shamsi 2018), MA-REAP (Kleiman &amp; Shukla 2022), Adaptive </a:t>
            </a:r>
            <a:r>
              <a:rPr dirty="0" err="1"/>
              <a:t>CVgen</a:t>
            </a:r>
            <a:r>
              <a:rPr dirty="0"/>
              <a:t> (2024), RL weighted ensemble (Yang 2024): a small optimization of CV weights each round; no policy is trained.</a:t>
            </a:r>
          </a:p>
          <a:p>
            <a:r>
              <a:rPr dirty="0"/>
              <a:t>- </a:t>
            </a:r>
            <a:r>
              <a:rPr dirty="0" err="1"/>
              <a:t>AdaptiveBandit</a:t>
            </a:r>
            <a:r>
              <a:rPr dirty="0"/>
              <a:t> (Pérez 2020): a UCB bandit over existing MSM states with rewards from visited free energies; a table of per-state values, no parametric policy, and it can only choose among structures already sampled.</a:t>
            </a:r>
          </a:p>
          <a:p>
            <a:r>
              <a:rPr dirty="0"/>
              <a:t>- Reinforced dynamics (Zhang, Wang &amp; E 2018): learns a biasing potential; the dynamics are biased.</a:t>
            </a:r>
          </a:p>
          <a:p>
            <a:r>
              <a:rPr dirty="0"/>
              <a:t>- Rose, Mair &amp; Garrahan 2021; Das et al. 2021: genuine policy-gradient / actor-critic RL, but the policy is a control force that biases the dynamics, on low-dimensional model systems.</a:t>
            </a:r>
          </a:p>
          <a:p>
            <a:r>
              <a:rPr dirty="0"/>
              <a:t>- Lin, Zhong &amp; Ren 2024: DDPG for minimum-action transition paths on model potentials, not a sampler of MD trajectories.</a:t>
            </a:r>
          </a:p>
        </p:txBody>
      </p:sp>
      <p:sp>
        <p:nvSpPr>
          <p:cNvPr id="413" name="Google Shape;413;p1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p5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8" name="Google Shape;838;p5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14. The policy generates an initial conformation token by token</a:t>
            </a:r>
          </a:p>
          <a:p>
            <a:endParaRPr dirty="0"/>
          </a:p>
          <a:p>
            <a:r>
              <a:rPr dirty="0"/>
              <a:t>SCRIPT (about 1:30):</a:t>
            </a:r>
          </a:p>
          <a:p>
            <a:endParaRPr dirty="0"/>
          </a:p>
          <a:p>
            <a:r>
              <a:rPr dirty="0"/>
              <a:t>What does the policy actually generate? A compact description of a conformation, written as a sequence of tokens.</a:t>
            </a:r>
          </a:p>
          <a:p>
            <a:endParaRPr dirty="0"/>
          </a:p>
          <a:p>
            <a:r>
              <a:rPr dirty="0"/>
              <a:t>First come a few global descriptors: for Trp-cage, the C-alpha RMSD to a reference, the end-to-end distance, and the radius of gyration. Then one token per residue with its backbone torsions, phi, psi, and omega. For trypsin, the ligand's rotatable torsions follow as extra tokens.</a:t>
            </a:r>
          </a:p>
          <a:p>
            <a:endParaRPr dirty="0"/>
          </a:p>
          <a:p>
            <a:r>
              <a:rPr dirty="0"/>
              <a:t>A causal transformer generates these in order. The global descriptors come first, so a policy update can move the whole distribution between regions through a few tokens. Each token has its own output head: a Gaussian mixture for the descriptors, and a von Mises mixture for the angles, which respects their periodicity.</a:t>
            </a:r>
          </a:p>
          <a:p>
            <a:endParaRPr dirty="0"/>
          </a:p>
          <a:p>
            <a:r>
              <a:rPr dirty="0"/>
              <a:t>Why autoregressive and not a diffusion model? The policy update needs the exact probability of each proposal under the current and previous policies. Here that is simply a sum of per-token log-probabilities, as the equations on the right show. For a diffusion model it can only be estimated, which adds noise to every update.</a:t>
            </a:r>
          </a:p>
          <a:p>
            <a:endParaRPr dirty="0"/>
          </a:p>
          <a:p>
            <a:r>
              <a:rPr dirty="0"/>
              <a:t>DETAIL / Q&amp;A:</a:t>
            </a:r>
          </a:p>
          <a:p>
            <a:r>
              <a:rPr dirty="0"/>
              <a:t>Tokens. A proposal y is a sequence of continuous tokens. First a few global descriptors g: for Trp-cage, Cα RMSD to a reference, end-to-end distance and radius of gyration. Then one token per residue carrying the backbone torsions φ, ψ, ω. For the ligand-bound system, the ligand rotatable-bond torsions follow as extra rows (two for benzamidine). A mask m removes undefined entries, such as terminal torsions.</a:t>
            </a:r>
          </a:p>
          <a:p>
            <a:r>
              <a:rPr dirty="0"/>
              <a:t>Order. The descriptors come first and condition everything after them. They act as a coarse summary that the torsions are then generated to satisfy, and a policy update can shift the distribution between regions through a few tokens instead of coordinating hundreds of torsion conditionals.</a:t>
            </a:r>
          </a:p>
          <a:p>
            <a:r>
              <a:rPr dirty="0"/>
              <a:t>Heads. Nonnegative descriptors are modeled in z = log(1 + g) with a Gaussian mixture. Periodic torsions use a von Mises mixture: κ is a concentration, like an inverse variance. Both are normalized densities with closed-form sampling.</a:t>
            </a:r>
          </a:p>
          <a:p>
            <a:r>
              <a:rPr dirty="0"/>
              <a:t>Why autoregressive and not diffusion: the policy gradient needs the likelihood of each proposal under the current and the behavior policy. Here it is an exact sum of per-token log-probabilities; for a diffusion model it can only be bounded or estimated, which adds variance to the GRPO update. There is no discrete vocabulary: each token is a continuous variable.</a:t>
            </a:r>
          </a:p>
          <a:p>
            <a:r>
              <a:rPr dirty="0"/>
              <a:t>Pretraining: maximum likelihood on the initial trajectory corpus gives a physically plausible prior before any reward is applied.</a:t>
            </a:r>
          </a:p>
        </p:txBody>
      </p:sp>
      <p:sp>
        <p:nvSpPr>
          <p:cNvPr id="839" name="Google Shape;839;p5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15. Geom2Vec is the kinetic model inside GESPO</a:t>
            </a:r>
          </a:p>
          <a:p>
            <a:endParaRPr dirty="0"/>
          </a:p>
          <a:p>
            <a:r>
              <a:rPr dirty="0"/>
              <a:t>SCRIPT (about 1:15):</a:t>
            </a:r>
          </a:p>
          <a:p>
            <a:endParaRPr dirty="0"/>
          </a:p>
          <a:p>
            <a:r>
              <a:rPr dirty="0"/>
              <a:t>This slide connects the two halves of the thesis. GESPO needs to decide which trajectories carried kinetic information, and that decision is made in Geom2Vec coordinates.</a:t>
            </a:r>
          </a:p>
          <a:p>
            <a:endParaRPr dirty="0"/>
          </a:p>
          <a:p>
            <a:r>
              <a:rPr dirty="0"/>
              <a:t>On the left is the pipeline from Part I, refit on the accumulated data every epoch. In the middle, all three reward terms are computed in its slow coordinates: the leave-one-out change in the VAMP-2 score, a coverage bonus for visiting sparsely sampled regions, and an information gain for new transitions between states. On the right, the analysis you will see later, the metastable states, the </a:t>
            </a:r>
            <a:r>
              <a:rPr dirty="0" err="1"/>
              <a:t>committors</a:t>
            </a:r>
            <a:r>
              <a:rPr dirty="0"/>
              <a:t>, and the flux networks, is built on the same representation.</a:t>
            </a:r>
          </a:p>
          <a:p>
            <a:endParaRPr dirty="0"/>
          </a:p>
          <a:p>
            <a:r>
              <a:rPr dirty="0"/>
              <a:t>The policy itself does not use Geom2Vec; it proposes torsions and descriptors. So the representation defines what counts as information, and the policy learns how to find it.</a:t>
            </a:r>
          </a:p>
          <a:p>
            <a:endParaRPr dirty="0"/>
          </a:p>
          <a:p>
            <a:r>
              <a:rPr dirty="0"/>
              <a:t>DETAIL / Q&amp;A:</a:t>
            </a:r>
          </a:p>
          <a:p>
            <a:r>
              <a:rPr dirty="0"/>
              <a:t>This slide connects Part I to Part II. GESPO needs a way to decide which trajectories carried kinetic information; that is the job of a Geom2Vec kinetic model, trained on the accumulated trajectories and refit as data arrive.</a:t>
            </a:r>
          </a:p>
          <a:p>
            <a:endParaRPr dirty="0"/>
          </a:p>
          <a:p>
            <a:r>
              <a:rPr dirty="0"/>
              <a:t>Left: the Geom2Vec pipeline from Part I. A frozen all-atom encoder produces residue tokens (and a ligand token for trypsin), token merging compresses them, and a VAMP projector χ gives the slow coordinates.</a:t>
            </a:r>
          </a:p>
          <a:p>
            <a:endParaRPr dirty="0"/>
          </a:p>
          <a:p>
            <a:r>
              <a:rPr dirty="0"/>
              <a:t>Middle, the reward. All three terms are computed in these coordinates: the leave-one-out change in the VAMP-2 score when a trajectory is removed (next two slides); a coverage bonus for visits to sparsely sampled bins in the first two slow coordinates; and an information gain for new transitions among k-means states in the slow coordinates.</a:t>
            </a:r>
          </a:p>
          <a:p>
            <a:endParaRPr dirty="0"/>
          </a:p>
          <a:p>
            <a:r>
              <a:rPr dirty="0"/>
              <a:t>Right, the analysis. The SPIB metastable states (23 for Trp-cage, 7 receptor </a:t>
            </a:r>
            <a:r>
              <a:rPr dirty="0" err="1"/>
              <a:t>macrostates</a:t>
            </a:r>
            <a:r>
              <a:rPr dirty="0"/>
              <a:t> for trypsin) are learned on Geom2Vec features; the DGA </a:t>
            </a:r>
            <a:r>
              <a:rPr dirty="0" err="1"/>
              <a:t>committors</a:t>
            </a:r>
            <a:r>
              <a:rPr dirty="0"/>
              <a:t> use those states as basis functions; the reactive-flux and exchange networks are drawn over them. The slides marked with a Geom2Vec tag depend on this model.</a:t>
            </a:r>
          </a:p>
          <a:p>
            <a:endParaRPr dirty="0"/>
          </a:p>
          <a:p>
            <a:r>
              <a:rPr dirty="0"/>
              <a:t>What does not use Geom2Vec: the policy proposes torsions and a few global descriptors, and realization retrieves bank frames by torsion similarity. Alanine dipeptide, the control, uses (φ, ψ) directly.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1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1" name="Google Shape;511;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16. VAMP-2 rewards features that remain correlated after a lag</a:t>
            </a:r>
          </a:p>
          <a:p>
            <a:endParaRPr dirty="0"/>
          </a:p>
          <a:p>
            <a:r>
              <a:rPr dirty="0"/>
              <a:t>SCRIPT (about 1:15):</a:t>
            </a:r>
          </a:p>
          <a:p>
            <a:endParaRPr dirty="0"/>
          </a:p>
          <a:p>
            <a:r>
              <a:rPr dirty="0"/>
              <a:t>Let me unpack the main reward term with the toy landscape from earlier. Suppose we have two candidate features. Chi-1 follows the slow coordinate between A and B. Chi-2 is fast radial motion.</a:t>
            </a:r>
          </a:p>
          <a:p>
            <a:endParaRPr dirty="0"/>
          </a:p>
          <a:p>
            <a:r>
              <a:rPr dirty="0"/>
              <a:t>In the middle, the time series: chi-1 switches between two levels and stays there; chi-2 is noise. On the right, each feature at time t is plotted against its value one lag later. The slow feature stays on the diagonal, and its VAMP-2 score is 0.84. The fast one forms a cloud, and scores zero.</a:t>
            </a:r>
          </a:p>
          <a:p>
            <a:endParaRPr dirty="0"/>
          </a:p>
          <a:p>
            <a:r>
              <a:rPr dirty="0"/>
              <a:t>The formula at the bottom is the general version. It uses covariance matrices of the features and their lagged pairs, taken within each trajectory. For a single feature it is just the squared lag correlation.</a:t>
            </a:r>
          </a:p>
          <a:p>
            <a:endParaRPr dirty="0"/>
          </a:p>
          <a:p>
            <a:r>
              <a:rPr dirty="0"/>
              <a:t>DETAIL / Q&amp;A:</a:t>
            </a:r>
          </a:p>
          <a:p>
            <a:r>
              <a:rPr dirty="0"/>
              <a:t>VAMP-2 on the toy landscape from slide 3. Two candidate features: χ1 = cos θ follows the slow A–B coordinate; χ2 = r − r0 is fast radial motion. Plot each feature at t against t + τ. The slow feature keeps its correlation (S = 0.84); the fast one loses it (S = 0.00).</a:t>
            </a:r>
          </a:p>
          <a:p>
            <a:endParaRPr dirty="0"/>
          </a:p>
          <a:p>
            <a:r>
              <a:rPr dirty="0"/>
              <a:t>In GESPO, χ is learned from Geom2Vec features and scored the same way. The next slide asks how much each trajectory contributes to this score.</a:t>
            </a:r>
          </a:p>
        </p:txBody>
      </p:sp>
      <p:sp>
        <p:nvSpPr>
          <p:cNvPr id="512" name="Google Shape;512;p1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6" name="Google Shape;426;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17. Leave-one-out credit, compared within a batch</a:t>
            </a:r>
          </a:p>
          <a:p>
            <a:endParaRPr dirty="0"/>
          </a:p>
          <a:p>
            <a:r>
              <a:rPr dirty="0"/>
              <a:t>SCRIPT (about 1:30):</a:t>
            </a:r>
          </a:p>
          <a:p>
            <a:endParaRPr dirty="0"/>
          </a:p>
          <a:p>
            <a:r>
              <a:rPr dirty="0"/>
              <a:t>The policy needs credit for each trajectory, not for the whole dataset. So we ask: how much does the VAMP-2 score change if we remove this one trajectory</a:t>
            </a:r>
            <a:r>
              <a:rPr lang="en-US" dirty="0"/>
              <a:t>, with the</a:t>
            </a:r>
            <a:r>
              <a:rPr dirty="0"/>
              <a:t> kinetic model held fixed during that comparison.</a:t>
            </a:r>
          </a:p>
          <a:p>
            <a:endParaRPr dirty="0"/>
          </a:p>
          <a:p>
            <a:r>
              <a:rPr dirty="0"/>
              <a:t>Here is a three-state example. The prior data, in gray, cover only A and B</a:t>
            </a:r>
            <a:r>
              <a:rPr lang="en-US" dirty="0"/>
              <a:t> state</a:t>
            </a:r>
            <a:r>
              <a:rPr dirty="0"/>
              <a:t>. Then a batch of eight short trajectories arrives. The one that settles in the new state C gets the largest contribution, plus 0.118, and the largest advantage. Trajectories that visit C briefly get smaller credit. Those that stay in A, or repeat the already known A-to-B transition, get slightly negative credit.</a:t>
            </a:r>
          </a:p>
          <a:p>
            <a:endParaRPr dirty="0"/>
          </a:p>
          <a:p>
            <a:r>
              <a:rPr dirty="0"/>
              <a:t>Two points. First, the credit is relative within </a:t>
            </a:r>
            <a:r>
              <a:rPr lang="en-US" dirty="0"/>
              <a:t>each</a:t>
            </a:r>
            <a:r>
              <a:rPr dirty="0"/>
              <a:t> batch: the advantage says which trajectories were more informative than their batch mates. Second, the contribution alone does not always reward novelty, so the full reward also includes the coverage and transition terms from the previous slide.</a:t>
            </a:r>
          </a:p>
          <a:p>
            <a:endParaRPr dirty="0"/>
          </a:p>
          <a:p>
            <a:r>
              <a:rPr dirty="0"/>
              <a:t>DETAIL / Q&amp;A:</a:t>
            </a:r>
          </a:p>
          <a:p>
            <a:r>
              <a:rPr dirty="0"/>
              <a:t>Prior data cover A and B only, so the feature direction that separates C carries no slow signal yet (second singular value 0.01).</a:t>
            </a:r>
          </a:p>
          <a:p>
            <a:r>
              <a:rPr dirty="0"/>
              <a:t>One batch of eight short trajectories is added. The trajectory that settles in C (T1) raises the second singular value to 0.46 and gets the largest contribution, +0.118. Trajectories that visit C and leave get smaller positive credit. Those that stay in A, or repeat the known A→B transition, get slightly negative credit.</a:t>
            </a:r>
          </a:p>
          <a:p>
            <a:r>
              <a:rPr dirty="0"/>
              <a:t>Credit is relative: rewards are standardized within the batch, so the advantage says which trajectories were more informative than their batch mates, not whether a trajectory is good in absolute terms. If two trajectories reveal the same new state, they share the credit.</a:t>
            </a:r>
          </a:p>
          <a:p>
            <a:r>
              <a:rPr dirty="0"/>
              <a:t>Caveat for questions: the contribution alone can be negative for a first transition when the data overstate persistence, so the GESPO reward also includes coverage and transition-count terms.</a:t>
            </a:r>
          </a:p>
        </p:txBody>
      </p:sp>
      <p:sp>
        <p:nvSpPr>
          <p:cNvPr id="427" name="Google Shape;427;p1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40a1acaee85_0_2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3" name="Google Shape;453;g40a1acaee85_0_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18. A coverage-preserving KL term regularizes the update</a:t>
            </a:r>
          </a:p>
          <a:p>
            <a:endParaRPr/>
          </a:p>
          <a:p>
            <a:r>
              <a:t>SCRIPT (about 1:30):</a:t>
            </a:r>
          </a:p>
          <a:p>
            <a:endParaRPr/>
          </a:p>
          <a:p>
            <a:r>
              <a:t>The objective is the expected reward, minus a KL penalty that keeps each update close to the previous policy, plus an entropy bonus.</a:t>
            </a:r>
          </a:p>
          <a:p>
            <a:endParaRPr/>
          </a:p>
          <a:p>
            <a:r>
              <a:t>The direction of the KL term matters more than it might seem. In language models, the KL is averaged over the new policy. Here we average it over the reference policy instead. In this example, both basins are informative, but A is twice as rewarding as B. With the language-model convention, basin B keeps less than one percent of the weight after one update. With our convention, it keeps seven percent. On the right, as the update gets stronger, the first convention abandons B exponentially fast, while ours loses it only slowly.</a:t>
            </a:r>
          </a:p>
          <a:p>
            <a:endParaRPr/>
          </a:p>
          <a:p>
            <a:r>
              <a:t>For adaptive sampling, collapsing onto one basin is exactly the failure to avoid, so we use the ordering that penalizes abandoning a region.</a:t>
            </a:r>
          </a:p>
          <a:p>
            <a:endParaRPr/>
          </a:p>
          <a:p>
            <a:r>
              <a:t>DETAIL / Q&amp;A:</a:t>
            </a:r>
          </a:p>
          <a:p>
            <a:r>
              <a:t>Objective: expected trajectory-level reward, minus a KL penalty, plus an entropy bonus. In practice it is optimized with the GRPO clipped surrogate, and π_ref is the behavior policy π_old, resynchronized after each epoch, so the KL acts as a trust region.</a:t>
            </a:r>
          </a:p>
          <a:p>
            <a:r>
              <a:t>Toy example: the reference samples two basins; both are informative, A more so (reward 1.0 vs 0.5). With the KL taken under π_θ (the language-model convention), the optimum is π_ref·exp(R/λ), so B is suppressed exponentially: 0.007 of the weight at λ = 0.1. With the KL taken under π_ref (GESPO), the policy is penalized wherever the reference has weight it abandons: B keeps 0.071, and its weight falls only in proportion to λ.</a:t>
            </a:r>
          </a:p>
          <a:p>
            <a:r>
              <a:t>Why it matters: collapse onto one basin is the failure mode for adaptive sampling. Proposing an implausible conformation is not a risk the KL has to absorb, because realization always restrains an existing bank frame.</a:t>
            </a:r>
          </a:p>
          <a:p>
            <a:r>
              <a:t>Check after the fact: the per-residue torsion marginals broaden over epochs (Trp-cage policy slide).</a:t>
            </a:r>
          </a:p>
        </p:txBody>
      </p:sp>
      <p:sp>
        <p:nvSpPr>
          <p:cNvPr id="454" name="Google Shape;454;g40a1acaee85_0_2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2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7" name="Google Shape;537;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19. Diagnostics: the kinetic model converges within each round</a:t>
            </a:r>
          </a:p>
          <a:p>
            <a:endParaRPr/>
          </a:p>
          <a:p>
            <a:r>
              <a:t>SCRIPT (about 1:15):</a:t>
            </a:r>
          </a:p>
          <a:p>
            <a:endParaRPr/>
          </a:p>
          <a:p>
            <a:r>
              <a:t>These are the training curves for the benzamidine-bound trypsin campaign: two independently initialized rounds, with twelve trajectories per epoch.</a:t>
            </a:r>
          </a:p>
          <a:p>
            <a:endParaRPr/>
          </a:p>
          <a:p>
            <a:r>
              <a:t>Panel a is the combined reward per epoch. Panel b is the VAMP-2 score of the kinetic model, refit before each epoch: it rises and then levels off within each round, as the model resolves more slow processes. Panel c is the leave-one-out contribution. Its mean stays near zero with a wide spread, which is what the toy example predicts: the reward ranks trajectories within a batch rather than growing over time.</a:t>
            </a:r>
          </a:p>
          <a:p>
            <a:endParaRPr/>
          </a:p>
          <a:p>
            <a:r>
              <a:t>So the kinetic model improves across epochs, and within each batch the reward tells the policy which trajectories were worth more.</a:t>
            </a:r>
          </a:p>
          <a:p>
            <a:endParaRPr/>
          </a:p>
          <a:p>
            <a:r>
              <a:t>DETAIL / Q&amp;A:</a:t>
            </a:r>
          </a:p>
          <a:p>
            <a:r>
              <a:t>Diagnostics for the benzamidine-bound trypsin campaign, two independently initialized rounds, 12 trajectories per epoch. (a) The combined reward per epoch. (b) The VAMP-2 score of the kinetic model, refitted before every epoch, rises and plateaus within each round. (c) The leave-one-out contribution: mean near zero with a wide spread.</a:t>
            </a:r>
          </a:p>
          <a:p>
            <a:endParaRPr/>
          </a:p>
          <a:p>
            <a:r>
              <a:t>As in the toy example, credit is relative within a batch; the reward ranks trajectories, and the kinetic model improves across epochs. Reward values are relative to each round's model.</a:t>
            </a:r>
          </a:p>
        </p:txBody>
      </p:sp>
      <p:sp>
        <p:nvSpPr>
          <p:cNvPr id="538" name="Google Shape;538;p2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2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3" name="Google Shape;553;p2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20. Trp-cage: sampled area grows 52-fold beyond the initial data</a:t>
            </a:r>
          </a:p>
          <a:p>
            <a:endParaRPr/>
          </a:p>
          <a:p>
            <a:r>
              <a:t>SCRIPT (about 1:00):</a:t>
            </a:r>
          </a:p>
          <a:p>
            <a:endParaRPr/>
          </a:p>
          <a:p>
            <a:r>
              <a:t>The first real test is Trp-cage, the same twenty-residue protein from Part I. This time GESPO collects its own data, in short trajectories of 200 picoseconds each.</a:t>
            </a:r>
          </a:p>
          <a:p>
            <a:endParaRPr/>
          </a:p>
          <a:p>
            <a:r>
              <a:t>On the left is the initial data, 4.8 nanoseconds, which stays close to the folded structure. On the right is everything GESPO collected, 115 nanoseconds in total. The region enclosing 99 percent of the sampled density grows by a factor of about 52.</a:t>
            </a:r>
          </a:p>
          <a:p>
            <a:endParaRPr/>
          </a:p>
          <a:p>
            <a:r>
              <a:t>The colors here are sampling density, not free energy. Every trajectory is unbiased; the only thing that changed is where we chose to sample.</a:t>
            </a:r>
          </a:p>
          <a:p>
            <a:endParaRPr/>
          </a:p>
          <a:p>
            <a:r>
              <a:t>DETAIL / Q&amp;A:</a:t>
            </a:r>
          </a:p>
          <a:p>
            <a:r>
              <a:t>Trp-cage. Left: the round-0 data, 4.8 ns, stay near the folded structure in helix-RMSD coordinates. Right: all rounds, 115.2 ns of 200 ps trajectories. The area enclosing 99% of the sampled density grows 51.8-fold (56.3-fold in RMSD vs. radius of gyration).</a:t>
            </a:r>
          </a:p>
          <a:p>
            <a:endParaRPr/>
          </a:p>
          <a:p>
            <a:r>
              <a:t>Color is sampling density, not free energy. The dynamics within each trajectory are unbiased; only where to sample changed.</a:t>
            </a:r>
          </a:p>
        </p:txBody>
      </p:sp>
      <p:sp>
        <p:nvSpPr>
          <p:cNvPr id="554" name="Google Shape;554;p2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4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2" name="Google Shape;572;p4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21. All 23 states in ~50 ns; unbiased MD reaches 12 in 1.3 μs</a:t>
            </a:r>
          </a:p>
          <a:p>
            <a:endParaRPr/>
          </a:p>
          <a:p>
            <a:r>
              <a:t>SCRIPT (about 1:15):</a:t>
            </a:r>
          </a:p>
          <a:p>
            <a:endParaRPr/>
          </a:p>
          <a:p>
            <a:r>
              <a:t>Coverage alone could mean scattered, disconnected structures, so we ask a kinetic question: how many metastable states do we find? A SPIB model on Geom2Vec features resolves 23 states.</a:t>
            </a:r>
          </a:p>
          <a:p>
            <a:endParaRPr/>
          </a:p>
          <a:p>
            <a:r>
              <a:t>In panel a, GESPO reaches all 23 within about 50 nanoseconds of aggregate simulation. A single unbiased trajectory under the same conditions finds 12 in 1.3 microseconds. I should be clear that the states were learned from the GESPO data, so full coverage by GESPO is expected. The point is that an order of magnitude more continuous simulation finds only half of them.</a:t>
            </a:r>
          </a:p>
          <a:p>
            <a:endParaRPr/>
          </a:p>
          <a:p>
            <a:r>
              <a:t>Panels b and c show where the time goes. The unbiased trajectory leaves the folded basin and then spends about three quarters of its time in one extended state. GESPO keeps its data spread across the committor range. Panel d shows that the states form a connected network, with the committor changing smoothly from unfolded to folded.</a:t>
            </a:r>
          </a:p>
          <a:p>
            <a:endParaRPr/>
          </a:p>
          <a:p>
            <a:r>
              <a:t>DETAIL / Q&amp;A:</a:t>
            </a:r>
          </a:p>
          <a:p>
            <a:r>
              <a:t>(a) A SPIB model on Geom2Vec features resolves 23 metastable states. GESPO reaches all 23 within roughly 50 ns of aggregate production; a continuous unbiased trajectory under the same conditions visits 12 in 1.3 μs, and 13 only at its end.</a:t>
            </a:r>
          </a:p>
          <a:p>
            <a:r>
              <a:t>Caveat to state up front: the decomposition is learned from the GESPO trajectories, so complete coverage by GESPO is expected by construction. The comparison shows that an order of magnitude more continuous simulation recovers about half of the states.</a:t>
            </a:r>
          </a:p>
          <a:p>
            <a:r>
              <a:t>(b, c) Once the unbiased trajectory leaves the folded basin it settles in one extended state, which holds about three quarters of its occupancy. GESPO occupancy stays spread across the committor range: compact high-q⁺ states are covered first, intermediates next, extended states last.</a:t>
            </a:r>
          </a:p>
          <a:p>
            <a:r>
              <a:t>(d) The states form a network with compact, intermediate and extended sectors; the committor varies coherently around it. Node sizes are not validated equilibrium populations.</a:t>
            </a:r>
          </a:p>
        </p:txBody>
      </p:sp>
      <p:sp>
        <p:nvSpPr>
          <p:cNvPr id="573" name="Google Shape;573;p4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2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0" name="Google Shape;470;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22. The sampling distribution broadens rather than collapsing</a:t>
            </a:r>
          </a:p>
          <a:p>
            <a:endParaRPr dirty="0"/>
          </a:p>
          <a:p>
            <a:r>
              <a:rPr dirty="0"/>
              <a:t>SCRIPT (about 0:50):</a:t>
            </a:r>
          </a:p>
          <a:p>
            <a:endParaRPr dirty="0"/>
          </a:p>
          <a:p>
            <a:r>
              <a:rPr dirty="0"/>
              <a:t>What did the policy learn? Each panel is the distribution of backbone angles the policy proposes for one residue, at epochs 0, 3, and 6.</a:t>
            </a:r>
          </a:p>
          <a:p>
            <a:endParaRPr dirty="0"/>
          </a:p>
          <a:p>
            <a:r>
              <a:rPr dirty="0"/>
              <a:t>The distributions broaden. At residue 11, the original region is kept and the policy extends toward psi near plus or minus p</a:t>
            </a:r>
            <a:r>
              <a:rPr lang="en-US" dirty="0"/>
              <a:t>h</a:t>
            </a:r>
            <a:r>
              <a:rPr dirty="0"/>
              <a:t>i. At residue 13, a new region appears at positive phi, which the initial policy did not propose at all. This is the behavior </a:t>
            </a:r>
            <a:r>
              <a:rPr lang="en-US" dirty="0"/>
              <a:t>that the capability of the model grows as the RL post-training goes.</a:t>
            </a:r>
            <a:endParaRPr dirty="0"/>
          </a:p>
          <a:p>
            <a:endParaRPr dirty="0"/>
          </a:p>
          <a:p>
            <a:r>
              <a:rPr dirty="0"/>
              <a:t>DETAIL / Q&amp;A:</a:t>
            </a:r>
          </a:p>
          <a:p>
            <a:r>
              <a:rPr dirty="0"/>
              <a:t>How to read it: each panel is the (φ, ψ) marginal of the policy at one residue. Gray shading is the accumulated sampling density (log scale). Contours show the policy at epoch 0 (dashed gray), epoch 3 (blue) and epoch 6 (red).</a:t>
            </a:r>
          </a:p>
          <a:p>
            <a:r>
              <a:rPr dirty="0"/>
              <a:t>Residue 11: the epoch-6 marginal keeps the original basin and extends toward ψ = ±π. Residue 13: a new mode appears at φ &gt; 0, a region the initial policy did not populate.</a:t>
            </a:r>
          </a:p>
          <a:p>
            <a:r>
              <a:rPr dirty="0"/>
              <a:t>Link to slide 15: with the KL taken under the reference, the update should not contract onto a subset of the initial distribution. These marginals are the after-the-fact check: they broaden instead.</a:t>
            </a:r>
          </a:p>
          <a:p>
            <a:r>
              <a:rPr dirty="0"/>
              <a:t>Caveat: these are single-residue marginals, not the joint distribution over all residues. All ten residues are in backup.</a:t>
            </a:r>
          </a:p>
        </p:txBody>
      </p:sp>
      <p:sp>
        <p:nvSpPr>
          <p:cNvPr id="471" name="Google Shape;471;p2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23. Established adaptive samplers rank candidates by novelty</a:t>
            </a:r>
          </a:p>
          <a:p>
            <a:endParaRPr dirty="0"/>
          </a:p>
          <a:p>
            <a:r>
              <a:rPr dirty="0"/>
              <a:t>SCRIPT (about 1:15):</a:t>
            </a:r>
          </a:p>
          <a:p>
            <a:endParaRPr dirty="0"/>
          </a:p>
          <a:p>
            <a:r>
              <a:rPr dirty="0"/>
              <a:t>Before comparing with other methods, let me show how they choose where to sample, on the same three-state toy model.</a:t>
            </a:r>
          </a:p>
          <a:p>
            <a:endParaRPr dirty="0"/>
          </a:p>
          <a:p>
            <a:r>
              <a:rPr dirty="0"/>
              <a:t>REAP clusters the data it has, looks at the least-populated clusters, and restarts from the ones farthest along a weighted set of collective variables. The weights are adjusted each round. MA-REAP runs several such </a:t>
            </a:r>
            <a:r>
              <a:rPr lang="en-US" dirty="0"/>
              <a:t>walkers</a:t>
            </a:r>
            <a:r>
              <a:rPr dirty="0"/>
              <a:t> with different weights on shared data. </a:t>
            </a:r>
            <a:r>
              <a:rPr dirty="0" err="1"/>
              <a:t>DeepDriveMD</a:t>
            </a:r>
            <a:r>
              <a:rPr dirty="0"/>
              <a:t> embeds structures with an autoencoder and restarts from outliers in that embedding.</a:t>
            </a:r>
          </a:p>
          <a:p>
            <a:endParaRPr dirty="0"/>
          </a:p>
          <a:p>
            <a:r>
              <a:rPr dirty="0"/>
              <a:t>What they share is that each rule scores candidates from the structures alone, before any trajectory is run. Notice that outliers are not always useful: in the toy model some of them are just high-energy fluctuations at the edge of basin A.</a:t>
            </a:r>
          </a:p>
          <a:p>
            <a:endParaRPr dirty="0"/>
          </a:p>
          <a:p>
            <a:r>
              <a:rPr dirty="0"/>
              <a:t>DETAIL / Q&amp;A:</a:t>
            </a:r>
          </a:p>
          <a:p>
            <a:r>
              <a:rPr dirty="0"/>
              <a:t>All three are adaptive sampling: many short unbiased trajectories, restarted from selected structures each round. They differ in how the restarts are chosen.</a:t>
            </a:r>
          </a:p>
          <a:p>
            <a:r>
              <a:rPr dirty="0"/>
              <a:t>REAP: cluster the data in chosen CVs; take the least-populated clusters as candidates; score each by r = </a:t>
            </a:r>
            <a:r>
              <a:rPr dirty="0" err="1"/>
              <a:t>Σ_k</a:t>
            </a:r>
            <a:r>
              <a:rPr dirty="0"/>
              <a:t> </a:t>
            </a:r>
            <a:r>
              <a:rPr dirty="0" err="1"/>
              <a:t>w_k</a:t>
            </a:r>
            <a:r>
              <a:rPr dirty="0"/>
              <a:t> |</a:t>
            </a:r>
            <a:r>
              <a:rPr dirty="0" err="1"/>
              <a:t>x_k</a:t>
            </a:r>
            <a:r>
              <a:rPr dirty="0"/>
              <a:t> − ⟨</a:t>
            </a:r>
            <a:r>
              <a:rPr dirty="0" err="1"/>
              <a:t>x_k</a:t>
            </a:r>
            <a:r>
              <a:rPr dirty="0"/>
              <a:t>⟩| / </a:t>
            </a:r>
            <a:r>
              <a:rPr dirty="0" err="1"/>
              <a:t>σ_k</a:t>
            </a:r>
            <a:r>
              <a:rPr dirty="0"/>
              <a:t>, its standardized distance from the data mean along each CV; refit the weights w to maximize the reward of the top candidates, then restart from them. In the toy, the weights favor the direction of C, so REAP restarts at the frontier toward C and B.</a:t>
            </a:r>
          </a:p>
          <a:p>
            <a:r>
              <a:rPr dirty="0"/>
              <a:t>MA-REAP: several REAP agents with separate weights share the data. In the toy, two agents with different weights pick different frontier clusters.</a:t>
            </a:r>
          </a:p>
          <a:p>
            <a:r>
              <a:rPr dirty="0" err="1"/>
              <a:t>DeepDriveMD</a:t>
            </a:r>
            <a:r>
              <a:rPr dirty="0"/>
              <a:t>: a variational autoencoder embeds structures (contact maps in the original work); restarts come from outliers in the latent space. Outliers are unusual structures, which need not lie on a path to a new state; in the toy they include high-energy fluctuations at the edge of A.</a:t>
            </a:r>
          </a:p>
          <a:p>
            <a:r>
              <a:rPr dirty="0"/>
              <a:t>Common point: each rule ranks candidates by quantities computable from structures, before any trajectory is run. Adaptation changes weights or the embedding, not a rule trained on trajectory outcomes.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24. Gen-COMPAS shoots trajectories from the separatrix</a:t>
            </a:r>
          </a:p>
          <a:p>
            <a:endParaRPr dirty="0"/>
          </a:p>
          <a:p>
            <a:r>
              <a:rPr dirty="0"/>
              <a:t>SCRIPT (about 1:00):</a:t>
            </a:r>
          </a:p>
          <a:p>
            <a:endParaRPr dirty="0"/>
          </a:p>
          <a:p>
            <a:r>
              <a:rPr dirty="0"/>
              <a:t>Gen-COMPAS is a more recent method</a:t>
            </a:r>
            <a:r>
              <a:rPr lang="en-US" dirty="0"/>
              <a:t> on Nature</a:t>
            </a:r>
            <a:r>
              <a:rPr dirty="0"/>
              <a:t> that uses a generative model. It trains a diffusion model on short trajectories started from a reactant and a product state, generates intermediates, keeps those with a </a:t>
            </a:r>
            <a:r>
              <a:rPr dirty="0" err="1"/>
              <a:t>committor</a:t>
            </a:r>
            <a:r>
              <a:rPr dirty="0"/>
              <a:t> near one half, and shoots unbiased trajectories from them.</a:t>
            </a:r>
          </a:p>
          <a:p>
            <a:endParaRPr dirty="0"/>
          </a:p>
          <a:p>
            <a:r>
              <a:rPr dirty="0"/>
              <a:t>It needs no low-dimensional reaction coordinate, but it does need both end states in advance, and its generator is refit to the data rather than updated by how informative each proposal turned out to be.</a:t>
            </a:r>
          </a:p>
          <a:p>
            <a:endParaRPr dirty="0"/>
          </a:p>
          <a:p>
            <a:r>
              <a:rPr dirty="0"/>
              <a:t>The table summarizes the difference. The other methods rank existing structures, or sample between known states. GESPO trains a generative policy on trajectory outcomes.</a:t>
            </a:r>
          </a:p>
          <a:p>
            <a:endParaRPr dirty="0"/>
          </a:p>
          <a:p>
            <a:r>
              <a:rPr dirty="0"/>
              <a:t>DETAIL / Q&amp;A:</a:t>
            </a:r>
          </a:p>
          <a:p>
            <a:r>
              <a:rPr dirty="0"/>
              <a:t>Gen-COMPAS (</a:t>
            </a:r>
            <a:r>
              <a:rPr dirty="0" err="1"/>
              <a:t>Chipot</a:t>
            </a:r>
            <a:r>
              <a:rPr dirty="0"/>
              <a:t> and co-workers, 2025) couples a generative model to shooting. A diffusion model is trained on short unbiased simulations started in the reactant and product. Generated intermediates are filtered by a </a:t>
            </a:r>
            <a:r>
              <a:rPr dirty="0" err="1"/>
              <a:t>committor</a:t>
            </a:r>
            <a:r>
              <a:rPr dirty="0"/>
              <a:t> learned in configuration space, and unbiased trajectories are shot from those near the separatrix, q⁺ ≈ 0.5. Both models are retrained each round.</a:t>
            </a:r>
          </a:p>
          <a:p>
            <a:r>
              <a:rPr dirty="0"/>
              <a:t>In the toy: gray points are data near A and B; stars are generated structures kept at q⁺ ≈ 0.5 on both routes; the curves are trajectories shot from them, colored by the state they reach.</a:t>
            </a:r>
          </a:p>
          <a:p>
            <a:r>
              <a:rPr dirty="0"/>
              <a:t>Strengths: no low-dimensional reaction coordinate is needed, and it iterates. Limits relevant here: the </a:t>
            </a:r>
            <a:r>
              <a:rPr dirty="0" err="1"/>
              <a:t>committor</a:t>
            </a:r>
            <a:r>
              <a:rPr dirty="0"/>
              <a:t> is defined relative to end states fixed in advance, and the diffusion model is refit to accumulated configurations, not updated by how informative each proposal proved to be. Shooting can also stall in long-lived intermediates.</a:t>
            </a:r>
          </a:p>
          <a:p>
            <a:r>
              <a:rPr dirty="0"/>
              <a:t>The table summarizes what each method uses to decide where to sample. This is why Gen-COMPAS starts from both an unfolded and a folded conformation in the comparison on the next slide.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2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3" name="Google Shape;583;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25. At equal budget, GESPO covers the widest region</a:t>
            </a:r>
          </a:p>
          <a:p>
            <a:endParaRPr/>
          </a:p>
          <a:p>
            <a:r>
              <a:t>SCRIPT (about 1:15):</a:t>
            </a:r>
          </a:p>
          <a:p>
            <a:endParaRPr/>
          </a:p>
          <a:p>
            <a:r>
              <a:t>Here are all five methods on Trp-cage with the same engine, force field, prepared system, and 115 nanoseconds each. Color shows when each region was first reached: dark is early, yellow is late, white is never.</a:t>
            </a:r>
          </a:p>
          <a:p>
            <a:endParaRPr/>
          </a:p>
          <a:p>
            <a:r>
              <a:t>GESPO reaches C-alpha RMSDs of 12 angstroms and end-to-end distances near 50 angstroms, and it is still discovering new regions late in the budget. REAP and MA-REAP stop around 8 to 9 angstroms. DeepDriveMD stays within 3 angstroms of the folded state. Gen-COMPAS extends to about 10 angstroms, but along one narrow band that it covers early.</a:t>
            </a:r>
          </a:p>
          <a:p>
            <a:endParaRPr/>
          </a:p>
          <a:p>
            <a:r>
              <a:t>DETAIL / Q&amp;A:</a:t>
            </a:r>
          </a:p>
          <a:p>
            <a:r>
              <a:t>Setup: GESPO, REAP, MA-REAP, DeepDriveMD and Gen-COMPAS run with the same MD engine, force field and prepared system, at 115.2 ns of aggregate unbiased simulation each. Baselines use their public implementations with published settings. REAP, MA-REAP and DeepDriveMD start from the conformations the matching GESPO trajectories used in round 1 (triangles); the published REAP code launches every round from one structure.</a:t>
            </a:r>
          </a:p>
          <a:p>
            <a:r>
              <a:t>How to read it: top row is Cα RMSD vs. radius of gyration, bottom row is end-to-end distance vs. radius of gyration. Color is the budget at which each grid region was first reached: dark early, yellow late, white never.</a:t>
            </a:r>
          </a:p>
          <a:p>
            <a:r>
              <a:t>Result: GESPO reaches Cα RMSD 12 Å and end-to-end distances near 50 Å and is still reaching new regions at the end. MA-REAP and REAP stop near 8–9 Å and 30 Å. DeepDriveMD stays within 3 Å of the folded state. Gen-COMPAS reaches about 10 Å, but along one narrow diagonal band that it covers early and then stops extending (next slide quantifies this).</a:t>
            </a:r>
          </a:p>
          <a:p>
            <a:r>
              <a:t>Gen-COMPAS starts from both an unfolded and a folded conformation (its markers at the two ends of the band), because it needs reactant and product sets. Say this if asked why its markers differ.</a:t>
            </a:r>
          </a:p>
          <a:p>
            <a:r>
              <a:t>If asked: a repeat with baseline trajectories started from random round-0 conformations gives the same conclusions (backup).</a:t>
            </a:r>
          </a:p>
        </p:txBody>
      </p:sp>
      <p:sp>
        <p:nvSpPr>
          <p:cNvPr id="584" name="Google Shape;584;p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g40a1acaee85_0_40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4" name="Google Shape;594;g40a1acaee85_0_40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26. Gen-COMPAS plateaus early; GESPO keeps discovering</a:t>
            </a:r>
          </a:p>
          <a:p>
            <a:endParaRPr dirty="0"/>
          </a:p>
          <a:p>
            <a:r>
              <a:rPr dirty="0"/>
              <a:t>SCRIPT (about 1:15):</a:t>
            </a:r>
          </a:p>
          <a:p>
            <a:endParaRPr dirty="0"/>
          </a:p>
          <a:p>
            <a:r>
              <a:rPr dirty="0"/>
              <a:t>This slide looks at the same comparison over time, counting occupied bins on a fixed grid of collective variables.</a:t>
            </a:r>
          </a:p>
          <a:p>
            <a:endParaRPr dirty="0"/>
          </a:p>
          <a:p>
            <a:r>
              <a:rPr dirty="0"/>
              <a:t>Gen-COMPAS is ahead for the first 25 nanoseconds or so. That is expected: it starts from both end states, so it spans them immediately. Then it plateaus. GESPO overtakes it and is still rising at the end, with about two and a half times more occupied bins on Trp-cage. The bottom row shows the same pattern for trypsin, which is our next system, with about three times more.</a:t>
            </a:r>
          </a:p>
          <a:p>
            <a:endParaRPr dirty="0"/>
          </a:p>
          <a:p>
            <a:r>
              <a:rPr dirty="0"/>
              <a:t>The footprints in the middle show why. Gen-COMPAS fills a band between its end states. GESPO keeps extending in both directions. Sampling between known end states saturates, while a learned policy keeps finding new regions.</a:t>
            </a:r>
          </a:p>
          <a:p>
            <a:endParaRPr dirty="0"/>
          </a:p>
          <a:p>
            <a:r>
              <a:rPr dirty="0"/>
              <a:t>DETAIL / Q&amp;A:</a:t>
            </a:r>
          </a:p>
          <a:p>
            <a:r>
              <a:rPr dirty="0"/>
              <a:t>What is measured: the number of occupied bins on a fixed 60 × 60 grid of collective variables, as a function of cumulative unbiased simulation. Top row Trp-cage (115 ns per method), bottom row trypsin–benzamidine (600 ns per method).</a:t>
            </a:r>
          </a:p>
          <a:p>
            <a:r>
              <a:rPr dirty="0"/>
              <a:t>(a, d) Gen-COMPAS is ahead for roughly the first 25 ns: it starts from both end states, so its first rounds already span them. It then plateaus. GESPO overtakes it near 26 ns (Trp-cage) and 24 ns (trypsin) and is still rising at the end: about 2.5× more occupied bins on Trp-cage and about 3× on trypsin.</a:t>
            </a:r>
          </a:p>
          <a:p>
            <a:r>
              <a:rPr dirty="0"/>
              <a:t>(b, e) Footprints at equal budget: blue GESPO only, gray both, pink Gen-COMPAS only. Gen-COMPAS covers a band between its end states; GESPO extends across both coordinates. For trypsin, GESPO covers Trp215-loop displacements that Gen-COMPAS does not reach.</a:t>
            </a:r>
          </a:p>
          <a:p>
            <a:r>
              <a:rPr dirty="0"/>
              <a:t>(c, f) New bins per chunk of simulation: most Gen-COMPAS discoveries come in its first rounds; GESPO keeps adding bins throughout.</a:t>
            </a:r>
          </a:p>
          <a:p>
            <a:r>
              <a:rPr dirty="0"/>
              <a:t>Caveat if asked: bin counts measure coverage, not accuracy of kinetics; the trypsin comparison here uses 600 ns per method, while the other trypsin comparison uses 720 ns. Numbers on the slide are read from the figure and rounded.</a:t>
            </a:r>
          </a:p>
        </p:txBody>
      </p:sp>
      <p:sp>
        <p:nvSpPr>
          <p:cNvPr id="595" name="Google Shape;595;g40a1acaee85_0_40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2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5" name="Google Shape;605;p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27. Trypsin–benzamidine: resolving ligand and receptor together</a:t>
            </a:r>
          </a:p>
          <a:p>
            <a:endParaRPr dirty="0"/>
          </a:p>
          <a:p>
            <a:r>
              <a:rPr dirty="0"/>
              <a:t>SCRIPT (about 1:00):</a:t>
            </a:r>
          </a:p>
          <a:p>
            <a:endParaRPr dirty="0"/>
          </a:p>
          <a:p>
            <a:r>
              <a:rPr dirty="0"/>
              <a:t>Now we return to the system from the beginning of the talk. This is the one case where the ligand and the receptor have to be resolved together. Benzamidine reaches its binding site, Asp189, through the canonical S1 pocket or the alternative S1-star pocket, and access to both is controlled by the Trp215 and Asp189 loops.</a:t>
            </a:r>
          </a:p>
          <a:p>
            <a:endParaRPr dirty="0"/>
          </a:p>
          <a:p>
            <a:r>
              <a:rPr dirty="0"/>
              <a:t>The question is: through which receptor conformations does benzamidine bind and leave?</a:t>
            </a:r>
          </a:p>
          <a:p>
            <a:endParaRPr dirty="0"/>
          </a:p>
          <a:p>
            <a:r>
              <a:rPr dirty="0"/>
              <a:t>The production data are twelve trajectories of 2 nanoseconds per epoch, for 30 epochs, which is 720 nanoseconds of unbiased dynamics. The policy was pretrained on 100 nanoseconds of </a:t>
            </a:r>
            <a:r>
              <a:rPr dirty="0" err="1"/>
              <a:t>metadynamics</a:t>
            </a:r>
            <a:r>
              <a:rPr dirty="0"/>
              <a:t>. Those biased data were used only to pretrain the policy and to fill the conformation bank, and they are excluded from every kinetic estimate.</a:t>
            </a:r>
          </a:p>
          <a:p>
            <a:endParaRPr dirty="0"/>
          </a:p>
          <a:p>
            <a:r>
              <a:rPr dirty="0"/>
              <a:t>DETAIL / Q&amp;A:</a:t>
            </a:r>
          </a:p>
          <a:p>
            <a:r>
              <a:rPr dirty="0"/>
              <a:t>Test 3: the only system where ligand and receptor must be resolved together. Benzamidine reaches Asp189 through the canonical S1 pocket or the alternative S1* pocket; access is controlled by the Trp215 and Asp189 loops.</a:t>
            </a:r>
          </a:p>
          <a:p>
            <a:endParaRPr dirty="0"/>
          </a:p>
          <a:p>
            <a:r>
              <a:rPr dirty="0"/>
              <a:t>Production: 12 trajectories × 2 ns × 30 epochs = 720 ns of unbiased dynamics. The 100 ns of </a:t>
            </a:r>
            <a:r>
              <a:rPr dirty="0" err="1"/>
              <a:t>metadynamics</a:t>
            </a:r>
            <a:r>
              <a:rPr dirty="0"/>
              <a:t> used only to pretrain the policy and fill the conformation bank is excluded from every kinetic estimate.</a:t>
            </a:r>
          </a:p>
        </p:txBody>
      </p:sp>
      <p:sp>
        <p:nvSpPr>
          <p:cNvPr id="606" name="Google Shape;606;p2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p2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2" name="Google Shape;622;p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28. With and without ligand, GESPO sampling follows the physics</a:t>
            </a:r>
          </a:p>
          <a:p>
            <a:endParaRPr dirty="0"/>
          </a:p>
          <a:p>
            <a:r>
              <a:rPr dirty="0"/>
              <a:t>SCRIPT (about 1:15):</a:t>
            </a:r>
          </a:p>
          <a:p>
            <a:endParaRPr dirty="0"/>
          </a:p>
          <a:p>
            <a:r>
              <a:rPr dirty="0"/>
              <a:t>These maps use the RMSDs of the two loops, the same coordinates the reference study used to define receptor states.</a:t>
            </a:r>
          </a:p>
          <a:p>
            <a:endParaRPr dirty="0"/>
          </a:p>
          <a:p>
            <a:r>
              <a:rPr dirty="0"/>
              <a:t>Panel a is that reference: 100 microseconds of unbiased simulation with benzamidine bound. The stars are its seven receptor states. Most of the density lies in a narrow band from closed to partly open, and the open states are several k-T above it.</a:t>
            </a:r>
          </a:p>
          <a:p>
            <a:endParaRPr dirty="0"/>
          </a:p>
          <a:p>
            <a:r>
              <a:rPr dirty="0"/>
              <a:t>Panel b is a control. We ran the same policy and protocol without the ligand. It still covers the reference states, and the Trp215 gate still opens. So the open-gate conformations do not require the ligand, and the sampler does not invent ligand-specific states when there is no ligand.</a:t>
            </a:r>
          </a:p>
          <a:p>
            <a:endParaRPr dirty="0"/>
          </a:p>
          <a:p>
            <a:r>
              <a:rPr dirty="0"/>
              <a:t>Panel c is the </a:t>
            </a:r>
            <a:r>
              <a:rPr dirty="0" err="1"/>
              <a:t>holo</a:t>
            </a:r>
            <a:r>
              <a:rPr dirty="0"/>
              <a:t> system. With benzamidine bound, sampling reaches further, with both loops displaced together. Because the dynamics are unbiased and only the choice of where to sample differs, the difference between b and c reflects the effect of the ligand on the receptor, not the sampler.</a:t>
            </a:r>
          </a:p>
          <a:p>
            <a:endParaRPr dirty="0"/>
          </a:p>
          <a:p>
            <a:r>
              <a:rPr dirty="0"/>
              <a:t>DETAIL / Q&amp;A:</a:t>
            </a:r>
          </a:p>
          <a:p>
            <a:r>
              <a:rPr dirty="0"/>
              <a:t>Coordinates: Cα RMSD of the Asp189 and Trp215 loops to the closed crystal structure, the loops the reference study uses to classify receptor states. Stars: the seven receptor states of the reference (labeled S0–S6 on the figure).</a:t>
            </a:r>
          </a:p>
          <a:p>
            <a:endParaRPr dirty="0"/>
          </a:p>
          <a:p>
            <a:r>
              <a:rPr dirty="0"/>
              <a:t>(a) The 100 </a:t>
            </a:r>
            <a:r>
              <a:rPr dirty="0" err="1"/>
              <a:t>μs</a:t>
            </a:r>
            <a:r>
              <a:rPr dirty="0"/>
              <a:t> unbiased reference with benzamidine bound (Plattner &amp; Noé): a narrow band from closed to partly open; the open states lie several </a:t>
            </a:r>
            <a:r>
              <a:rPr dirty="0" err="1"/>
              <a:t>kBT</a:t>
            </a:r>
            <a:r>
              <a:rPr dirty="0"/>
              <a:t> above it.</a:t>
            </a:r>
          </a:p>
          <a:p>
            <a:endParaRPr dirty="0"/>
          </a:p>
          <a:p>
            <a:r>
              <a:rPr dirty="0"/>
              <a:t>(b) The apo run is a control. Same policy and protocol, no ligand. Sampling covers the reference receptor states and the Trp215 gate still opens, so the open-gate conformations do not require the ligand, and the sampler does not produce ligand-specific states in its absence.</a:t>
            </a:r>
          </a:p>
          <a:p>
            <a:endParaRPr dirty="0"/>
          </a:p>
          <a:p>
            <a:r>
              <a:rPr dirty="0"/>
              <a:t>(c) With benzamidine bound, sampling extends further, with both loops displaced together while the closed basin is retained.</a:t>
            </a:r>
          </a:p>
          <a:p>
            <a:endParaRPr dirty="0"/>
          </a:p>
          <a:p>
            <a:r>
              <a:rPr dirty="0"/>
              <a:t>Point to make: the dynamics are unbiased, so GESPO changes only where to sample. The difference between (b) and (c) reflects the effect of the ligand on the receptor, not an artifact of the method.</a:t>
            </a:r>
          </a:p>
          <a:p>
            <a:endParaRPr dirty="0"/>
          </a:p>
          <a:p>
            <a:r>
              <a:rPr dirty="0"/>
              <a:t>If asked: panels b and c are sampling densities, −ln </a:t>
            </a:r>
            <a:r>
              <a:rPr dirty="0" err="1"/>
              <a:t>p_sample</a:t>
            </a:r>
            <a:r>
              <a:rPr dirty="0"/>
              <a:t>, not free energies.</a:t>
            </a:r>
          </a:p>
        </p:txBody>
      </p:sp>
      <p:sp>
        <p:nvSpPr>
          <p:cNvPr id="623" name="Google Shape;623;p2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4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68" name="Google Shape;768;p4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29. MA-REAP and DeepDriveMD: ligand leaves, gate stays</a:t>
            </a:r>
          </a:p>
          <a:p>
            <a:endParaRPr/>
          </a:p>
          <a:p>
            <a:r>
              <a:t>SCRIPT (about 1:00):</a:t>
            </a:r>
          </a:p>
          <a:p>
            <a:endParaRPr/>
          </a:p>
          <a:p>
            <a:r>
              <a:t>Here are the baselines on trypsin, with the same budget and the same starting conformations.</a:t>
            </a:r>
          </a:p>
          <a:p>
            <a:endParaRPr/>
          </a:p>
          <a:p>
            <a:r>
              <a:t>Look at the middle row, ligand distance against the Trp215 loop. MA-REAP and DeepDriveMD also carry benzamidine beyond 40 angstroms. But their late discoveries sit along narrow bands at almost fixed loop RMSD: the ligand leaves while the gate stays where it started. GESPO's late discoveries lie at the outer edge along both axes.</a:t>
            </a:r>
          </a:p>
          <a:p>
            <a:endParaRPr/>
          </a:p>
          <a:p>
            <a:r>
              <a:t>The other rows tell the same story. The baselines stay within 3 angstroms of the starting receptor structure, while GESPO is still moving outward at 10 angstroms, and it covers loop displacements the baselines never reach.</a:t>
            </a:r>
          </a:p>
          <a:p>
            <a:endParaRPr/>
          </a:p>
          <a:p>
            <a:r>
              <a:t>DETAIL / Q&amp;A:</a:t>
            </a:r>
          </a:p>
          <a:p>
            <a:r>
              <a:t>Baselines on trypsin at matched budget (720 ns) and matched initial conformations. (d) MA-REAP and DeepDriveMD also carry benzamidine past 40 Å, but their late discoveries lie along narrow bands at nearly fixed Trp215-loop RMSD: the ligand leaves while the gate stays where it started. (c) All baselines stay within 3 Å Cα RMSD of the start; GESPO is still moving outward at 10 Å. (e) GESPO covers Asp189-loop and loop-225 displacements the baselines do not reach.</a:t>
            </a:r>
          </a:p>
          <a:p>
            <a:endParaRPr/>
          </a:p>
          <a:p>
            <a:r>
              <a:t>If asked: a repeat with baseline trajectories started from random round-0 conformations gives the same conclusions.</a:t>
            </a:r>
          </a:p>
        </p:txBody>
      </p:sp>
      <p:sp>
        <p:nvSpPr>
          <p:cNvPr id="769" name="Google Shape;769;p4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3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5" name="Google Shape;675;p3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30. Generators supply priors; trajectories supply the mechanism</a:t>
            </a:r>
          </a:p>
          <a:p>
            <a:endParaRPr/>
          </a:p>
          <a:p>
            <a:r>
              <a:t>SCRIPT (about 1:15):</a:t>
            </a:r>
          </a:p>
          <a:p>
            <a:endParaRPr/>
          </a:p>
          <a:p>
            <a:r>
              <a:t>This slide returns to the question from slide 2: can a structure predictor tell us the mechanism? In gray is the GESPO coverage. The colored points are samples from current structure generators on the same coordinates.</a:t>
            </a:r>
          </a:p>
          <a:p>
            <a:endParaRPr/>
          </a:p>
          <a:p>
            <a:r>
              <a:t>Boltz-2, OpenFold3 with a full alignment, and AnewSampling all collapse onto the closed, bound pose, with benzamidine within about 4 angstroms of Asp189. They reproduce the crystal pose very well. Subsampling OpenFold3's alignment to four sequences scatters the samples, but that spread comes from an inference setting, not from physics. It misses the S1-star region, and it disappears by a depth of 16. BioEmu gives a broad receptor prior with open and closed gates, but it has no ligand, so it cannot say anything about binding.</a:t>
            </a:r>
          </a:p>
          <a:p>
            <a:endParaRPr/>
          </a:p>
          <a:p>
            <a:r>
              <a:t>So the generators give us one bound basin very sharply, or a receptor without a ligand. The second binding mode and the route out of the pocket come from the trajectories. These methods are complementary: they could supply initial structures for a method like GESPO.</a:t>
            </a:r>
          </a:p>
          <a:p>
            <a:endParaRPr/>
          </a:p>
          <a:p>
            <a:r>
              <a:t>DETAIL / Q&amp;A:</a:t>
            </a:r>
          </a:p>
          <a:p>
            <a:r>
              <a:t>This returns to the opening question on slide 2: does a structure tell us the mechanism?</a:t>
            </a:r>
          </a:p>
          <a:p>
            <a:r>
              <a:t>Gray is GESPO coverage; colored points are samples from structure generators, on the same coordinates: loop RMSDs (a, b) and benzamidine–Asp189 distance (c, d).</a:t>
            </a:r>
          </a:p>
          <a:p>
            <a:r>
              <a:t>Boltz-2 and OpenFold3 at full MSA depth, and the all-atom equilibrium generator AnewSampling, all collapse onto a tight cluster at the closed bound state, with benzamidine within about 4 Å of Asp189 in every sample. They reproduce the native pose sharply.</a:t>
            </a:r>
          </a:p>
          <a:p>
            <a:r>
              <a:t>Subsampling the MSA to four sequences scatters OpenFold3 broadly, but that spread is set by an inference hyperparameter, not by physics: it leaves the S1* region empty, puts 44% of samples beyond 15 Å, and disappears by depth 16.</a:t>
            </a:r>
          </a:p>
          <a:p>
            <a:r>
              <a:t>BioEmu gives a broad ligand-free receptor prior; its apo and holo-biased ensembles are indistinguishable and already contain open and closed Trp215 gates, so the receptor states needed for binding exist without ligand. With no ligand, it cannot be placed on the association coordinate at all.</a:t>
            </a:r>
          </a:p>
          <a:p>
            <a:r>
              <a:t>Takeaway: the generators describe one bound basin sharply, or a receptor prior without a ligand. The second binding mode and the route out of the pocket come from the propagated trajectories. The generators are complementary: they can suggest or initialize structures.</a:t>
            </a:r>
          </a:p>
        </p:txBody>
      </p:sp>
      <p:sp>
        <p:nvSpPr>
          <p:cNvPr id="676" name="Google Shape;676;p3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endParaRPr/>
          </a:p>
          <a:p>
            <a:endParaRPr/>
          </a:p>
          <a:p>
            <a:r>
              <a:t>SCRIPT (about 1:15):</a:t>
            </a:r>
          </a:p>
          <a:p>
            <a:endParaRPr/>
          </a:p>
          <a:p>
            <a:r>
              <a:t>Now the mechanism. Panel d shows the committor, the probability of reaching the unbound state before the bound state, against the ligand distance. It rises from zero in the pocket to one beyond 15 angstroms and crosses one half near 8 to 9 angstroms.</a:t>
            </a:r>
          </a:p>
          <a:p>
            <a:endParaRPr/>
          </a:p>
          <a:p>
            <a:r>
              <a:t>That crossing point by itself is not informative. Free diffusion between absorbing shells at 6 and 15 angstroms would cross one half at about the same distance, with no barrier at all. What is informative is the spread: at a fixed distance, the committor still ranges widely.</a:t>
            </a:r>
          </a:p>
          <a:p>
            <a:endParaRPr/>
          </a:p>
          <a:p>
            <a:r>
              <a:t>Panels e and f show part of the reason. These are mean displacements of the trajectories, colored by committor. At the same ligand distance, configurations with the Trp215 loop open are further along toward dissociation. So the receptor coordinate carries part of the reaction progress that distance alone misses.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g3fba1c648f0_0_62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3" name="Google Shape;633;g3fba1c648f0_0_6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32. The Trp215 loop gates the pocket between S1 and S1*</a:t>
            </a:r>
          </a:p>
          <a:p>
            <a:endParaRPr dirty="0"/>
          </a:p>
          <a:p>
            <a:r>
              <a:rPr dirty="0"/>
              <a:t>SCRIPT (about 1:15):</a:t>
            </a:r>
          </a:p>
          <a:p>
            <a:endParaRPr dirty="0"/>
          </a:p>
          <a:p>
            <a:r>
              <a:rPr dirty="0"/>
              <a:t>To describe the receptor, we trained SPIB on Geom2Vec features of the </a:t>
            </a:r>
            <a:r>
              <a:rPr dirty="0" err="1"/>
              <a:t>holo</a:t>
            </a:r>
            <a:r>
              <a:rPr dirty="0"/>
              <a:t> trajectories and coarse-grained it into seven </a:t>
            </a:r>
            <a:r>
              <a:rPr dirty="0" err="1"/>
              <a:t>macrostates</a:t>
            </a:r>
            <a:r>
              <a:rPr dirty="0"/>
              <a:t>, </a:t>
            </a:r>
            <a:r>
              <a:rPr lang="en-US" dirty="0"/>
              <a:t>the </a:t>
            </a:r>
            <a:r>
              <a:rPr dirty="0"/>
              <a:t>same number as the reference study.</a:t>
            </a:r>
          </a:p>
          <a:p>
            <a:endParaRPr dirty="0"/>
          </a:p>
          <a:p>
            <a:r>
              <a:rPr dirty="0"/>
              <a:t>They run from the closed S1 geometry, M0, to the open S1-star geometry, M6. The top row shows each state and its loop RMSDs; the bottom row shows the pocket. The chart on the right makes the pattern clear: the Trp215 loop RMSD rises steadily from 1.6 to 4.2 angstroms across the states, while the Asp189 loop stays within 2 angstroms in all but the last. So Trp215 is the gate.</a:t>
            </a:r>
          </a:p>
          <a:p>
            <a:endParaRPr dirty="0"/>
          </a:p>
          <a:p>
            <a:r>
              <a:rPr dirty="0"/>
              <a:t>Bound benzamidine appears not only in the closed state but throughout the open-gate states. The S1-star mode is observed directly in the trajectories, not inferred from the endpoints.</a:t>
            </a:r>
          </a:p>
          <a:p>
            <a:endParaRPr dirty="0"/>
          </a:p>
          <a:p>
            <a:r>
              <a:rPr dirty="0"/>
              <a:t>DETAIL / Q&amp;A:</a:t>
            </a:r>
          </a:p>
          <a:p>
            <a:r>
              <a:rPr dirty="0"/>
              <a:t>How the states were made: a SPIB model trained on Geom2Vec features of the </a:t>
            </a:r>
            <a:r>
              <a:rPr dirty="0" err="1"/>
              <a:t>holo</a:t>
            </a:r>
            <a:r>
              <a:rPr dirty="0"/>
              <a:t> trajectories, coarse-grained into seven receptor </a:t>
            </a:r>
            <a:r>
              <a:rPr dirty="0" err="1"/>
              <a:t>macrostates</a:t>
            </a:r>
            <a:r>
              <a:rPr dirty="0"/>
              <a:t>, M0–M6, the same number resolved in the 100 </a:t>
            </a:r>
            <a:r>
              <a:rPr dirty="0" err="1"/>
              <a:t>μs</a:t>
            </a:r>
            <a:r>
              <a:rPr dirty="0"/>
              <a:t> reference study.</a:t>
            </a:r>
          </a:p>
          <a:p>
            <a:r>
              <a:rPr dirty="0"/>
              <a:t>Top row: whole-protein views with the two loop RMSDs for each state. Bottom row: pocket close-ups, Asp189 loop yellow, Trp215 loop orange, benzamidine in sticks (green in S1-like, purple in S1*-like).</a:t>
            </a:r>
          </a:p>
          <a:p>
            <a:r>
              <a:rPr dirty="0"/>
              <a:t>The ordering runs from the closed S1 geometry (M0: Trp215 loop 1.6 Å, Asp189 loop 0.6 Å) to the open S1* geometry (M6: 4.2 and 2.5 Å). The Trp215 loop is the gate: its RMSD increases monotonically from M0 to M6, while the Asp189 loop stays within 2 Å of the closed structure in all but the most open state.</a:t>
            </a:r>
          </a:p>
          <a:p>
            <a:r>
              <a:rPr dirty="0"/>
              <a:t>Bound configurations occur not only in the closed M0 but throughout the open-gate </a:t>
            </a:r>
            <a:r>
              <a:rPr dirty="0" err="1"/>
              <a:t>macrostates</a:t>
            </a:r>
            <a:r>
              <a:rPr dirty="0"/>
              <a:t>, so the S1* binding mode appears in the trajectories themselves.</a:t>
            </a:r>
          </a:p>
          <a:p>
            <a:r>
              <a:rPr dirty="0"/>
              <a:t>Next two slides: how these states connect during dissociation (reactive flux) and how the receptor exchanges between them within each </a:t>
            </a:r>
            <a:r>
              <a:rPr dirty="0" err="1"/>
              <a:t>committor</a:t>
            </a:r>
            <a:r>
              <a:rPr dirty="0"/>
              <a:t> tier.</a:t>
            </a:r>
          </a:p>
        </p:txBody>
      </p:sp>
      <p:sp>
        <p:nvSpPr>
          <p:cNvPr id="634" name="Google Shape;634;g3fba1c648f0_0_62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3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4" name="Google Shape;644;p3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33. Most dissociation flux leaves the pocket through M5</a:t>
            </a:r>
          </a:p>
          <a:p>
            <a:endParaRPr dirty="0"/>
          </a:p>
          <a:p>
            <a:r>
              <a:rPr dirty="0"/>
              <a:t>SCRIPT (about 1:15):</a:t>
            </a:r>
          </a:p>
          <a:p>
            <a:endParaRPr dirty="0"/>
          </a:p>
          <a:p>
            <a:r>
              <a:rPr dirty="0"/>
              <a:t>This network combines the two descriptions. Columns are the seven receptor states. Rows are </a:t>
            </a:r>
            <a:r>
              <a:rPr dirty="0" err="1"/>
              <a:t>committor</a:t>
            </a:r>
            <a:r>
              <a:rPr dirty="0"/>
              <a:t> tiers: bound, associated, and unbound. Circle area is the stationary weight, and arrow width is the net reactive flux toward dissociation. Both are computed after reweighting each frame to correct for the adaptive sampling.</a:t>
            </a:r>
          </a:p>
          <a:p>
            <a:endParaRPr dirty="0"/>
          </a:p>
          <a:p>
            <a:r>
              <a:rPr dirty="0"/>
              <a:t>The largest flux passes through M5, an open-gate state. M0 and M4 carry the next largest, and M2 the least. Every arrow points the same way, from bound toward unbound.</a:t>
            </a:r>
          </a:p>
          <a:p>
            <a:endParaRPr dirty="0"/>
          </a:p>
          <a:p>
            <a:r>
              <a:rPr dirty="0"/>
              <a:t>Two cautions. The weights come from reweighted adaptive data, so they are model estimates, not validated populations. And because the unbound tier is defined by a distance cutoff, this network does not tell us whether ligand release is the last event.</a:t>
            </a:r>
          </a:p>
          <a:p>
            <a:endParaRPr dirty="0"/>
          </a:p>
          <a:p>
            <a:r>
              <a:rPr dirty="0"/>
              <a:t>DETAIL / Q&amp;A:</a:t>
            </a:r>
          </a:p>
          <a:p>
            <a:r>
              <a:rPr dirty="0"/>
              <a:t>Layout: columns are the seven receptor </a:t>
            </a:r>
            <a:r>
              <a:rPr dirty="0" err="1"/>
              <a:t>macrostates</a:t>
            </a:r>
            <a:r>
              <a:rPr dirty="0"/>
              <a:t> from the previous slide, closed S1 on the left to open S1* on the right. Rows are </a:t>
            </a:r>
            <a:r>
              <a:rPr dirty="0" err="1"/>
              <a:t>committor</a:t>
            </a:r>
            <a:r>
              <a:rPr dirty="0"/>
              <a:t> tiers from DGA: bound (mean q⁺ = 0), associated (≈ 0.58) and unbound (q⁺ = 1). Each </a:t>
            </a:r>
            <a:r>
              <a:rPr dirty="0" err="1"/>
              <a:t>macrostate</a:t>
            </a:r>
            <a:r>
              <a:rPr dirty="0"/>
              <a:t>-tier cell is a node.</a:t>
            </a:r>
          </a:p>
          <a:p>
            <a:r>
              <a:rPr dirty="0"/>
              <a:t>Circle area is the adjoint weight π, the stationary distribution of the transition-count matrix. Black arrow width is the net reactive flux, max(</a:t>
            </a:r>
            <a:r>
              <a:rPr dirty="0" err="1"/>
              <a:t>f_ij</a:t>
            </a:r>
            <a:r>
              <a:rPr dirty="0"/>
              <a:t> − </a:t>
            </a:r>
            <a:r>
              <a:rPr dirty="0" err="1"/>
              <a:t>f_ji</a:t>
            </a:r>
            <a:r>
              <a:rPr dirty="0"/>
              <a:t>, 0), with </a:t>
            </a:r>
            <a:r>
              <a:rPr dirty="0" err="1"/>
              <a:t>f_ij</a:t>
            </a:r>
            <a:r>
              <a:rPr dirty="0"/>
              <a:t> = π_</a:t>
            </a:r>
            <a:r>
              <a:rPr dirty="0" err="1"/>
              <a:t>i</a:t>
            </a:r>
            <a:r>
              <a:rPr dirty="0"/>
              <a:t> q⁻_</a:t>
            </a:r>
            <a:r>
              <a:rPr dirty="0" err="1"/>
              <a:t>i</a:t>
            </a:r>
            <a:r>
              <a:rPr dirty="0"/>
              <a:t> </a:t>
            </a:r>
            <a:r>
              <a:rPr dirty="0" err="1"/>
              <a:t>T_ij</a:t>
            </a:r>
            <a:r>
              <a:rPr dirty="0"/>
              <a:t> </a:t>
            </a:r>
            <a:r>
              <a:rPr dirty="0" err="1"/>
              <a:t>q⁺_j</a:t>
            </a:r>
            <a:r>
              <a:rPr dirty="0"/>
              <a:t>. Both are computed after reweighting each frame by π/</a:t>
            </a:r>
            <a:r>
              <a:rPr dirty="0" err="1"/>
              <a:t>p_sample</a:t>
            </a:r>
            <a:r>
              <a:rPr dirty="0"/>
              <a:t>, which corrects for the adaptive sampling.</a:t>
            </a:r>
          </a:p>
          <a:p>
            <a:r>
              <a:rPr dirty="0"/>
              <a:t>Result: most dissociation flux passes through the open-gate </a:t>
            </a:r>
            <a:r>
              <a:rPr dirty="0" err="1"/>
              <a:t>macrostate</a:t>
            </a:r>
            <a:r>
              <a:rPr dirty="0"/>
              <a:t> M5, the dominant gateway. M0 and M4 carry the next largest fluxes; M2 the least. All black arrows point the same way, from bound toward unbound.</a:t>
            </a:r>
          </a:p>
          <a:p>
            <a:r>
              <a:rPr dirty="0"/>
              <a:t>Benzamidine stays within encounter range in the bound and associated tiers and separates on entering the unbound tier. Because the unbound set is defined by d &gt; 15 Å, that separation follows from the tier boundary; it does not show that release is the last event. Ordering events would need statistics along reactive paths.</a:t>
            </a:r>
          </a:p>
          <a:p>
            <a:r>
              <a:rPr dirty="0"/>
              <a:t>If asked about populations: node weights come from reweighted adaptive data and should be treated as model estimates, not validated equilibrium populations.</a:t>
            </a:r>
          </a:p>
        </p:txBody>
      </p:sp>
      <p:sp>
        <p:nvSpPr>
          <p:cNvPr id="645" name="Google Shape;645;p3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3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3" name="Google Shape;663;p3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34. The receptor interconverts across the full S1–S1* range</a:t>
            </a:r>
          </a:p>
          <a:p>
            <a:endParaRPr dirty="0"/>
          </a:p>
          <a:p>
            <a:r>
              <a:rPr dirty="0"/>
              <a:t>SCRIPT (about 1:00):</a:t>
            </a:r>
          </a:p>
          <a:p>
            <a:endParaRPr dirty="0"/>
          </a:p>
          <a:p>
            <a:r>
              <a:rPr dirty="0"/>
              <a:t>The green arrows show the net exchange between receptor states while the ligand is bound or nearby. Every state appears in the associated tier, and the exchange is strongest between M2 and M5.</a:t>
            </a:r>
          </a:p>
          <a:p>
            <a:pPr marL="158750" indent="0">
              <a:buNone/>
            </a:pPr>
            <a:endParaRPr dirty="0"/>
          </a:p>
          <a:p>
            <a:endParaRPr dirty="0"/>
          </a:p>
          <a:p>
            <a:r>
              <a:rPr dirty="0"/>
              <a:t>What it show</a:t>
            </a:r>
            <a:r>
              <a:rPr lang="en-US" dirty="0"/>
              <a:t>s</a:t>
            </a:r>
            <a:r>
              <a:rPr dirty="0"/>
              <a:t> is that the gate is not a one-time switch: the receptor keeps sampling open and closed geometries throughout binding. That is a mechanistic statement that requires trajectories, and it is exactly where the structural predictors </a:t>
            </a:r>
            <a:r>
              <a:rPr lang="en-US" dirty="0"/>
              <a:t>cannot supplement</a:t>
            </a:r>
            <a:r>
              <a:rPr dirty="0"/>
              <a:t>.</a:t>
            </a:r>
          </a:p>
          <a:p>
            <a:endParaRPr dirty="0"/>
          </a:p>
          <a:p>
            <a:r>
              <a:rPr dirty="0"/>
              <a:t>DETAIL / Q&amp;A:</a:t>
            </a:r>
          </a:p>
          <a:p>
            <a:r>
              <a:rPr dirty="0"/>
              <a:t>Same layout as the previous slide: </a:t>
            </a:r>
            <a:r>
              <a:rPr dirty="0" err="1"/>
              <a:t>macrostates</a:t>
            </a:r>
            <a:r>
              <a:rPr dirty="0"/>
              <a:t> in columns, </a:t>
            </a:r>
            <a:r>
              <a:rPr dirty="0" err="1"/>
              <a:t>committor</a:t>
            </a:r>
            <a:r>
              <a:rPr dirty="0"/>
              <a:t> tiers in rows. Green arrows show the net conformational exchange between </a:t>
            </a:r>
            <a:r>
              <a:rPr dirty="0" err="1"/>
              <a:t>macrostates</a:t>
            </a:r>
            <a:r>
              <a:rPr dirty="0"/>
              <a:t>; width is the size of the net current.</a:t>
            </a:r>
          </a:p>
          <a:p>
            <a:r>
              <a:rPr dirty="0"/>
              <a:t>Result: every </a:t>
            </a:r>
            <a:r>
              <a:rPr dirty="0" err="1"/>
              <a:t>macrostate</a:t>
            </a:r>
            <a:r>
              <a:rPr dirty="0"/>
              <a:t> appears in the associated tier, so the receptor interconverts across the whole S1–S1* range while benzamidine stays within encounter distance. Exchange is particularly strong between M2 and M5.</a:t>
            </a:r>
          </a:p>
          <a:p>
            <a:r>
              <a:rPr dirty="0"/>
              <a:t>Important caveat, say it: these net currents are small compared with the underlying two-way traffic, and most arrow directions are not robust to bootstrap resampling. So the green network is not a directed pathway. It cannot establish whether gate opening precedes ligand approach or the reverse, and it cannot distinguish conformational selection from induced fit.</a:t>
            </a:r>
          </a:p>
          <a:p>
            <a:r>
              <a:rPr dirty="0"/>
              <a:t>What it does show: the gate is not a one-time switch; the receptor keeps sampling open and closed geometries throughout binding.</a:t>
            </a:r>
          </a:p>
          <a:p>
            <a:r>
              <a:rPr dirty="0"/>
              <a:t>Transition to the closing slides: this is the kind of mechanistic statement that requires trajectories, which is where the structural priors on slide 28 stop.</a:t>
            </a:r>
          </a:p>
        </p:txBody>
      </p:sp>
      <p:sp>
        <p:nvSpPr>
          <p:cNvPr id="664" name="Google Shape;664;p3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p3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6" name="Google Shape;686;p3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35. What the evidence supports, and what it does not yet</a:t>
            </a:r>
          </a:p>
          <a:p>
            <a:endParaRPr dirty="0"/>
          </a:p>
          <a:p>
            <a:r>
              <a:rPr dirty="0"/>
              <a:t>SCRIPT (about 1:15):</a:t>
            </a:r>
          </a:p>
          <a:p>
            <a:endParaRPr dirty="0"/>
          </a:p>
          <a:p>
            <a:r>
              <a:rPr dirty="0"/>
              <a:t>Let me be </a:t>
            </a:r>
            <a:r>
              <a:rPr lang="en-US" dirty="0"/>
              <a:t>clear</a:t>
            </a:r>
            <a:r>
              <a:rPr dirty="0"/>
              <a:t> about the limits of these results.</a:t>
            </a:r>
          </a:p>
          <a:p>
            <a:endParaRPr dirty="0"/>
          </a:p>
          <a:p>
            <a:r>
              <a:rPr dirty="0"/>
              <a:t>First, statistical scope. Data from adaptive sampling are not equilibrium samples, because we chose where to start each trajectory. So populations, free energies, and rates need reweighting or independent validation. Second, </a:t>
            </a:r>
            <a:r>
              <a:rPr lang="en-US" dirty="0"/>
              <a:t>the dynamics and kinetics are determined by the quality of the force field, how to improve force field with affordable price is still an open question</a:t>
            </a:r>
          </a:p>
          <a:p>
            <a:endParaRPr dirty="0"/>
          </a:p>
          <a:p>
            <a:r>
              <a:rPr dirty="0"/>
              <a:t>These also point to the next steps: estimators that turn adaptive data into calibrated kinetics; policies that choose not only where to sample but also resolution, trajectory length, and how many trajectories to run; and structure generators post-trained with kinetic feedback, so that the predictors we saw earlier propose structures that are informative under the dynamics.</a:t>
            </a:r>
          </a:p>
          <a:p>
            <a:endParaRPr dirty="0"/>
          </a:p>
          <a:p>
            <a:r>
              <a:rPr dirty="0"/>
              <a:t>DETAIL / Q&amp;A:</a:t>
            </a:r>
          </a:p>
          <a:p>
            <a:r>
              <a:rPr dirty="0"/>
              <a:t>Limitations. Statistical scope: pooled frames from adaptive sampling are not equilibrium samples, so populations, free energies and rates need reweighting or independent validation. Kinetic-model uncertainty: finite transition counts, lag time and state discretization. Replicates: discovery was compared in single campaigns.</a:t>
            </a:r>
          </a:p>
          <a:p>
            <a:endParaRPr dirty="0"/>
          </a:p>
          <a:p>
            <a:r>
              <a:rPr dirty="0"/>
              <a:t>Future directions from Ch. 8: estimators that turn adaptive data into equilibrium and kinetic statistics; richer policy actions (resolution, number of trajectories, duration); and structure generators post-trained with kinetic feedback.</a:t>
            </a:r>
          </a:p>
        </p:txBody>
      </p:sp>
      <p:sp>
        <p:nvSpPr>
          <p:cNvPr id="687" name="Google Shape;687;p3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3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7" name="Google Shape;707;p3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36. Representation and reinforcement learning meet at kinetics</a:t>
            </a:r>
          </a:p>
          <a:p>
            <a:endParaRPr dirty="0"/>
          </a:p>
          <a:p>
            <a:r>
              <a:rPr dirty="0"/>
              <a:t>SCRIPT (about 1:00):</a:t>
            </a:r>
          </a:p>
          <a:p>
            <a:endParaRPr dirty="0"/>
          </a:p>
          <a:p>
            <a:r>
              <a:rPr dirty="0"/>
              <a:t>To close, here is the loop from the beginning.</a:t>
            </a:r>
          </a:p>
          <a:p>
            <a:endParaRPr dirty="0"/>
          </a:p>
          <a:p>
            <a:r>
              <a:rPr dirty="0"/>
              <a:t>Pretrained geometric features keep the atomistic detail that slow </a:t>
            </a:r>
            <a:r>
              <a:rPr lang="en-US" dirty="0"/>
              <a:t>modes</a:t>
            </a:r>
            <a:r>
              <a:rPr dirty="0"/>
              <a:t> depend on, like the threonine side chains in chignolin. Time-lagged objectives turn those features into kinetic coordinates and states. The same kinetic model scores trajectories, and a generative policy learns from those scores where to sample next, with the dynamics left unbiased. The new trajectories feed back into the representation.</a:t>
            </a:r>
          </a:p>
          <a:p>
            <a:endParaRPr dirty="0"/>
          </a:p>
          <a:p>
            <a:r>
              <a:rPr dirty="0"/>
              <a:t>In one sentence: the features retain slow motion, and the kinetic evidence decides where to simulate next.</a:t>
            </a:r>
          </a:p>
          <a:p>
            <a:endParaRPr dirty="0"/>
          </a:p>
          <a:p>
            <a:r>
              <a:rPr dirty="0"/>
              <a:t>DETAIL / Q&amp;A:</a:t>
            </a:r>
          </a:p>
          <a:p>
            <a:r>
              <a:rPr dirty="0"/>
              <a:t>Synthesis, same loop as the roadmap. Pretrained geometric features keep slow distinctions; time-lagged objectives turn them into kinetic coordinates; the kinetic model scores trajectories; the policy learns where to sample next; unbiased MD supplies the evidence.</a:t>
            </a:r>
          </a:p>
          <a:p>
            <a:endParaRPr dirty="0"/>
          </a:p>
          <a:p>
            <a:r>
              <a:rPr dirty="0"/>
              <a:t>One sentence to close: features retain slow motion, and kinetic evidence decides where to simulate next.</a:t>
            </a:r>
          </a:p>
        </p:txBody>
      </p:sp>
      <p:sp>
        <p:nvSpPr>
          <p:cNvPr id="708" name="Google Shape;708;p3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3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9" name="Google Shape;739;p3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rPr dirty="0"/>
              <a:t>37. Thank you</a:t>
            </a:r>
          </a:p>
          <a:p>
            <a:endParaRPr dirty="0"/>
          </a:p>
          <a:p>
            <a:r>
              <a:rPr dirty="0"/>
              <a:t>SCRIPT (about 0:45):</a:t>
            </a:r>
          </a:p>
          <a:p>
            <a:endParaRPr dirty="0"/>
          </a:p>
          <a:p>
            <a:r>
              <a:rPr dirty="0"/>
              <a:t>None of this would have been possible without many people. I want to thank my advisor, Aaron, for his guidance throughout, and my committee for their time and feedback.</a:t>
            </a:r>
          </a:p>
          <a:p>
            <a:endParaRPr dirty="0"/>
          </a:p>
          <a:p>
            <a:r>
              <a:rPr dirty="0"/>
              <a:t>I also thank my collaborators on each project; </a:t>
            </a:r>
            <a:r>
              <a:rPr dirty="0" err="1"/>
              <a:t>Chatipat</a:t>
            </a:r>
            <a:r>
              <a:rPr dirty="0"/>
              <a:t> </a:t>
            </a:r>
            <a:r>
              <a:rPr dirty="0" err="1"/>
              <a:t>Lorpaiboon</a:t>
            </a:r>
            <a:r>
              <a:rPr dirty="0"/>
              <a:t>, Spencer Guo, and Jonathan Weare on Geom2Vec and token merging; Nhan Nguyen, Zhengyuan Shen, and Jonathan Weare on GESPO; and Zhengyuan Shen, Zichen Wang, Marcus Collins, and </a:t>
            </a:r>
            <a:r>
              <a:rPr dirty="0" err="1"/>
              <a:t>Huzefa</a:t>
            </a:r>
            <a:r>
              <a:rPr dirty="0"/>
              <a:t> Rangwala at AWS. Thank you as well to D. E. Shaw Research for trajectory data, and to the Research Computing Center and AWS for computing.</a:t>
            </a:r>
          </a:p>
          <a:p>
            <a:endParaRPr dirty="0"/>
          </a:p>
          <a:p>
            <a:r>
              <a:rPr dirty="0"/>
              <a:t>Thank you, and I am happy to take questions.</a:t>
            </a:r>
          </a:p>
          <a:p>
            <a:endParaRPr dirty="0"/>
          </a:p>
          <a:p>
            <a:r>
              <a:rPr dirty="0"/>
              <a:t>DETAIL / Q&amp;A:</a:t>
            </a:r>
          </a:p>
          <a:p>
            <a:r>
              <a:rPr dirty="0"/>
              <a:t>Thank the advisor, committee, collaborators by project, and the data, computing and funding sources. Then open for questions.</a:t>
            </a:r>
          </a:p>
        </p:txBody>
      </p:sp>
      <p:sp>
        <p:nvSpPr>
          <p:cNvPr id="740" name="Google Shape;740;p3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p5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83" name="Google Shape;883;p5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B02. Local message passing has distinct information limits</a:t>
            </a:r>
          </a:p>
          <a:p>
            <a:endParaRPr/>
          </a:p>
          <a:p>
            <a:r>
              <a:t>Backup. Message passing and its limits (Dissertation Fig. 1.2): a local update aggregates neighbors; distant domains need many hops; over-squashing compresses many signals into a fixed-size vector; over-smoothing erases contrast after repeated mixing.</a:t>
            </a:r>
          </a:p>
        </p:txBody>
      </p:sp>
      <p:sp>
        <p:nvSpPr>
          <p:cNvPr id="884" name="Google Shape;884;p5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p5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8" name="Google Shape;948;p5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B03. Sequence, graph and attention updates mix different inputs</a:t>
            </a:r>
          </a:p>
          <a:p>
            <a:endParaRPr/>
          </a:p>
          <a:p>
            <a:r>
              <a:t>Backup. Three token-update rules (Fig. 1.3 a–c): sequence-local windows, graph neighbors, and self-attention over all unmasked tokens.</a:t>
            </a:r>
          </a:p>
        </p:txBody>
      </p:sp>
      <p:sp>
        <p:nvSpPr>
          <p:cNvPr id="949" name="Google Shape;949;p5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p5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11" name="Google Shape;1011;p5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B04. Hierarchy changes the representation, not the MD resolution</a:t>
            </a:r>
          </a:p>
          <a:p>
            <a:endParaRPr/>
          </a:p>
          <a:p>
            <a:r>
              <a:t>Backup. Two hierarchical constructions (Fig. 1.3 d–e). SubFormer pools atoms into chemical fragments before attention; the token-merging module exchanges information over spatial residue contacts and then merges sequence windows. Both reduce the number of tokens for global attention; the MD resolution is unchanged.</a:t>
            </a:r>
          </a:p>
        </p:txBody>
      </p:sp>
      <p:sp>
        <p:nvSpPr>
          <p:cNvPr id="1012" name="Google Shape;1012;p5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p5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9" name="Google Shape;849;p5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B05. The kinetic score uses centered empirical covariances</a:t>
            </a:r>
          </a:p>
          <a:p>
            <a:endParaRPr/>
          </a:p>
          <a:p>
            <a:r>
              <a:t>Backup. VAMP-2 estimator. Features are centered by their empirical means over the lagged pairs, and the covariances are computed from pairs within each trajectory. When one trajectory is removed for the leave-one-out contribution, the means and all covariances are recomputed with χ held fixed.</a:t>
            </a:r>
          </a:p>
        </p:txBody>
      </p:sp>
      <p:sp>
        <p:nvSpPr>
          <p:cNvPr id="850" name="Google Shape;850;p5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p5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5" name="Google Shape;865;p5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B06. GESPO settings for the two production campaigns</a:t>
            </a:r>
          </a:p>
          <a:p>
            <a:endParaRPr/>
          </a:p>
          <a:p>
            <a:r>
              <a:t>Backup. Settings for the two production campaigns, from the reproducibility tables in the appendix. Use if asked about budgets, policy size or GRPO coefficients.</a:t>
            </a:r>
          </a:p>
        </p:txBody>
      </p:sp>
      <p:sp>
        <p:nvSpPr>
          <p:cNvPr id="866" name="Google Shape;866;p5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40a1acaee85_0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8" name="Google Shape;398;g40a1acaee85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B07. Analogy: RL post-training of a language model (DeepSeek-R1)</a:t>
            </a:r>
          </a:p>
          <a:p>
            <a:endParaRPr/>
          </a:p>
          <a:p>
            <a:r>
              <a:t>Backup, use only if asked where the idea comes from. DeepSeek-R1 applies GRPO to a pretrained language model: sample a group of answers, score them, and update toward the relatively better ones. GESPO borrows this update rule. The model, the data and the reward are different: the policy proposes initial conformations, and the reward comes from unbiased MD.</a:t>
            </a:r>
          </a:p>
        </p:txBody>
      </p:sp>
      <p:sp>
        <p:nvSpPr>
          <p:cNvPr id="399" name="Google Shape;399;g40a1acaee85_0_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4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0" name="Google Shape;780;p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B08. Launch-policy torsion marginals for ten Trp-cage residues</a:t>
            </a:r>
          </a:p>
          <a:p>
            <a:endParaRPr/>
          </a:p>
          <a:p>
            <a:r>
              <a:t>Backup. Policy torsion marginals for ten Trp-cage residues at epochs 0, 3 and 6. The marginals broaden rather than contract; several residues gain density at φ &gt; 0 or toward ψ = ±π.</a:t>
            </a:r>
          </a:p>
        </p:txBody>
      </p:sp>
      <p:sp>
        <p:nvSpPr>
          <p:cNvPr id="781" name="Google Shape;781;p4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p4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7" name="Google Shape;757;p4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B09. Alanine dipeptide: basins and committors from 0.8 ns</a:t>
            </a:r>
          </a:p>
          <a:p>
            <a:endParaRPr/>
          </a:p>
          <a:p>
            <a:r>
              <a:t>Backup. Alanine dipeptide control: 0.8 ns of 2 ps trajectories recover the β, αR and αL basins and give committors whose organization matches the reference. No single trajectory contains a basin-to-basin transition; basin weights differ from the reference, as expected for adaptive data.</a:t>
            </a:r>
          </a:p>
        </p:txBody>
      </p:sp>
      <p:sp>
        <p:nvSpPr>
          <p:cNvPr id="758" name="Google Shape;758;p4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p4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1" name="Google Shape;791;p4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B10. The Trp-cage committor varies smoothly across coordinates</a:t>
            </a:r>
          </a:p>
          <a:p>
            <a:endParaRPr/>
          </a:p>
          <a:p>
            <a:r>
              <a:t>Backup. The DGA unfolded-to-folded committor on pairwise projections of the Trp-cage GESPO data; it varies smoothly across helix-sensitive coordinates.</a:t>
            </a:r>
          </a:p>
        </p:txBody>
      </p:sp>
      <p:sp>
        <p:nvSpPr>
          <p:cNvPr id="792" name="Google Shape;792;p4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p4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2" name="Google Shape;802;p4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B11. The 208 μs reference and GESPO share one topography</a:t>
            </a:r>
          </a:p>
          <a:p>
            <a:endParaRPr/>
          </a:p>
          <a:p>
            <a:r>
              <a:t>Backup. The 208.8 μs Anton trajectory (CHARMM22*, 290 K) and the GESPO data (CHARMM36, 300 K) projected on the same coordinates show the same topography. Different force fields and temperatures, so the agreement reflects the folding landscape; the GESPO maps are sampling densities.</a:t>
            </a:r>
          </a:p>
        </p:txBody>
      </p:sp>
      <p:sp>
        <p:nvSpPr>
          <p:cNvPr id="803" name="Google Shape;803;p4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p5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7" name="Google Shape;827;p5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B12. OpenFold3 sample spread is set by the MSA depth</a:t>
            </a:r>
          </a:p>
          <a:p>
            <a:endParaRPr/>
          </a:p>
          <a:p>
            <a:r>
              <a:t>Backup. OpenFold3 at MSA depths 4, 8, 16 and 256. The spread of samples is set by the MSA depth, an inference setting, and collapses to the bound pose by depth 16.</a:t>
            </a:r>
          </a:p>
        </p:txBody>
      </p:sp>
      <p:sp>
        <p:nvSpPr>
          <p:cNvPr id="828" name="Google Shape;828;p5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5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5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5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6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6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6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6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6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6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6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6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6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6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6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6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6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6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6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6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6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6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6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6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6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6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6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67"/>
          <p:cNvSpPr>
            <a:spLocks noGrp="1"/>
          </p:cNvSpPr>
          <p:nvPr>
            <p:ph type="pic" idx="2"/>
          </p:nvPr>
        </p:nvSpPr>
        <p:spPr>
          <a:xfrm>
            <a:off x="1792288" y="612775"/>
            <a:ext cx="5486400" cy="4114800"/>
          </a:xfrm>
          <a:prstGeom prst="rect">
            <a:avLst/>
          </a:prstGeom>
          <a:noFill/>
          <a:ln>
            <a:noFill/>
          </a:ln>
        </p:spPr>
      </p:sp>
      <p:sp>
        <p:nvSpPr>
          <p:cNvPr id="64" name="Google Shape;64;p6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6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6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6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6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6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6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6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5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5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5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5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4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4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4"/>
        <p:cNvGrpSpPr/>
        <p:nvPr/>
      </p:nvGrpSpPr>
      <p:grpSpPr>
        <a:xfrm>
          <a:off x="0" y="0"/>
          <a:ext cx="0" cy="0"/>
          <a:chOff x="0" y="0"/>
          <a:chExt cx="0" cy="0"/>
        </a:xfrm>
      </p:grpSpPr>
      <p:sp>
        <p:nvSpPr>
          <p:cNvPr id="85" name="Google Shape;85;p1"/>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THESIS DEFENSE</a:t>
            </a:r>
            <a:endParaRPr/>
          </a:p>
        </p:txBody>
      </p:sp>
      <p:sp>
        <p:nvSpPr>
          <p:cNvPr id="86" name="Google Shape;86;p1"/>
          <p:cNvSpPr txBox="1"/>
          <p:nvPr/>
        </p:nvSpPr>
        <p:spPr>
          <a:xfrm>
            <a:off x="502920" y="868680"/>
            <a:ext cx="11119104" cy="141732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3300" b="1" i="0" u="none" strike="noStrike" cap="none">
                <a:solidFill>
                  <a:srgbClr val="21252B"/>
                </a:solidFill>
                <a:latin typeface="Arial"/>
                <a:ea typeface="Arial"/>
                <a:cs typeface="Arial"/>
                <a:sym typeface="Arial"/>
              </a:rPr>
              <a:t>Representation and Reinforcement Learning</a:t>
            </a:r>
            <a:endParaRPr/>
          </a:p>
          <a:p>
            <a:pPr marL="0" marR="0" lvl="0" indent="0" algn="l" rtl="0">
              <a:lnSpc>
                <a:spcPct val="108000"/>
              </a:lnSpc>
              <a:spcBef>
                <a:spcPts val="300"/>
              </a:spcBef>
              <a:spcAft>
                <a:spcPts val="0"/>
              </a:spcAft>
              <a:buNone/>
            </a:pPr>
            <a:r>
              <a:rPr lang="en-US" sz="3300" b="1" i="0" u="none" strike="noStrike" cap="none">
                <a:solidFill>
                  <a:srgbClr val="21252B"/>
                </a:solidFill>
                <a:latin typeface="Arial"/>
                <a:ea typeface="Arial"/>
                <a:cs typeface="Arial"/>
                <a:sym typeface="Arial"/>
              </a:rPr>
              <a:t>for Molecular Dynamics</a:t>
            </a:r>
            <a:endParaRPr/>
          </a:p>
        </p:txBody>
      </p:sp>
      <p:cxnSp>
        <p:nvCxnSpPr>
          <p:cNvPr id="87" name="Google Shape;87;p1"/>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88" name="Google Shape;88;p1"/>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Zihan Pengmei · Department of Chemistry · The University of Chicago</a:t>
            </a:r>
            <a:endParaRPr/>
          </a:p>
        </p:txBody>
      </p:sp>
      <p:sp>
        <p:nvSpPr>
          <p:cNvPr id="89" name="Google Shape;89;p1"/>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01 / 37</a:t>
            </a:r>
            <a:endParaRPr/>
          </a:p>
        </p:txBody>
      </p:sp>
      <p:sp>
        <p:nvSpPr>
          <p:cNvPr id="90" name="Google Shape;90;p1"/>
          <p:cNvSpPr txBox="1"/>
          <p:nvPr/>
        </p:nvSpPr>
        <p:spPr>
          <a:xfrm>
            <a:off x="548640" y="2825496"/>
            <a:ext cx="5212080" cy="42062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600" b="1" i="0" u="none" strike="noStrike" cap="none" dirty="0">
                <a:solidFill>
                  <a:srgbClr val="800000"/>
                </a:solidFill>
                <a:latin typeface="Arial"/>
                <a:ea typeface="Arial"/>
                <a:cs typeface="Arial"/>
                <a:sym typeface="Arial"/>
              </a:rPr>
              <a:t>Zihan Pengmei</a:t>
            </a:r>
            <a:endParaRPr dirty="0"/>
          </a:p>
        </p:txBody>
      </p:sp>
      <p:sp>
        <p:nvSpPr>
          <p:cNvPr id="91" name="Google Shape;91;p1"/>
          <p:cNvSpPr txBox="1"/>
          <p:nvPr/>
        </p:nvSpPr>
        <p:spPr>
          <a:xfrm>
            <a:off x="557784" y="3346704"/>
            <a:ext cx="4572000" cy="82296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100" b="0" i="0" u="none" strike="noStrike" cap="none">
                <a:solidFill>
                  <a:srgbClr val="21252B"/>
                </a:solidFill>
                <a:latin typeface="Arial"/>
                <a:ea typeface="Arial"/>
                <a:cs typeface="Arial"/>
                <a:sym typeface="Arial"/>
              </a:rPr>
              <a:t>Department of Chemistry</a:t>
            </a:r>
            <a:endParaRPr/>
          </a:p>
          <a:p>
            <a:pPr marL="0" marR="0" lvl="0" indent="0" algn="l" rtl="0">
              <a:lnSpc>
                <a:spcPct val="108000"/>
              </a:lnSpc>
              <a:spcBef>
                <a:spcPts val="300"/>
              </a:spcBef>
              <a:spcAft>
                <a:spcPts val="0"/>
              </a:spcAft>
              <a:buNone/>
            </a:pPr>
            <a:r>
              <a:rPr lang="en-US" sz="2100" b="0" i="0" u="none" strike="noStrike" cap="none">
                <a:solidFill>
                  <a:srgbClr val="21252B"/>
                </a:solidFill>
                <a:latin typeface="Arial"/>
                <a:ea typeface="Arial"/>
                <a:cs typeface="Arial"/>
                <a:sym typeface="Arial"/>
              </a:rPr>
              <a:t>The University of Chicago</a:t>
            </a:r>
            <a:endParaRPr/>
          </a:p>
        </p:txBody>
      </p:sp>
      <p:sp>
        <p:nvSpPr>
          <p:cNvPr id="92" name="Google Shape;92;p1"/>
          <p:cNvSpPr txBox="1"/>
          <p:nvPr/>
        </p:nvSpPr>
        <p:spPr>
          <a:xfrm>
            <a:off x="557784" y="4443984"/>
            <a:ext cx="4754880" cy="40233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000" b="0" i="0" u="none" strike="noStrike" cap="none">
                <a:solidFill>
                  <a:srgbClr val="59616B"/>
                </a:solidFill>
                <a:latin typeface="Arial"/>
                <a:ea typeface="Arial"/>
                <a:cs typeface="Arial"/>
                <a:sym typeface="Arial"/>
              </a:rPr>
              <a:t>Advisor: Aaron R. Dinner</a:t>
            </a:r>
            <a:endParaRPr/>
          </a:p>
        </p:txBody>
      </p:sp>
      <p:sp>
        <p:nvSpPr>
          <p:cNvPr id="93" name="Google Shape;93;p1"/>
          <p:cNvSpPr txBox="1"/>
          <p:nvPr/>
        </p:nvSpPr>
        <p:spPr>
          <a:xfrm>
            <a:off x="557784" y="5713227"/>
            <a:ext cx="10607100" cy="3693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000" b="1">
                <a:solidFill>
                  <a:srgbClr val="245D68"/>
                </a:solidFill>
              </a:rPr>
              <a:t>What to represent, and where to simulate, in molecular dynamics</a:t>
            </a:r>
            <a:endParaRPr/>
          </a:p>
        </p:txBody>
      </p:sp>
      <p:pic>
        <p:nvPicPr>
          <p:cNvPr id="94" name="Google Shape;94;p1" title="Screenshot 2026-09-18 at 11.45.35 AM.png"/>
          <p:cNvPicPr preferRelativeResize="0"/>
          <p:nvPr/>
        </p:nvPicPr>
        <p:blipFill>
          <a:blip r:embed="rId3">
            <a:alphaModFix/>
          </a:blip>
          <a:stretch>
            <a:fillRect/>
          </a:stretch>
        </p:blipFill>
        <p:spPr>
          <a:xfrm>
            <a:off x="5568534" y="2606040"/>
            <a:ext cx="5696712" cy="1719595"/>
          </a:xfrm>
          <a:prstGeom prst="rect">
            <a:avLst/>
          </a:prstGeom>
          <a:noFill/>
          <a:ln>
            <a:noFill/>
          </a:ln>
        </p:spPr>
      </p:pic>
      <p:sp>
        <p:nvSpPr>
          <p:cNvPr id="5001" name="Text 5001"/>
          <p:cNvSpPr txBox="1"/>
          <p:nvPr/>
        </p:nvSpPr>
        <p:spPr>
          <a:xfrm>
            <a:off x="5736509" y="4451485"/>
            <a:ext cx="1828800" cy="256032"/>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200" b="0" i="0" u="none" strike="noStrike" cap="none">
                <a:solidFill>
                  <a:srgbClr val="59616B"/>
                </a:solidFill>
                <a:latin typeface="Arial"/>
                <a:ea typeface="Arial"/>
                <a:cs typeface="Arial"/>
                <a:sym typeface="Arial"/>
              </a:rPr>
              <a:t>Alanine dipeptide</a:t>
            </a:r>
          </a:p>
        </p:txBody>
      </p:sp>
      <p:sp>
        <p:nvSpPr>
          <p:cNvPr id="5002" name="Text 5002"/>
          <p:cNvSpPr txBox="1"/>
          <p:nvPr/>
        </p:nvSpPr>
        <p:spPr>
          <a:xfrm>
            <a:off x="7730358" y="4451485"/>
            <a:ext cx="1828800" cy="256032"/>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200" b="0" i="0" u="none" strike="noStrike" cap="none">
                <a:solidFill>
                  <a:srgbClr val="59616B"/>
                </a:solidFill>
                <a:latin typeface="Arial"/>
                <a:ea typeface="Arial"/>
                <a:cs typeface="Arial"/>
                <a:sym typeface="Arial"/>
              </a:rPr>
              <a:t>Trp-cage</a:t>
            </a:r>
          </a:p>
        </p:txBody>
      </p:sp>
      <p:sp>
        <p:nvSpPr>
          <p:cNvPr id="5003" name="Text 5003"/>
          <p:cNvSpPr txBox="1"/>
          <p:nvPr/>
        </p:nvSpPr>
        <p:spPr>
          <a:xfrm>
            <a:off x="9524823" y="4451485"/>
            <a:ext cx="1828800" cy="256032"/>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200" b="0" i="0" u="none" strike="noStrike" cap="none">
                <a:solidFill>
                  <a:srgbClr val="59616B"/>
                </a:solidFill>
                <a:latin typeface="Arial"/>
                <a:ea typeface="Arial"/>
                <a:cs typeface="Arial"/>
                <a:sym typeface="Arial"/>
              </a:rPr>
              <a:t>Trypsin–benzamidine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9"/>
        <p:cNvGrpSpPr/>
        <p:nvPr/>
      </p:nvGrpSpPr>
      <p:grpSpPr>
        <a:xfrm>
          <a:off x="0" y="0"/>
          <a:ext cx="0" cy="0"/>
          <a:chOff x="0" y="0"/>
          <a:chExt cx="0" cy="0"/>
        </a:xfrm>
      </p:grpSpPr>
      <p:sp>
        <p:nvSpPr>
          <p:cNvPr id="100" name="Google Shape;100;p2"/>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THE MD QUESTION</a:t>
            </a:r>
            <a:endParaRPr/>
          </a:p>
        </p:txBody>
      </p:sp>
      <p:sp>
        <p:nvSpPr>
          <p:cNvPr id="101" name="Google Shape;101;p2"/>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A binding pose does not reveal a binding mechanism</a:t>
            </a:r>
            <a:endParaRPr/>
          </a:p>
        </p:txBody>
      </p:sp>
      <p:cxnSp>
        <p:nvCxnSpPr>
          <p:cNvPr id="102" name="Google Shape;102;p2"/>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103" name="Google Shape;103;p2"/>
          <p:cNvSpPr txBox="1"/>
          <p:nvPr/>
        </p:nvSpPr>
        <p:spPr>
          <a:xfrm>
            <a:off x="530352" y="6519672"/>
            <a:ext cx="9692700" cy="1260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Trypsin–benzamidine structures; S1/S1* binding modes as defined by Plattner &amp; Noé, Nat. Commun. 6, 2015</a:t>
            </a:r>
            <a:endParaRPr/>
          </a:p>
        </p:txBody>
      </p:sp>
      <p:sp>
        <p:nvSpPr>
          <p:cNvPr id="104" name="Google Shape;104;p2"/>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02 / 37</a:t>
            </a:r>
            <a:endParaRPr/>
          </a:p>
        </p:txBody>
      </p:sp>
      <p:sp>
        <p:nvSpPr>
          <p:cNvPr id="106" name="Google Shape;106;p2"/>
          <p:cNvSpPr txBox="1"/>
          <p:nvPr/>
        </p:nvSpPr>
        <p:spPr>
          <a:xfrm>
            <a:off x="8229600" y="1682496"/>
            <a:ext cx="2971800" cy="32918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000" b="1" i="0" u="none" strike="noStrike" cap="none">
                <a:solidFill>
                  <a:srgbClr val="245D68"/>
                </a:solidFill>
                <a:latin typeface="Arial"/>
                <a:ea typeface="Arial"/>
                <a:cs typeface="Arial"/>
                <a:sym typeface="Arial"/>
              </a:rPr>
              <a:t>Route</a:t>
            </a:r>
            <a:endParaRPr/>
          </a:p>
        </p:txBody>
      </p:sp>
      <p:sp>
        <p:nvSpPr>
          <p:cNvPr id="107" name="Google Shape;107;p2"/>
          <p:cNvSpPr txBox="1"/>
          <p:nvPr/>
        </p:nvSpPr>
        <p:spPr>
          <a:xfrm>
            <a:off x="8229600" y="2112264"/>
            <a:ext cx="2971800" cy="100584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900" b="0" i="0" u="none" strike="noStrike" cap="none">
                <a:solidFill>
                  <a:srgbClr val="21252B"/>
                </a:solidFill>
                <a:latin typeface="Arial"/>
                <a:ea typeface="Arial"/>
                <a:cs typeface="Arial"/>
                <a:sym typeface="Arial"/>
              </a:rPr>
              <a:t>How does the ligand enter or leave?</a:t>
            </a:r>
            <a:endParaRPr/>
          </a:p>
        </p:txBody>
      </p:sp>
      <p:sp>
        <p:nvSpPr>
          <p:cNvPr id="108" name="Google Shape;108;p2"/>
          <p:cNvSpPr txBox="1"/>
          <p:nvPr/>
        </p:nvSpPr>
        <p:spPr>
          <a:xfrm>
            <a:off x="8229600" y="2990088"/>
            <a:ext cx="2971800" cy="32918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000" b="1" i="0" u="none" strike="noStrike" cap="none">
                <a:solidFill>
                  <a:srgbClr val="245D68"/>
                </a:solidFill>
                <a:latin typeface="Arial"/>
                <a:ea typeface="Arial"/>
                <a:cs typeface="Arial"/>
                <a:sym typeface="Arial"/>
              </a:rPr>
              <a:t>Receptor motion</a:t>
            </a:r>
            <a:endParaRPr/>
          </a:p>
        </p:txBody>
      </p:sp>
      <p:sp>
        <p:nvSpPr>
          <p:cNvPr id="109" name="Google Shape;109;p2"/>
          <p:cNvSpPr txBox="1"/>
          <p:nvPr/>
        </p:nvSpPr>
        <p:spPr>
          <a:xfrm>
            <a:off x="8229600" y="3419856"/>
            <a:ext cx="2971800" cy="100584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900" b="0" i="0" u="none" strike="noStrike" cap="none">
                <a:solidFill>
                  <a:srgbClr val="21252B"/>
                </a:solidFill>
                <a:latin typeface="Arial"/>
                <a:ea typeface="Arial"/>
                <a:cs typeface="Arial"/>
                <a:sym typeface="Arial"/>
              </a:rPr>
              <a:t>What changes in the binding pocket?</a:t>
            </a:r>
            <a:endParaRPr/>
          </a:p>
        </p:txBody>
      </p:sp>
      <p:sp>
        <p:nvSpPr>
          <p:cNvPr id="110" name="Google Shape;110;p2"/>
          <p:cNvSpPr txBox="1"/>
          <p:nvPr/>
        </p:nvSpPr>
        <p:spPr>
          <a:xfrm>
            <a:off x="8229600" y="4297680"/>
            <a:ext cx="2971800" cy="32918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000" b="1" i="0" u="none" strike="noStrike" cap="none">
                <a:solidFill>
                  <a:srgbClr val="245D68"/>
                </a:solidFill>
                <a:latin typeface="Arial"/>
                <a:ea typeface="Arial"/>
                <a:cs typeface="Arial"/>
                <a:sym typeface="Arial"/>
              </a:rPr>
              <a:t>Ordering</a:t>
            </a:r>
            <a:endParaRPr/>
          </a:p>
        </p:txBody>
      </p:sp>
      <p:sp>
        <p:nvSpPr>
          <p:cNvPr id="111" name="Google Shape;111;p2"/>
          <p:cNvSpPr txBox="1"/>
          <p:nvPr/>
        </p:nvSpPr>
        <p:spPr>
          <a:xfrm>
            <a:off x="8229600" y="4727448"/>
            <a:ext cx="2971800" cy="100584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900" b="0" i="0" u="none" strike="noStrike" cap="none">
                <a:solidFill>
                  <a:srgbClr val="21252B"/>
                </a:solidFill>
                <a:latin typeface="Arial"/>
                <a:ea typeface="Arial"/>
                <a:cs typeface="Arial"/>
                <a:sym typeface="Arial"/>
              </a:rPr>
              <a:t>Which change occurs first?</a:t>
            </a:r>
            <a:endParaRPr/>
          </a:p>
        </p:txBody>
      </p:sp>
      <p:sp>
        <p:nvSpPr>
          <p:cNvPr id="112" name="Google Shape;112;p2"/>
          <p:cNvSpPr/>
          <p:nvPr/>
        </p:nvSpPr>
        <p:spPr>
          <a:xfrm>
            <a:off x="502920" y="5971032"/>
            <a:ext cx="11155680" cy="356616"/>
          </a:xfrm>
          <a:prstGeom prst="rect">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3" name="Google Shape;113;p2"/>
          <p:cNvSpPr txBox="1"/>
          <p:nvPr/>
        </p:nvSpPr>
        <p:spPr>
          <a:xfrm>
            <a:off x="658368" y="6016752"/>
            <a:ext cx="10844784" cy="29918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800" b="1" i="0" u="none" strike="noStrike" cap="none" dirty="0">
                <a:solidFill>
                  <a:srgbClr val="245D68"/>
                </a:solidFill>
                <a:latin typeface="Arial"/>
                <a:ea typeface="Arial"/>
                <a:cs typeface="Arial"/>
                <a:sym typeface="Arial"/>
              </a:rPr>
              <a:t>The target is the dynamics connecting these conformations</a:t>
            </a:r>
            <a:endParaRPr dirty="0"/>
          </a:p>
        </p:txBody>
      </p:sp>
      <p:pic>
        <p:nvPicPr>
          <p:cNvPr id="114" name="Google Shape;114;p2" title="Screenshot 2026-09-18 at 11.45.35 AM.png"/>
          <p:cNvPicPr preferRelativeResize="0"/>
          <p:nvPr/>
        </p:nvPicPr>
        <p:blipFill>
          <a:blip r:embed="rId3">
            <a:alphaModFix/>
          </a:blip>
          <a:stretch>
            <a:fillRect/>
          </a:stretch>
        </p:blipFill>
        <p:spPr>
          <a:xfrm>
            <a:off x="1028937" y="1420550"/>
            <a:ext cx="6409476" cy="3928700"/>
          </a:xfrm>
          <a:prstGeom prst="rect">
            <a:avLst/>
          </a:prstGeom>
          <a:noFill/>
          <a:ln>
            <a:noFill/>
          </a:ln>
        </p:spPr>
      </p:pic>
      <p:sp>
        <p:nvSpPr>
          <p:cNvPr id="5004" name="Text 5004"/>
          <p:cNvSpPr txBox="1"/>
          <p:nvPr/>
        </p:nvSpPr>
        <p:spPr>
          <a:xfrm>
            <a:off x="704088" y="5422392"/>
            <a:ext cx="75895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1" i="0" u="none" strike="noStrike" cap="none">
                <a:solidFill>
                  <a:srgbClr val="3E8E41"/>
                </a:solidFill>
                <a:latin typeface="Arial"/>
                <a:ea typeface="Arial"/>
                <a:cs typeface="Arial"/>
                <a:sym typeface="Arial"/>
              </a:rPr>
              <a:t>S1</a:t>
            </a:r>
            <a:r>
              <a:rPr lang="en-US" sz="1300" b="0" i="0" u="none" strike="noStrike" cap="none">
                <a:solidFill>
                  <a:srgbClr val="21252B"/>
                </a:solidFill>
                <a:latin typeface="Arial"/>
                <a:ea typeface="Arial"/>
                <a:cs typeface="Arial"/>
                <a:sym typeface="Arial"/>
              </a:rPr>
              <a:t>  native mode, Trp215 loop closed</a:t>
            </a:r>
            <a:r>
              <a:rPr lang="en-US" sz="1300" b="1" i="0" u="none" strike="noStrike" cap="none">
                <a:solidFill>
                  <a:srgbClr val="6A3D9A"/>
                </a:solidFill>
                <a:latin typeface="Arial"/>
                <a:ea typeface="Arial"/>
                <a:cs typeface="Arial"/>
                <a:sym typeface="Arial"/>
              </a:rPr>
              <a:t>        S1*</a:t>
            </a:r>
            <a:r>
              <a:rPr lang="en-US" sz="1300" b="0" i="0" u="none" strike="noStrike" cap="none">
                <a:solidFill>
                  <a:srgbClr val="21252B"/>
                </a:solidFill>
                <a:latin typeface="Arial"/>
                <a:ea typeface="Arial"/>
                <a:cs typeface="Arial"/>
                <a:sym typeface="Arial"/>
              </a:rPr>
              <a:t>  alternative mode, Trp215 loop open</a:t>
            </a:r>
          </a:p>
          <a:p>
            <a:pPr marL="0" marR="0" lvl="0" indent="0" algn="l" rtl="0">
              <a:lnSpc>
                <a:spcPct val="108000"/>
              </a:lnSpc>
              <a:spcBef>
                <a:spcPts val="200"/>
              </a:spcBef>
              <a:spcAft>
                <a:spcPts val="0"/>
              </a:spcAft>
              <a:buNone/>
            </a:pPr>
            <a:r>
              <a:rPr lang="en-US" sz="1050" b="0" i="0" u="none" strike="noStrike" cap="none">
                <a:solidFill>
                  <a:srgbClr val="59616B"/>
                </a:solidFill>
                <a:latin typeface="Arial"/>
                <a:ea typeface="Arial"/>
                <a:cs typeface="Arial"/>
                <a:sym typeface="Arial"/>
              </a:rPr>
              <a:t>Trp215 loop orange · Asp189 loop yellow · Asp189 side chain red · Asp189–benzamidine salt bridge dashed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9"/>
        <p:cNvGrpSpPr/>
        <p:nvPr/>
      </p:nvGrpSpPr>
      <p:grpSpPr>
        <a:xfrm>
          <a:off x="0" y="0"/>
          <a:ext cx="0" cy="0"/>
          <a:chOff x="0" y="0"/>
          <a:chExt cx="0" cy="0"/>
        </a:xfrm>
      </p:grpSpPr>
      <p:sp>
        <p:nvSpPr>
          <p:cNvPr id="120" name="Google Shape;120;p3"/>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TIME-ORDERED EVIDENCE</a:t>
            </a:r>
            <a:endParaRPr/>
          </a:p>
        </p:txBody>
      </p:sp>
      <p:sp>
        <p:nvSpPr>
          <p:cNvPr id="121" name="Google Shape;121;p3"/>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Structures show where; MD shows how and how fast</a:t>
            </a:r>
            <a:endParaRPr/>
          </a:p>
        </p:txBody>
      </p:sp>
      <p:cxnSp>
        <p:nvCxnSpPr>
          <p:cNvPr id="122" name="Google Shape;122;p3"/>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123" name="Google Shape;123;p3"/>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Toy 2D model, overdamped Langevin dynamics (kT = 1). Ensemble difference and rates from 200 independent trajectories per landscape.</a:t>
            </a:r>
            <a:endParaRPr/>
          </a:p>
        </p:txBody>
      </p:sp>
      <p:sp>
        <p:nvSpPr>
          <p:cNvPr id="124" name="Google Shape;124;p3"/>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03 / 37</a:t>
            </a:r>
            <a:endParaRPr/>
          </a:p>
        </p:txBody>
      </p:sp>
      <p:sp>
        <p:nvSpPr>
          <p:cNvPr id="5001" name="Text 5001"/>
          <p:cNvSpPr txBox="1"/>
          <p:nvPr/>
        </p:nvSpPr>
        <p:spPr>
          <a:xfrm>
            <a:off x="502920" y="1618488"/>
            <a:ext cx="3474720" cy="292608"/>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700" b="1" i="0" u="none" strike="noStrike" cap="none">
                <a:solidFill>
                  <a:srgbClr val="800000"/>
                </a:solidFill>
                <a:latin typeface="Arial"/>
                <a:ea typeface="Arial"/>
                <a:cs typeface="Arial"/>
                <a:sym typeface="Arial"/>
              </a:rPr>
              <a:t>Independent structures</a:t>
            </a:r>
          </a:p>
        </p:txBody>
      </p:sp>
      <p:sp>
        <p:nvSpPr>
          <p:cNvPr id="5002" name="Text 5002"/>
          <p:cNvSpPr txBox="1"/>
          <p:nvPr/>
        </p:nvSpPr>
        <p:spPr>
          <a:xfrm>
            <a:off x="502920" y="1929384"/>
            <a:ext cx="3474720" cy="256032"/>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300" b="0" i="0" u="none" strike="noStrike" cap="none" dirty="0">
                <a:solidFill>
                  <a:srgbClr val="59616B"/>
                </a:solidFill>
                <a:latin typeface="Arial"/>
                <a:ea typeface="Arial"/>
                <a:cs typeface="Arial"/>
                <a:sym typeface="Arial"/>
              </a:rPr>
              <a:t>Where the states are</a:t>
            </a:r>
          </a:p>
        </p:txBody>
      </p:sp>
      <p:pic>
        <p:nvPicPr>
          <p:cNvPr id="5003" name="a_structures.png" descr="Independent Boltzmann samples: dense in basins A and B, sparse between them"/>
          <p:cNvPicPr>
            <a:picLocks noChangeAspect="1"/>
          </p:cNvPicPr>
          <p:nvPr/>
        </p:nvPicPr>
        <p:blipFill>
          <a:blip r:embed="rId3"/>
          <a:stretch>
            <a:fillRect/>
          </a:stretch>
        </p:blipFill>
        <p:spPr>
          <a:xfrm>
            <a:off x="868680" y="2240280"/>
            <a:ext cx="2743200" cy="2743200"/>
          </a:xfrm>
          <a:prstGeom prst="rect">
            <a:avLst/>
          </a:prstGeom>
        </p:spPr>
      </p:pic>
      <p:sp>
        <p:nvSpPr>
          <p:cNvPr id="5004" name="Text 5004"/>
          <p:cNvSpPr txBox="1"/>
          <p:nvPr/>
        </p:nvSpPr>
        <p:spPr>
          <a:xfrm>
            <a:off x="4361688" y="1618488"/>
            <a:ext cx="3474720" cy="292608"/>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700" b="1" i="0" u="none" strike="noStrike" cap="none">
                <a:solidFill>
                  <a:srgbClr val="245D68"/>
                </a:solidFill>
                <a:latin typeface="Arial"/>
                <a:ea typeface="Arial"/>
                <a:cs typeface="Arial"/>
                <a:sym typeface="Arial"/>
              </a:rPr>
              <a:t>MD on landscape 1</a:t>
            </a:r>
          </a:p>
        </p:txBody>
      </p:sp>
      <p:sp>
        <p:nvSpPr>
          <p:cNvPr id="5005" name="Text 5005"/>
          <p:cNvSpPr txBox="1"/>
          <p:nvPr/>
        </p:nvSpPr>
        <p:spPr>
          <a:xfrm>
            <a:off x="4361688" y="1929384"/>
            <a:ext cx="3474720" cy="256032"/>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300" b="0" i="0" u="none" strike="noStrike" cap="none" dirty="0">
                <a:solidFill>
                  <a:srgbClr val="59616B"/>
                </a:solidFill>
                <a:latin typeface="Arial"/>
                <a:ea typeface="Arial"/>
                <a:cs typeface="Arial"/>
                <a:sym typeface="Arial"/>
              </a:rPr>
              <a:t>How and how often they connect</a:t>
            </a:r>
          </a:p>
        </p:txBody>
      </p:sp>
      <p:pic>
        <p:nvPicPr>
          <p:cNvPr id="5006" name="b_md.png" descr="Langevin trajectory on landscape 1; transition paths highlighted cross the lower route"/>
          <p:cNvPicPr>
            <a:picLocks noChangeAspect="1"/>
          </p:cNvPicPr>
          <p:nvPr/>
        </p:nvPicPr>
        <p:blipFill>
          <a:blip r:embed="rId4"/>
          <a:stretch>
            <a:fillRect/>
          </a:stretch>
        </p:blipFill>
        <p:spPr>
          <a:xfrm>
            <a:off x="4727448" y="2240280"/>
            <a:ext cx="2743200" cy="2743200"/>
          </a:xfrm>
          <a:prstGeom prst="rect">
            <a:avLst/>
          </a:prstGeom>
        </p:spPr>
      </p:pic>
      <p:sp>
        <p:nvSpPr>
          <p:cNvPr id="5007" name="Text 5007"/>
          <p:cNvSpPr txBox="1"/>
          <p:nvPr/>
        </p:nvSpPr>
        <p:spPr>
          <a:xfrm>
            <a:off x="8220456" y="1618488"/>
            <a:ext cx="3474720" cy="292608"/>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700" b="1" i="0" u="none" strike="noStrike" cap="none">
                <a:solidFill>
                  <a:srgbClr val="245D68"/>
                </a:solidFill>
                <a:latin typeface="Arial"/>
                <a:ea typeface="Arial"/>
                <a:cs typeface="Arial"/>
                <a:sym typeface="Arial"/>
              </a:rPr>
              <a:t>MD on landscape 2</a:t>
            </a:r>
          </a:p>
        </p:txBody>
      </p:sp>
      <p:sp>
        <p:nvSpPr>
          <p:cNvPr id="5008" name="Text 5008"/>
          <p:cNvSpPr txBox="1"/>
          <p:nvPr/>
        </p:nvSpPr>
        <p:spPr>
          <a:xfrm>
            <a:off x="8220456" y="1929384"/>
            <a:ext cx="3474720" cy="256032"/>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300" b="0" i="0" u="none" strike="noStrike" cap="none" dirty="0">
                <a:solidFill>
                  <a:srgbClr val="59616B"/>
                </a:solidFill>
                <a:latin typeface="Arial"/>
                <a:ea typeface="Arial"/>
                <a:cs typeface="Arial"/>
                <a:sym typeface="Arial"/>
              </a:rPr>
              <a:t>With one thin barrier</a:t>
            </a:r>
          </a:p>
        </p:txBody>
      </p:sp>
      <p:pic>
        <p:nvPicPr>
          <p:cNvPr id="5009" name="c_md.png" descr="Langevin trajectory on landscape 2 with a thin barrier on the lower route; transitions go over the top"/>
          <p:cNvPicPr>
            <a:picLocks noChangeAspect="1"/>
          </p:cNvPicPr>
          <p:nvPr/>
        </p:nvPicPr>
        <p:blipFill>
          <a:blip r:embed="rId5"/>
          <a:stretch>
            <a:fillRect/>
          </a:stretch>
        </p:blipFill>
        <p:spPr>
          <a:xfrm>
            <a:off x="8586216" y="2240280"/>
            <a:ext cx="2743200" cy="2743200"/>
          </a:xfrm>
          <a:prstGeom prst="rect">
            <a:avLst/>
          </a:prstGeom>
        </p:spPr>
      </p:pic>
      <p:sp>
        <p:nvSpPr>
          <p:cNvPr id="5010" name="Text 5010"/>
          <p:cNvSpPr txBox="1"/>
          <p:nvPr/>
        </p:nvSpPr>
        <p:spPr>
          <a:xfrm>
            <a:off x="685800" y="5093208"/>
            <a:ext cx="3108960" cy="82296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300" b="1" i="0" u="none" strike="noStrike" cap="none">
                <a:solidFill>
                  <a:srgbClr val="21252B"/>
                </a:solidFill>
                <a:latin typeface="Arial"/>
                <a:ea typeface="Arial"/>
                <a:cs typeface="Arial"/>
                <a:sym typeface="Arial"/>
              </a:rPr>
              <a:t>Identical for both landscapes</a:t>
            </a:r>
          </a:p>
          <a:p>
            <a:pPr marL="0" marR="0" lvl="0" indent="0" algn="ctr" rtl="0">
              <a:lnSpc>
                <a:spcPct val="108000"/>
              </a:lnSpc>
              <a:spcBef>
                <a:spcPts val="300"/>
              </a:spcBef>
              <a:spcAft>
                <a:spcPts val="0"/>
              </a:spcAft>
              <a:buNone/>
            </a:pPr>
            <a:r>
              <a:rPr lang="en-US" sz="1200" b="0" i="0" u="none" strike="noStrike" cap="none">
                <a:solidFill>
                  <a:srgbClr val="59616B"/>
                </a:solidFill>
                <a:latin typeface="Arial"/>
                <a:ea typeface="Arial"/>
                <a:cs typeface="Arial"/>
                <a:sym typeface="Arial"/>
              </a:rPr>
              <a:t>The two ensembles differ by less than 1%, and few samples fall between the basins.</a:t>
            </a:r>
          </a:p>
        </p:txBody>
      </p:sp>
      <p:pic>
        <p:nvPicPr>
          <p:cNvPr id="5011" name="b_strip.png" descr="State (A or B) versus time for the trajectory above"/>
          <p:cNvPicPr>
            <a:picLocks noChangeAspect="1"/>
          </p:cNvPicPr>
          <p:nvPr/>
        </p:nvPicPr>
        <p:blipFill>
          <a:blip r:embed="rId6"/>
          <a:stretch>
            <a:fillRect/>
          </a:stretch>
        </p:blipFill>
        <p:spPr>
          <a:xfrm>
            <a:off x="4544568" y="4983480"/>
            <a:ext cx="3108960" cy="566928"/>
          </a:xfrm>
          <a:prstGeom prst="rect">
            <a:avLst/>
          </a:prstGeom>
        </p:spPr>
      </p:pic>
      <p:sp>
        <p:nvSpPr>
          <p:cNvPr id="5012" name="Text 5012"/>
          <p:cNvSpPr txBox="1"/>
          <p:nvPr/>
        </p:nvSpPr>
        <p:spPr>
          <a:xfrm>
            <a:off x="4361688" y="5605272"/>
            <a:ext cx="3474720" cy="237744"/>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200" b="1" i="0" u="none" strike="noStrike" cap="none" dirty="0">
                <a:solidFill>
                  <a:srgbClr val="21252B"/>
                </a:solidFill>
                <a:latin typeface="Arial"/>
                <a:ea typeface="Arial"/>
                <a:cs typeface="Arial"/>
                <a:sym typeface="Arial"/>
              </a:rPr>
              <a:t>Mostly the lower route</a:t>
            </a:r>
            <a:endParaRPr lang="en-US" sz="1200" b="0" i="0" u="none" strike="noStrike" cap="none" dirty="0">
              <a:solidFill>
                <a:srgbClr val="59616B"/>
              </a:solidFill>
              <a:latin typeface="Arial"/>
              <a:ea typeface="Arial"/>
              <a:cs typeface="Arial"/>
              <a:sym typeface="Arial"/>
            </a:endParaRPr>
          </a:p>
        </p:txBody>
      </p:sp>
      <p:pic>
        <p:nvPicPr>
          <p:cNvPr id="5013" name="c_strip.png" descr="State (A or B) versus time for the trajectory above"/>
          <p:cNvPicPr>
            <a:picLocks noChangeAspect="1"/>
          </p:cNvPicPr>
          <p:nvPr/>
        </p:nvPicPr>
        <p:blipFill>
          <a:blip r:embed="rId7"/>
          <a:stretch>
            <a:fillRect/>
          </a:stretch>
        </p:blipFill>
        <p:spPr>
          <a:xfrm>
            <a:off x="8403336" y="4983480"/>
            <a:ext cx="3108960" cy="566928"/>
          </a:xfrm>
          <a:prstGeom prst="rect">
            <a:avLst/>
          </a:prstGeom>
        </p:spPr>
      </p:pic>
      <p:sp>
        <p:nvSpPr>
          <p:cNvPr id="5014" name="Text 5014"/>
          <p:cNvSpPr txBox="1"/>
          <p:nvPr/>
        </p:nvSpPr>
        <p:spPr>
          <a:xfrm>
            <a:off x="8220456" y="5605272"/>
            <a:ext cx="3474720" cy="237744"/>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200" b="1" i="0" u="none" strike="noStrike" cap="none" dirty="0">
                <a:solidFill>
                  <a:srgbClr val="21252B"/>
                </a:solidFill>
                <a:latin typeface="Arial"/>
                <a:ea typeface="Arial"/>
                <a:cs typeface="Arial"/>
                <a:sym typeface="Arial"/>
              </a:rPr>
              <a:t>Rerouted over the top, </a:t>
            </a:r>
            <a:r>
              <a:rPr lang="en-US" sz="1200" b="0" i="0" u="none" strike="noStrike" cap="none" dirty="0">
                <a:solidFill>
                  <a:srgbClr val="59616B"/>
                </a:solidFill>
                <a:latin typeface="Arial"/>
                <a:ea typeface="Arial"/>
                <a:cs typeface="Arial"/>
                <a:sym typeface="Arial"/>
              </a:rPr>
              <a:t> fewer transitions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04"/>
                                        </p:tgtEl>
                                        <p:attrNameLst>
                                          <p:attrName>style.visibility</p:attrName>
                                        </p:attrNameLst>
                                      </p:cBhvr>
                                      <p:to>
                                        <p:strVal val="visible"/>
                                      </p:to>
                                    </p:set>
                                    <p:animEffect transition="in" filter="fade">
                                      <p:cBhvr>
                                        <p:cTn id="7" dur="400"/>
                                        <p:tgtEl>
                                          <p:spTgt spid="5004"/>
                                        </p:tgtEl>
                                      </p:cBhvr>
                                    </p:animEffect>
                                  </p:childTnLst>
                                </p:cTn>
                              </p:par>
                              <p:par>
                                <p:cTn id="8" presetID="10" presetClass="entr" presetSubtype="0" fill="hold" nodeType="withEffect">
                                  <p:stCondLst>
                                    <p:cond delay="0"/>
                                  </p:stCondLst>
                                  <p:childTnLst>
                                    <p:set>
                                      <p:cBhvr>
                                        <p:cTn id="9" dur="1" fill="hold">
                                          <p:stCondLst>
                                            <p:cond delay="0"/>
                                          </p:stCondLst>
                                        </p:cTn>
                                        <p:tgtEl>
                                          <p:spTgt spid="5005"/>
                                        </p:tgtEl>
                                        <p:attrNameLst>
                                          <p:attrName>style.visibility</p:attrName>
                                        </p:attrNameLst>
                                      </p:cBhvr>
                                      <p:to>
                                        <p:strVal val="visible"/>
                                      </p:to>
                                    </p:set>
                                    <p:animEffect transition="in" filter="fade">
                                      <p:cBhvr>
                                        <p:cTn id="10" dur="400"/>
                                        <p:tgtEl>
                                          <p:spTgt spid="5005"/>
                                        </p:tgtEl>
                                      </p:cBhvr>
                                    </p:animEffect>
                                  </p:childTnLst>
                                </p:cTn>
                              </p:par>
                              <p:par>
                                <p:cTn id="11" presetID="10" presetClass="entr" presetSubtype="0" fill="hold" nodeType="withEffect">
                                  <p:stCondLst>
                                    <p:cond delay="0"/>
                                  </p:stCondLst>
                                  <p:childTnLst>
                                    <p:set>
                                      <p:cBhvr>
                                        <p:cTn id="12" dur="1" fill="hold">
                                          <p:stCondLst>
                                            <p:cond delay="0"/>
                                          </p:stCondLst>
                                        </p:cTn>
                                        <p:tgtEl>
                                          <p:spTgt spid="5006"/>
                                        </p:tgtEl>
                                        <p:attrNameLst>
                                          <p:attrName>style.visibility</p:attrName>
                                        </p:attrNameLst>
                                      </p:cBhvr>
                                      <p:to>
                                        <p:strVal val="visible"/>
                                      </p:to>
                                    </p:set>
                                    <p:animEffect transition="in" filter="fade">
                                      <p:cBhvr>
                                        <p:cTn id="13" dur="400"/>
                                        <p:tgtEl>
                                          <p:spTgt spid="5006"/>
                                        </p:tgtEl>
                                      </p:cBhvr>
                                    </p:animEffect>
                                  </p:childTnLst>
                                </p:cTn>
                              </p:par>
                              <p:par>
                                <p:cTn id="14" presetID="10" presetClass="entr" presetSubtype="0" fill="hold" nodeType="withEffect">
                                  <p:stCondLst>
                                    <p:cond delay="0"/>
                                  </p:stCondLst>
                                  <p:childTnLst>
                                    <p:set>
                                      <p:cBhvr>
                                        <p:cTn id="15" dur="1" fill="hold">
                                          <p:stCondLst>
                                            <p:cond delay="0"/>
                                          </p:stCondLst>
                                        </p:cTn>
                                        <p:tgtEl>
                                          <p:spTgt spid="5011"/>
                                        </p:tgtEl>
                                        <p:attrNameLst>
                                          <p:attrName>style.visibility</p:attrName>
                                        </p:attrNameLst>
                                      </p:cBhvr>
                                      <p:to>
                                        <p:strVal val="visible"/>
                                      </p:to>
                                    </p:set>
                                    <p:animEffect transition="in" filter="fade">
                                      <p:cBhvr>
                                        <p:cTn id="16" dur="400"/>
                                        <p:tgtEl>
                                          <p:spTgt spid="5011"/>
                                        </p:tgtEl>
                                      </p:cBhvr>
                                    </p:animEffect>
                                  </p:childTnLst>
                                </p:cTn>
                              </p:par>
                              <p:par>
                                <p:cTn id="17" presetID="10" presetClass="entr" presetSubtype="0" fill="hold" nodeType="withEffect">
                                  <p:stCondLst>
                                    <p:cond delay="0"/>
                                  </p:stCondLst>
                                  <p:childTnLst>
                                    <p:set>
                                      <p:cBhvr>
                                        <p:cTn id="18" dur="1" fill="hold">
                                          <p:stCondLst>
                                            <p:cond delay="0"/>
                                          </p:stCondLst>
                                        </p:cTn>
                                        <p:tgtEl>
                                          <p:spTgt spid="5012"/>
                                        </p:tgtEl>
                                        <p:attrNameLst>
                                          <p:attrName>style.visibility</p:attrName>
                                        </p:attrNameLst>
                                      </p:cBhvr>
                                      <p:to>
                                        <p:strVal val="visible"/>
                                      </p:to>
                                    </p:set>
                                    <p:animEffect transition="in" filter="fade">
                                      <p:cBhvr>
                                        <p:cTn id="19" dur="400"/>
                                        <p:tgtEl>
                                          <p:spTgt spid="501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5007"/>
                                        </p:tgtEl>
                                        <p:attrNameLst>
                                          <p:attrName>style.visibility</p:attrName>
                                        </p:attrNameLst>
                                      </p:cBhvr>
                                      <p:to>
                                        <p:strVal val="visible"/>
                                      </p:to>
                                    </p:set>
                                    <p:animEffect transition="in" filter="fade">
                                      <p:cBhvr>
                                        <p:cTn id="24" dur="400"/>
                                        <p:tgtEl>
                                          <p:spTgt spid="5007"/>
                                        </p:tgtEl>
                                      </p:cBhvr>
                                    </p:animEffect>
                                  </p:childTnLst>
                                </p:cTn>
                              </p:par>
                              <p:par>
                                <p:cTn id="25" presetID="10" presetClass="entr" presetSubtype="0" fill="hold" nodeType="withEffect">
                                  <p:stCondLst>
                                    <p:cond delay="0"/>
                                  </p:stCondLst>
                                  <p:childTnLst>
                                    <p:set>
                                      <p:cBhvr>
                                        <p:cTn id="26" dur="1" fill="hold">
                                          <p:stCondLst>
                                            <p:cond delay="0"/>
                                          </p:stCondLst>
                                        </p:cTn>
                                        <p:tgtEl>
                                          <p:spTgt spid="5008"/>
                                        </p:tgtEl>
                                        <p:attrNameLst>
                                          <p:attrName>style.visibility</p:attrName>
                                        </p:attrNameLst>
                                      </p:cBhvr>
                                      <p:to>
                                        <p:strVal val="visible"/>
                                      </p:to>
                                    </p:set>
                                    <p:animEffect transition="in" filter="fade">
                                      <p:cBhvr>
                                        <p:cTn id="27" dur="400"/>
                                        <p:tgtEl>
                                          <p:spTgt spid="5008"/>
                                        </p:tgtEl>
                                      </p:cBhvr>
                                    </p:animEffect>
                                  </p:childTnLst>
                                </p:cTn>
                              </p:par>
                              <p:par>
                                <p:cTn id="28" presetID="10" presetClass="entr" presetSubtype="0" fill="hold" nodeType="withEffect">
                                  <p:stCondLst>
                                    <p:cond delay="0"/>
                                  </p:stCondLst>
                                  <p:childTnLst>
                                    <p:set>
                                      <p:cBhvr>
                                        <p:cTn id="29" dur="1" fill="hold">
                                          <p:stCondLst>
                                            <p:cond delay="0"/>
                                          </p:stCondLst>
                                        </p:cTn>
                                        <p:tgtEl>
                                          <p:spTgt spid="5009"/>
                                        </p:tgtEl>
                                        <p:attrNameLst>
                                          <p:attrName>style.visibility</p:attrName>
                                        </p:attrNameLst>
                                      </p:cBhvr>
                                      <p:to>
                                        <p:strVal val="visible"/>
                                      </p:to>
                                    </p:set>
                                    <p:animEffect transition="in" filter="fade">
                                      <p:cBhvr>
                                        <p:cTn id="30" dur="400"/>
                                        <p:tgtEl>
                                          <p:spTgt spid="5009"/>
                                        </p:tgtEl>
                                      </p:cBhvr>
                                    </p:animEffect>
                                  </p:childTnLst>
                                </p:cTn>
                              </p:par>
                              <p:par>
                                <p:cTn id="31" presetID="10" presetClass="entr" presetSubtype="0" fill="hold" nodeType="withEffect">
                                  <p:stCondLst>
                                    <p:cond delay="0"/>
                                  </p:stCondLst>
                                  <p:childTnLst>
                                    <p:set>
                                      <p:cBhvr>
                                        <p:cTn id="32" dur="1" fill="hold">
                                          <p:stCondLst>
                                            <p:cond delay="0"/>
                                          </p:stCondLst>
                                        </p:cTn>
                                        <p:tgtEl>
                                          <p:spTgt spid="5013"/>
                                        </p:tgtEl>
                                        <p:attrNameLst>
                                          <p:attrName>style.visibility</p:attrName>
                                        </p:attrNameLst>
                                      </p:cBhvr>
                                      <p:to>
                                        <p:strVal val="visible"/>
                                      </p:to>
                                    </p:set>
                                    <p:animEffect transition="in" filter="fade">
                                      <p:cBhvr>
                                        <p:cTn id="33" dur="400"/>
                                        <p:tgtEl>
                                          <p:spTgt spid="5013"/>
                                        </p:tgtEl>
                                      </p:cBhvr>
                                    </p:animEffect>
                                  </p:childTnLst>
                                </p:cTn>
                              </p:par>
                              <p:par>
                                <p:cTn id="34" presetID="10" presetClass="entr" presetSubtype="0" fill="hold" nodeType="withEffect">
                                  <p:stCondLst>
                                    <p:cond delay="0"/>
                                  </p:stCondLst>
                                  <p:childTnLst>
                                    <p:set>
                                      <p:cBhvr>
                                        <p:cTn id="35" dur="1" fill="hold">
                                          <p:stCondLst>
                                            <p:cond delay="0"/>
                                          </p:stCondLst>
                                        </p:cTn>
                                        <p:tgtEl>
                                          <p:spTgt spid="5014"/>
                                        </p:tgtEl>
                                        <p:attrNameLst>
                                          <p:attrName>style.visibility</p:attrName>
                                        </p:attrNameLst>
                                      </p:cBhvr>
                                      <p:to>
                                        <p:strVal val="visible"/>
                                      </p:to>
                                    </p:set>
                                    <p:animEffect transition="in" filter="fade">
                                      <p:cBhvr>
                                        <p:cTn id="36" dur="400"/>
                                        <p:tgtEl>
                                          <p:spTgt spid="50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4"/>
        <p:cNvGrpSpPr/>
        <p:nvPr/>
      </p:nvGrpSpPr>
      <p:grpSpPr>
        <a:xfrm>
          <a:off x="0" y="0"/>
          <a:ext cx="0" cy="0"/>
          <a:chOff x="0" y="0"/>
          <a:chExt cx="0" cy="0"/>
        </a:xfrm>
      </p:grpSpPr>
      <p:sp>
        <p:nvSpPr>
          <p:cNvPr id="165" name="Google Shape;165;p4"/>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THE THESIS PROBLEM</a:t>
            </a:r>
            <a:endParaRPr/>
          </a:p>
        </p:txBody>
      </p:sp>
      <p:sp>
        <p:nvSpPr>
          <p:cNvPr id="166" name="Google Shape;166;p4"/>
          <p:cNvSpPr txBox="1"/>
          <p:nvPr/>
        </p:nvSpPr>
        <p:spPr>
          <a:xfrm>
            <a:off x="502920" y="658368"/>
            <a:ext cx="11119200" cy="4542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Two bottlenecks </a:t>
            </a:r>
            <a:r>
              <a:rPr lang="en-US" sz="2950" b="1">
                <a:solidFill>
                  <a:srgbClr val="21252B"/>
                </a:solidFill>
              </a:rPr>
              <a:t>of MD</a:t>
            </a:r>
            <a:endParaRPr/>
          </a:p>
        </p:txBody>
      </p:sp>
      <p:cxnSp>
        <p:nvCxnSpPr>
          <p:cNvPr id="167" name="Google Shape;167;p4"/>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168" name="Google Shape;168;p4"/>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Dissertation Ch. 1, Fig. 1.1</a:t>
            </a:r>
            <a:endParaRPr/>
          </a:p>
        </p:txBody>
      </p:sp>
      <p:sp>
        <p:nvSpPr>
          <p:cNvPr id="169" name="Google Shape;169;p4"/>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04 / 37</a:t>
            </a:r>
            <a:endParaRPr/>
          </a:p>
        </p:txBody>
      </p:sp>
      <p:sp>
        <p:nvSpPr>
          <p:cNvPr id="170" name="Google Shape;170;p4"/>
          <p:cNvSpPr txBox="1"/>
          <p:nvPr/>
        </p:nvSpPr>
        <p:spPr>
          <a:xfrm>
            <a:off x="658368" y="1499616"/>
            <a:ext cx="4892040" cy="38404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300" b="1" i="0" u="none" strike="noStrike" cap="none">
                <a:solidFill>
                  <a:srgbClr val="800000"/>
                </a:solidFill>
                <a:latin typeface="Arial"/>
                <a:ea typeface="Arial"/>
                <a:cs typeface="Arial"/>
                <a:sym typeface="Arial"/>
              </a:rPr>
              <a:t>Representation</a:t>
            </a:r>
            <a:endParaRPr/>
          </a:p>
        </p:txBody>
      </p:sp>
      <p:sp>
        <p:nvSpPr>
          <p:cNvPr id="171" name="Google Shape;171;p4"/>
          <p:cNvSpPr txBox="1"/>
          <p:nvPr/>
        </p:nvSpPr>
        <p:spPr>
          <a:xfrm>
            <a:off x="6473952" y="1499616"/>
            <a:ext cx="4892040" cy="38404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300" b="1" i="0" u="none" strike="noStrike" cap="none">
                <a:solidFill>
                  <a:srgbClr val="245D68"/>
                </a:solidFill>
                <a:latin typeface="Arial"/>
                <a:ea typeface="Arial"/>
                <a:cs typeface="Arial"/>
                <a:sym typeface="Arial"/>
              </a:rPr>
              <a:t>Sampling</a:t>
            </a:r>
            <a:endParaRPr/>
          </a:p>
        </p:txBody>
      </p:sp>
      <p:cxnSp>
        <p:nvCxnSpPr>
          <p:cNvPr id="172" name="Google Shape;172;p4"/>
          <p:cNvCxnSpPr/>
          <p:nvPr/>
        </p:nvCxnSpPr>
        <p:spPr>
          <a:xfrm>
            <a:off x="6080760" y="1645920"/>
            <a:ext cx="0" cy="3959352"/>
          </a:xfrm>
          <a:prstGeom prst="straightConnector1">
            <a:avLst/>
          </a:prstGeom>
          <a:noFill/>
          <a:ln w="12700" cap="flat" cmpd="sng">
            <a:solidFill>
              <a:srgbClr val="CFD5DC"/>
            </a:solidFill>
            <a:prstDash val="solid"/>
            <a:round/>
            <a:headEnd type="none" w="sm" len="sm"/>
            <a:tailEnd type="none" w="sm" len="sm"/>
          </a:ln>
        </p:spPr>
      </p:cxnSp>
      <p:cxnSp>
        <p:nvCxnSpPr>
          <p:cNvPr id="173" name="Google Shape;173;p4"/>
          <p:cNvCxnSpPr/>
          <p:nvPr/>
        </p:nvCxnSpPr>
        <p:spPr>
          <a:xfrm>
            <a:off x="1188720" y="4315968"/>
            <a:ext cx="4160520" cy="0"/>
          </a:xfrm>
          <a:prstGeom prst="straightConnector1">
            <a:avLst/>
          </a:prstGeom>
          <a:noFill/>
          <a:ln w="15225" cap="flat" cmpd="sng">
            <a:solidFill>
              <a:srgbClr val="59616B"/>
            </a:solidFill>
            <a:prstDash val="solid"/>
            <a:round/>
            <a:headEnd type="none" w="sm" len="sm"/>
            <a:tailEnd type="triangle" w="sm" len="sm"/>
          </a:ln>
        </p:spPr>
      </p:cxnSp>
      <p:cxnSp>
        <p:nvCxnSpPr>
          <p:cNvPr id="174" name="Google Shape;174;p4"/>
          <p:cNvCxnSpPr/>
          <p:nvPr/>
        </p:nvCxnSpPr>
        <p:spPr>
          <a:xfrm rot="10800000">
            <a:off x="1188720" y="2112264"/>
            <a:ext cx="0" cy="2203704"/>
          </a:xfrm>
          <a:prstGeom prst="straightConnector1">
            <a:avLst/>
          </a:prstGeom>
          <a:noFill/>
          <a:ln w="15225" cap="flat" cmpd="sng">
            <a:solidFill>
              <a:srgbClr val="59616B"/>
            </a:solidFill>
            <a:prstDash val="solid"/>
            <a:round/>
            <a:headEnd type="none" w="sm" len="sm"/>
            <a:tailEnd type="triangle" w="sm" len="sm"/>
          </a:ln>
        </p:spPr>
      </p:cxnSp>
      <p:sp>
        <p:nvSpPr>
          <p:cNvPr id="175" name="Google Shape;175;p4"/>
          <p:cNvSpPr txBox="1"/>
          <p:nvPr/>
        </p:nvSpPr>
        <p:spPr>
          <a:xfrm>
            <a:off x="2231136" y="4453128"/>
            <a:ext cx="2606040" cy="292608"/>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600" b="0" i="0" u="none" strike="noStrike" cap="none">
                <a:solidFill>
                  <a:srgbClr val="59616B"/>
                </a:solidFill>
                <a:latin typeface="Arial"/>
                <a:ea typeface="Arial"/>
                <a:cs typeface="Arial"/>
                <a:sym typeface="Arial"/>
              </a:rPr>
              <a:t>slow coordinate</a:t>
            </a:r>
            <a:endParaRPr/>
          </a:p>
        </p:txBody>
      </p:sp>
      <p:sp>
        <p:nvSpPr>
          <p:cNvPr id="176" name="Google Shape;176;p4"/>
          <p:cNvSpPr txBox="1"/>
          <p:nvPr/>
        </p:nvSpPr>
        <p:spPr>
          <a:xfrm>
            <a:off x="1298448" y="1993392"/>
            <a:ext cx="2377440" cy="27432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400" b="0" i="0" u="none" strike="noStrike" cap="none">
                <a:solidFill>
                  <a:srgbClr val="59616B"/>
                </a:solidFill>
                <a:latin typeface="Arial"/>
                <a:ea typeface="Arial"/>
                <a:cs typeface="Arial"/>
                <a:sym typeface="Arial"/>
              </a:rPr>
              <a:t>fast coordinate</a:t>
            </a:r>
            <a:endParaRPr/>
          </a:p>
        </p:txBody>
      </p:sp>
      <p:sp>
        <p:nvSpPr>
          <p:cNvPr id="177" name="Google Shape;177;p4"/>
          <p:cNvSpPr/>
          <p:nvPr/>
        </p:nvSpPr>
        <p:spPr>
          <a:xfrm>
            <a:off x="2066543" y="2459736"/>
            <a:ext cx="713232" cy="1517904"/>
          </a:xfrm>
          <a:prstGeom prst="ellipse">
            <a:avLst/>
          </a:prstGeom>
          <a:solidFill>
            <a:srgbClr val="F6EEEE"/>
          </a:solidFill>
          <a:ln w="10150" cap="flat" cmpd="sng">
            <a:solidFill>
              <a:srgbClr val="8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178" name="Google Shape;178;p4"/>
          <p:cNvCxnSpPr/>
          <p:nvPr/>
        </p:nvCxnSpPr>
        <p:spPr>
          <a:xfrm>
            <a:off x="1188720" y="2679192"/>
            <a:ext cx="1307592" cy="0"/>
          </a:xfrm>
          <a:prstGeom prst="straightConnector1">
            <a:avLst/>
          </a:prstGeom>
          <a:noFill/>
          <a:ln w="9525" cap="flat" cmpd="sng">
            <a:solidFill>
              <a:srgbClr val="CFD5DC"/>
            </a:solidFill>
            <a:prstDash val="dash"/>
            <a:round/>
            <a:headEnd type="none" w="sm" len="sm"/>
            <a:tailEnd type="none" w="sm" len="sm"/>
          </a:ln>
        </p:spPr>
      </p:cxnSp>
      <p:sp>
        <p:nvSpPr>
          <p:cNvPr id="179" name="Google Shape;179;p4"/>
          <p:cNvSpPr/>
          <p:nvPr/>
        </p:nvSpPr>
        <p:spPr>
          <a:xfrm>
            <a:off x="2455164" y="2638044"/>
            <a:ext cx="82296" cy="82296"/>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0" name="Google Shape;180;p4"/>
          <p:cNvSpPr/>
          <p:nvPr/>
        </p:nvSpPr>
        <p:spPr>
          <a:xfrm>
            <a:off x="1124712" y="2642616"/>
            <a:ext cx="73152" cy="73152"/>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181" name="Google Shape;181;p4"/>
          <p:cNvCxnSpPr/>
          <p:nvPr/>
        </p:nvCxnSpPr>
        <p:spPr>
          <a:xfrm>
            <a:off x="1188720" y="2880360"/>
            <a:ext cx="1115568" cy="0"/>
          </a:xfrm>
          <a:prstGeom prst="straightConnector1">
            <a:avLst/>
          </a:prstGeom>
          <a:noFill/>
          <a:ln w="9525" cap="flat" cmpd="sng">
            <a:solidFill>
              <a:srgbClr val="CFD5DC"/>
            </a:solidFill>
            <a:prstDash val="dash"/>
            <a:round/>
            <a:headEnd type="none" w="sm" len="sm"/>
            <a:tailEnd type="none" w="sm" len="sm"/>
          </a:ln>
        </p:spPr>
      </p:cxnSp>
      <p:sp>
        <p:nvSpPr>
          <p:cNvPr id="182" name="Google Shape;182;p4"/>
          <p:cNvSpPr/>
          <p:nvPr/>
        </p:nvSpPr>
        <p:spPr>
          <a:xfrm>
            <a:off x="2263140" y="2839212"/>
            <a:ext cx="82296" cy="82296"/>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3" name="Google Shape;183;p4"/>
          <p:cNvSpPr/>
          <p:nvPr/>
        </p:nvSpPr>
        <p:spPr>
          <a:xfrm>
            <a:off x="1124712" y="2843784"/>
            <a:ext cx="73152" cy="73152"/>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184" name="Google Shape;184;p4"/>
          <p:cNvCxnSpPr/>
          <p:nvPr/>
        </p:nvCxnSpPr>
        <p:spPr>
          <a:xfrm>
            <a:off x="1188720" y="3081528"/>
            <a:ext cx="1325880" cy="0"/>
          </a:xfrm>
          <a:prstGeom prst="straightConnector1">
            <a:avLst/>
          </a:prstGeom>
          <a:noFill/>
          <a:ln w="9525" cap="flat" cmpd="sng">
            <a:solidFill>
              <a:srgbClr val="CFD5DC"/>
            </a:solidFill>
            <a:prstDash val="dash"/>
            <a:round/>
            <a:headEnd type="none" w="sm" len="sm"/>
            <a:tailEnd type="none" w="sm" len="sm"/>
          </a:ln>
        </p:spPr>
      </p:cxnSp>
      <p:sp>
        <p:nvSpPr>
          <p:cNvPr id="185" name="Google Shape;185;p4"/>
          <p:cNvSpPr/>
          <p:nvPr/>
        </p:nvSpPr>
        <p:spPr>
          <a:xfrm>
            <a:off x="2473452" y="3040380"/>
            <a:ext cx="82296" cy="82296"/>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4"/>
          <p:cNvSpPr/>
          <p:nvPr/>
        </p:nvSpPr>
        <p:spPr>
          <a:xfrm>
            <a:off x="1124712" y="3044952"/>
            <a:ext cx="73152" cy="73152"/>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187" name="Google Shape;187;p4"/>
          <p:cNvCxnSpPr/>
          <p:nvPr/>
        </p:nvCxnSpPr>
        <p:spPr>
          <a:xfrm>
            <a:off x="1188720" y="3282696"/>
            <a:ext cx="1161288" cy="0"/>
          </a:xfrm>
          <a:prstGeom prst="straightConnector1">
            <a:avLst/>
          </a:prstGeom>
          <a:noFill/>
          <a:ln w="9525" cap="flat" cmpd="sng">
            <a:solidFill>
              <a:srgbClr val="CFD5DC"/>
            </a:solidFill>
            <a:prstDash val="dash"/>
            <a:round/>
            <a:headEnd type="none" w="sm" len="sm"/>
            <a:tailEnd type="none" w="sm" len="sm"/>
          </a:ln>
        </p:spPr>
      </p:cxnSp>
      <p:sp>
        <p:nvSpPr>
          <p:cNvPr id="188" name="Google Shape;188;p4"/>
          <p:cNvSpPr/>
          <p:nvPr/>
        </p:nvSpPr>
        <p:spPr>
          <a:xfrm>
            <a:off x="2308860" y="3241548"/>
            <a:ext cx="82296" cy="82296"/>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9" name="Google Shape;189;p4"/>
          <p:cNvSpPr/>
          <p:nvPr/>
        </p:nvSpPr>
        <p:spPr>
          <a:xfrm>
            <a:off x="1124712" y="3246120"/>
            <a:ext cx="73152" cy="73152"/>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190" name="Google Shape;190;p4"/>
          <p:cNvCxnSpPr/>
          <p:nvPr/>
        </p:nvCxnSpPr>
        <p:spPr>
          <a:xfrm>
            <a:off x="1188720" y="3483864"/>
            <a:ext cx="1344168" cy="0"/>
          </a:xfrm>
          <a:prstGeom prst="straightConnector1">
            <a:avLst/>
          </a:prstGeom>
          <a:noFill/>
          <a:ln w="9525" cap="flat" cmpd="sng">
            <a:solidFill>
              <a:srgbClr val="CFD5DC"/>
            </a:solidFill>
            <a:prstDash val="dash"/>
            <a:round/>
            <a:headEnd type="none" w="sm" len="sm"/>
            <a:tailEnd type="none" w="sm" len="sm"/>
          </a:ln>
        </p:spPr>
      </p:cxnSp>
      <p:sp>
        <p:nvSpPr>
          <p:cNvPr id="191" name="Google Shape;191;p4"/>
          <p:cNvSpPr/>
          <p:nvPr/>
        </p:nvSpPr>
        <p:spPr>
          <a:xfrm>
            <a:off x="2491740" y="3442716"/>
            <a:ext cx="82296" cy="82296"/>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2" name="Google Shape;192;p4"/>
          <p:cNvSpPr/>
          <p:nvPr/>
        </p:nvSpPr>
        <p:spPr>
          <a:xfrm>
            <a:off x="1124712" y="3447288"/>
            <a:ext cx="73152" cy="73152"/>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193" name="Google Shape;193;p4"/>
          <p:cNvCxnSpPr/>
          <p:nvPr/>
        </p:nvCxnSpPr>
        <p:spPr>
          <a:xfrm>
            <a:off x="1188720" y="3685032"/>
            <a:ext cx="1179576" cy="0"/>
          </a:xfrm>
          <a:prstGeom prst="straightConnector1">
            <a:avLst/>
          </a:prstGeom>
          <a:noFill/>
          <a:ln w="9525" cap="flat" cmpd="sng">
            <a:solidFill>
              <a:srgbClr val="CFD5DC"/>
            </a:solidFill>
            <a:prstDash val="dash"/>
            <a:round/>
            <a:headEnd type="none" w="sm" len="sm"/>
            <a:tailEnd type="none" w="sm" len="sm"/>
          </a:ln>
        </p:spPr>
      </p:cxnSp>
      <p:sp>
        <p:nvSpPr>
          <p:cNvPr id="194" name="Google Shape;194;p4"/>
          <p:cNvSpPr/>
          <p:nvPr/>
        </p:nvSpPr>
        <p:spPr>
          <a:xfrm>
            <a:off x="2327148" y="3643884"/>
            <a:ext cx="82296" cy="82296"/>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5" name="Google Shape;195;p4"/>
          <p:cNvSpPr/>
          <p:nvPr/>
        </p:nvSpPr>
        <p:spPr>
          <a:xfrm>
            <a:off x="1124712" y="3648456"/>
            <a:ext cx="73152" cy="73152"/>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6" name="Google Shape;196;p4"/>
          <p:cNvSpPr/>
          <p:nvPr/>
        </p:nvSpPr>
        <p:spPr>
          <a:xfrm>
            <a:off x="3950208" y="2459736"/>
            <a:ext cx="713232" cy="1517904"/>
          </a:xfrm>
          <a:prstGeom prst="ellipse">
            <a:avLst/>
          </a:prstGeom>
          <a:solidFill>
            <a:srgbClr val="EFF5F6"/>
          </a:solidFill>
          <a:ln w="10150" cap="flat" cmpd="sng">
            <a:solidFill>
              <a:srgbClr val="245D6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197" name="Google Shape;197;p4"/>
          <p:cNvCxnSpPr/>
          <p:nvPr/>
        </p:nvCxnSpPr>
        <p:spPr>
          <a:xfrm>
            <a:off x="1188720" y="2679192"/>
            <a:ext cx="3191256" cy="0"/>
          </a:xfrm>
          <a:prstGeom prst="straightConnector1">
            <a:avLst/>
          </a:prstGeom>
          <a:noFill/>
          <a:ln w="9525" cap="flat" cmpd="sng">
            <a:solidFill>
              <a:srgbClr val="CFD5DC"/>
            </a:solidFill>
            <a:prstDash val="dash"/>
            <a:round/>
            <a:headEnd type="none" w="sm" len="sm"/>
            <a:tailEnd type="none" w="sm" len="sm"/>
          </a:ln>
        </p:spPr>
      </p:cxnSp>
      <p:sp>
        <p:nvSpPr>
          <p:cNvPr id="198" name="Google Shape;198;p4"/>
          <p:cNvSpPr/>
          <p:nvPr/>
        </p:nvSpPr>
        <p:spPr>
          <a:xfrm>
            <a:off x="4338828" y="2638044"/>
            <a:ext cx="82296" cy="82296"/>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9" name="Google Shape;199;p4"/>
          <p:cNvSpPr/>
          <p:nvPr/>
        </p:nvSpPr>
        <p:spPr>
          <a:xfrm>
            <a:off x="1188720" y="2642616"/>
            <a:ext cx="73152" cy="73152"/>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200" name="Google Shape;200;p4"/>
          <p:cNvCxnSpPr/>
          <p:nvPr/>
        </p:nvCxnSpPr>
        <p:spPr>
          <a:xfrm>
            <a:off x="1188720" y="2880360"/>
            <a:ext cx="2999232" cy="0"/>
          </a:xfrm>
          <a:prstGeom prst="straightConnector1">
            <a:avLst/>
          </a:prstGeom>
          <a:noFill/>
          <a:ln w="9525" cap="flat" cmpd="sng">
            <a:solidFill>
              <a:srgbClr val="CFD5DC"/>
            </a:solidFill>
            <a:prstDash val="dash"/>
            <a:round/>
            <a:headEnd type="none" w="sm" len="sm"/>
            <a:tailEnd type="none" w="sm" len="sm"/>
          </a:ln>
        </p:spPr>
      </p:cxnSp>
      <p:sp>
        <p:nvSpPr>
          <p:cNvPr id="201" name="Google Shape;201;p4"/>
          <p:cNvSpPr/>
          <p:nvPr/>
        </p:nvSpPr>
        <p:spPr>
          <a:xfrm>
            <a:off x="4146804" y="2839212"/>
            <a:ext cx="82296" cy="82296"/>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2" name="Google Shape;202;p4"/>
          <p:cNvSpPr/>
          <p:nvPr/>
        </p:nvSpPr>
        <p:spPr>
          <a:xfrm>
            <a:off x="1188720" y="2843784"/>
            <a:ext cx="73152" cy="73152"/>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203" name="Google Shape;203;p4"/>
          <p:cNvCxnSpPr/>
          <p:nvPr/>
        </p:nvCxnSpPr>
        <p:spPr>
          <a:xfrm>
            <a:off x="1188720" y="3081528"/>
            <a:ext cx="3209544" cy="0"/>
          </a:xfrm>
          <a:prstGeom prst="straightConnector1">
            <a:avLst/>
          </a:prstGeom>
          <a:noFill/>
          <a:ln w="9525" cap="flat" cmpd="sng">
            <a:solidFill>
              <a:srgbClr val="CFD5DC"/>
            </a:solidFill>
            <a:prstDash val="dash"/>
            <a:round/>
            <a:headEnd type="none" w="sm" len="sm"/>
            <a:tailEnd type="none" w="sm" len="sm"/>
          </a:ln>
        </p:spPr>
      </p:cxnSp>
      <p:sp>
        <p:nvSpPr>
          <p:cNvPr id="204" name="Google Shape;204;p4"/>
          <p:cNvSpPr/>
          <p:nvPr/>
        </p:nvSpPr>
        <p:spPr>
          <a:xfrm>
            <a:off x="4357116" y="3040380"/>
            <a:ext cx="82296" cy="82296"/>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5" name="Google Shape;205;p4"/>
          <p:cNvSpPr/>
          <p:nvPr/>
        </p:nvSpPr>
        <p:spPr>
          <a:xfrm>
            <a:off x="1188720" y="3044952"/>
            <a:ext cx="73152" cy="73152"/>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206" name="Google Shape;206;p4"/>
          <p:cNvCxnSpPr/>
          <p:nvPr/>
        </p:nvCxnSpPr>
        <p:spPr>
          <a:xfrm>
            <a:off x="1188720" y="3282696"/>
            <a:ext cx="3044952" cy="0"/>
          </a:xfrm>
          <a:prstGeom prst="straightConnector1">
            <a:avLst/>
          </a:prstGeom>
          <a:noFill/>
          <a:ln w="9525" cap="flat" cmpd="sng">
            <a:solidFill>
              <a:srgbClr val="CFD5DC"/>
            </a:solidFill>
            <a:prstDash val="dash"/>
            <a:round/>
            <a:headEnd type="none" w="sm" len="sm"/>
            <a:tailEnd type="none" w="sm" len="sm"/>
          </a:ln>
        </p:spPr>
      </p:cxnSp>
      <p:sp>
        <p:nvSpPr>
          <p:cNvPr id="207" name="Google Shape;207;p4"/>
          <p:cNvSpPr/>
          <p:nvPr/>
        </p:nvSpPr>
        <p:spPr>
          <a:xfrm>
            <a:off x="4192524" y="3241548"/>
            <a:ext cx="82296" cy="82296"/>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8" name="Google Shape;208;p4"/>
          <p:cNvSpPr/>
          <p:nvPr/>
        </p:nvSpPr>
        <p:spPr>
          <a:xfrm>
            <a:off x="1188720" y="3246120"/>
            <a:ext cx="73152" cy="73152"/>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209" name="Google Shape;209;p4"/>
          <p:cNvCxnSpPr/>
          <p:nvPr/>
        </p:nvCxnSpPr>
        <p:spPr>
          <a:xfrm>
            <a:off x="1188720" y="3483864"/>
            <a:ext cx="3227832" cy="0"/>
          </a:xfrm>
          <a:prstGeom prst="straightConnector1">
            <a:avLst/>
          </a:prstGeom>
          <a:noFill/>
          <a:ln w="9525" cap="flat" cmpd="sng">
            <a:solidFill>
              <a:srgbClr val="CFD5DC"/>
            </a:solidFill>
            <a:prstDash val="dash"/>
            <a:round/>
            <a:headEnd type="none" w="sm" len="sm"/>
            <a:tailEnd type="none" w="sm" len="sm"/>
          </a:ln>
        </p:spPr>
      </p:cxnSp>
      <p:sp>
        <p:nvSpPr>
          <p:cNvPr id="210" name="Google Shape;210;p4"/>
          <p:cNvSpPr/>
          <p:nvPr/>
        </p:nvSpPr>
        <p:spPr>
          <a:xfrm>
            <a:off x="4375404" y="3442716"/>
            <a:ext cx="82296" cy="82296"/>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4"/>
          <p:cNvSpPr/>
          <p:nvPr/>
        </p:nvSpPr>
        <p:spPr>
          <a:xfrm>
            <a:off x="1188720" y="3447288"/>
            <a:ext cx="73152" cy="73152"/>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212" name="Google Shape;212;p4"/>
          <p:cNvCxnSpPr/>
          <p:nvPr/>
        </p:nvCxnSpPr>
        <p:spPr>
          <a:xfrm>
            <a:off x="1188720" y="3685032"/>
            <a:ext cx="3063240" cy="0"/>
          </a:xfrm>
          <a:prstGeom prst="straightConnector1">
            <a:avLst/>
          </a:prstGeom>
          <a:noFill/>
          <a:ln w="9525" cap="flat" cmpd="sng">
            <a:solidFill>
              <a:srgbClr val="CFD5DC"/>
            </a:solidFill>
            <a:prstDash val="dash"/>
            <a:round/>
            <a:headEnd type="none" w="sm" len="sm"/>
            <a:tailEnd type="none" w="sm" len="sm"/>
          </a:ln>
        </p:spPr>
      </p:cxnSp>
      <p:sp>
        <p:nvSpPr>
          <p:cNvPr id="213" name="Google Shape;213;p4"/>
          <p:cNvSpPr/>
          <p:nvPr/>
        </p:nvSpPr>
        <p:spPr>
          <a:xfrm>
            <a:off x="4210812" y="3643884"/>
            <a:ext cx="82296" cy="82296"/>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4" name="Google Shape;214;p4"/>
          <p:cNvSpPr/>
          <p:nvPr/>
        </p:nvSpPr>
        <p:spPr>
          <a:xfrm>
            <a:off x="1188720" y="3648456"/>
            <a:ext cx="73152" cy="73152"/>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5" name="Google Shape;215;p4"/>
          <p:cNvSpPr txBox="1"/>
          <p:nvPr/>
        </p:nvSpPr>
        <p:spPr>
          <a:xfrm>
            <a:off x="2176272" y="3931920"/>
            <a:ext cx="457200" cy="27432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700" b="1" i="0" u="none" strike="noStrike" cap="none">
                <a:solidFill>
                  <a:srgbClr val="800000"/>
                </a:solidFill>
                <a:latin typeface="Arial"/>
                <a:ea typeface="Arial"/>
                <a:cs typeface="Arial"/>
                <a:sym typeface="Arial"/>
              </a:rPr>
              <a:t>A</a:t>
            </a:r>
            <a:endParaRPr/>
          </a:p>
        </p:txBody>
      </p:sp>
      <p:sp>
        <p:nvSpPr>
          <p:cNvPr id="216" name="Google Shape;216;p4"/>
          <p:cNvSpPr txBox="1"/>
          <p:nvPr/>
        </p:nvSpPr>
        <p:spPr>
          <a:xfrm>
            <a:off x="4069080" y="3931920"/>
            <a:ext cx="457200" cy="27432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700" b="1" i="0" u="none" strike="noStrike" cap="none">
                <a:solidFill>
                  <a:srgbClr val="245D68"/>
                </a:solidFill>
                <a:latin typeface="Arial"/>
                <a:ea typeface="Arial"/>
                <a:cs typeface="Arial"/>
                <a:sym typeface="Arial"/>
              </a:rPr>
              <a:t>B</a:t>
            </a:r>
            <a:endParaRPr/>
          </a:p>
        </p:txBody>
      </p:sp>
      <p:cxnSp>
        <p:nvCxnSpPr>
          <p:cNvPr id="217" name="Google Shape;217;p4"/>
          <p:cNvCxnSpPr/>
          <p:nvPr/>
        </p:nvCxnSpPr>
        <p:spPr>
          <a:xfrm>
            <a:off x="6967728" y="4315968"/>
            <a:ext cx="4169664" cy="0"/>
          </a:xfrm>
          <a:prstGeom prst="straightConnector1">
            <a:avLst/>
          </a:prstGeom>
          <a:noFill/>
          <a:ln w="15225" cap="flat" cmpd="sng">
            <a:solidFill>
              <a:srgbClr val="59616B"/>
            </a:solidFill>
            <a:prstDash val="solid"/>
            <a:round/>
            <a:headEnd type="none" w="sm" len="sm"/>
            <a:tailEnd type="triangle" w="sm" len="sm"/>
          </a:ln>
        </p:spPr>
      </p:cxnSp>
      <p:sp>
        <p:nvSpPr>
          <p:cNvPr id="218" name="Google Shape;218;p4"/>
          <p:cNvSpPr/>
          <p:nvPr/>
        </p:nvSpPr>
        <p:spPr>
          <a:xfrm>
            <a:off x="7150608" y="2560320"/>
            <a:ext cx="3767328" cy="1370686"/>
          </a:xfrm>
          <a:custGeom>
            <a:avLst/>
            <a:gdLst/>
            <a:ahLst/>
            <a:cxnLst/>
            <a:rect l="l" t="t" r="r" b="b"/>
            <a:pathLst>
              <a:path w="4120" h="1499" extrusionOk="0">
                <a:moveTo>
                  <a:pt x="0" y="785"/>
                </a:moveTo>
                <a:lnTo>
                  <a:pt x="68" y="996"/>
                </a:lnTo>
                <a:lnTo>
                  <a:pt x="137" y="1165"/>
                </a:lnTo>
                <a:lnTo>
                  <a:pt x="206" y="1295"/>
                </a:lnTo>
                <a:lnTo>
                  <a:pt x="274" y="1391"/>
                </a:lnTo>
                <a:lnTo>
                  <a:pt x="343" y="1454"/>
                </a:lnTo>
                <a:lnTo>
                  <a:pt x="412" y="1490"/>
                </a:lnTo>
                <a:lnTo>
                  <a:pt x="480" y="1499"/>
                </a:lnTo>
                <a:lnTo>
                  <a:pt x="549" y="1487"/>
                </a:lnTo>
                <a:lnTo>
                  <a:pt x="618" y="1455"/>
                </a:lnTo>
                <a:lnTo>
                  <a:pt x="686" y="1407"/>
                </a:lnTo>
                <a:lnTo>
                  <a:pt x="755" y="1344"/>
                </a:lnTo>
                <a:lnTo>
                  <a:pt x="824" y="1269"/>
                </a:lnTo>
                <a:lnTo>
                  <a:pt x="892" y="1186"/>
                </a:lnTo>
                <a:lnTo>
                  <a:pt x="961" y="1095"/>
                </a:lnTo>
                <a:lnTo>
                  <a:pt x="1030" y="999"/>
                </a:lnTo>
                <a:lnTo>
                  <a:pt x="1098" y="900"/>
                </a:lnTo>
                <a:lnTo>
                  <a:pt x="1167" y="800"/>
                </a:lnTo>
                <a:lnTo>
                  <a:pt x="1236" y="701"/>
                </a:lnTo>
                <a:lnTo>
                  <a:pt x="1304" y="604"/>
                </a:lnTo>
                <a:lnTo>
                  <a:pt x="1373" y="510"/>
                </a:lnTo>
                <a:lnTo>
                  <a:pt x="1442" y="421"/>
                </a:lnTo>
                <a:lnTo>
                  <a:pt x="1510" y="338"/>
                </a:lnTo>
                <a:lnTo>
                  <a:pt x="1579" y="263"/>
                </a:lnTo>
                <a:lnTo>
                  <a:pt x="1648" y="195"/>
                </a:lnTo>
                <a:lnTo>
                  <a:pt x="1716" y="137"/>
                </a:lnTo>
                <a:lnTo>
                  <a:pt x="1785" y="88"/>
                </a:lnTo>
                <a:lnTo>
                  <a:pt x="1854" y="50"/>
                </a:lnTo>
                <a:lnTo>
                  <a:pt x="1922" y="22"/>
                </a:lnTo>
                <a:lnTo>
                  <a:pt x="1991" y="5"/>
                </a:lnTo>
                <a:lnTo>
                  <a:pt x="2060" y="0"/>
                </a:lnTo>
                <a:lnTo>
                  <a:pt x="2128" y="5"/>
                </a:lnTo>
                <a:lnTo>
                  <a:pt x="2197" y="22"/>
                </a:lnTo>
                <a:lnTo>
                  <a:pt x="2266" y="50"/>
                </a:lnTo>
                <a:lnTo>
                  <a:pt x="2334" y="88"/>
                </a:lnTo>
                <a:lnTo>
                  <a:pt x="2403" y="137"/>
                </a:lnTo>
                <a:lnTo>
                  <a:pt x="2472" y="195"/>
                </a:lnTo>
                <a:lnTo>
                  <a:pt x="2540" y="263"/>
                </a:lnTo>
                <a:lnTo>
                  <a:pt x="2609" y="338"/>
                </a:lnTo>
                <a:lnTo>
                  <a:pt x="2678" y="421"/>
                </a:lnTo>
                <a:lnTo>
                  <a:pt x="2746" y="510"/>
                </a:lnTo>
                <a:lnTo>
                  <a:pt x="2815" y="604"/>
                </a:lnTo>
                <a:lnTo>
                  <a:pt x="2884" y="701"/>
                </a:lnTo>
                <a:lnTo>
                  <a:pt x="2952" y="800"/>
                </a:lnTo>
                <a:lnTo>
                  <a:pt x="3021" y="900"/>
                </a:lnTo>
                <a:lnTo>
                  <a:pt x="3090" y="999"/>
                </a:lnTo>
                <a:lnTo>
                  <a:pt x="3158" y="1095"/>
                </a:lnTo>
                <a:lnTo>
                  <a:pt x="3227" y="1186"/>
                </a:lnTo>
                <a:lnTo>
                  <a:pt x="3296" y="1269"/>
                </a:lnTo>
                <a:lnTo>
                  <a:pt x="3364" y="1344"/>
                </a:lnTo>
                <a:lnTo>
                  <a:pt x="3433" y="1407"/>
                </a:lnTo>
                <a:lnTo>
                  <a:pt x="3502" y="1455"/>
                </a:lnTo>
                <a:lnTo>
                  <a:pt x="3570" y="1487"/>
                </a:lnTo>
                <a:lnTo>
                  <a:pt x="3639" y="1499"/>
                </a:lnTo>
                <a:lnTo>
                  <a:pt x="3708" y="1490"/>
                </a:lnTo>
                <a:lnTo>
                  <a:pt x="3776" y="1454"/>
                </a:lnTo>
                <a:lnTo>
                  <a:pt x="3845" y="1391"/>
                </a:lnTo>
                <a:lnTo>
                  <a:pt x="3914" y="1295"/>
                </a:lnTo>
                <a:lnTo>
                  <a:pt x="3982" y="1165"/>
                </a:lnTo>
                <a:lnTo>
                  <a:pt x="4051" y="996"/>
                </a:lnTo>
                <a:lnTo>
                  <a:pt x="4120" y="785"/>
                </a:lnTo>
              </a:path>
            </a:pathLst>
          </a:custGeom>
          <a:noFill/>
          <a:ln w="25400" cap="flat" cmpd="sng">
            <a:solidFill>
              <a:srgbClr val="59616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9" name="Google Shape;219;p4"/>
          <p:cNvSpPr/>
          <p:nvPr/>
        </p:nvSpPr>
        <p:spPr>
          <a:xfrm>
            <a:off x="7328916" y="3401568"/>
            <a:ext cx="100584" cy="100584"/>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0" name="Google Shape;220;p4"/>
          <p:cNvSpPr/>
          <p:nvPr/>
        </p:nvSpPr>
        <p:spPr>
          <a:xfrm>
            <a:off x="7456932" y="3538728"/>
            <a:ext cx="100584" cy="100584"/>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1" name="Google Shape;221;p4"/>
          <p:cNvSpPr/>
          <p:nvPr/>
        </p:nvSpPr>
        <p:spPr>
          <a:xfrm>
            <a:off x="7584948" y="3675888"/>
            <a:ext cx="100584" cy="100584"/>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2" name="Google Shape;222;p4"/>
          <p:cNvSpPr/>
          <p:nvPr/>
        </p:nvSpPr>
        <p:spPr>
          <a:xfrm>
            <a:off x="7712964" y="3675888"/>
            <a:ext cx="100584" cy="100584"/>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3" name="Google Shape;223;p4"/>
          <p:cNvSpPr/>
          <p:nvPr/>
        </p:nvSpPr>
        <p:spPr>
          <a:xfrm>
            <a:off x="7840980" y="3538728"/>
            <a:ext cx="100584" cy="100584"/>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4" name="Google Shape;224;p4"/>
          <p:cNvSpPr/>
          <p:nvPr/>
        </p:nvSpPr>
        <p:spPr>
          <a:xfrm>
            <a:off x="7968996" y="3401568"/>
            <a:ext cx="100584" cy="100584"/>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225" name="Google Shape;225;p4"/>
          <p:cNvCxnSpPr/>
          <p:nvPr/>
        </p:nvCxnSpPr>
        <p:spPr>
          <a:xfrm>
            <a:off x="7936992" y="2286000"/>
            <a:ext cx="2231136" cy="0"/>
          </a:xfrm>
          <a:prstGeom prst="straightConnector1">
            <a:avLst/>
          </a:prstGeom>
          <a:noFill/>
          <a:ln w="19050" cap="flat" cmpd="sng">
            <a:solidFill>
              <a:srgbClr val="245D68"/>
            </a:solidFill>
            <a:prstDash val="dash"/>
            <a:round/>
            <a:headEnd type="none" w="sm" len="sm"/>
            <a:tailEnd type="triangle" w="sm" len="sm"/>
          </a:ln>
        </p:spPr>
      </p:cxnSp>
      <p:sp>
        <p:nvSpPr>
          <p:cNvPr id="226" name="Google Shape;226;p4"/>
          <p:cNvSpPr txBox="1"/>
          <p:nvPr/>
        </p:nvSpPr>
        <p:spPr>
          <a:xfrm>
            <a:off x="8083296" y="1874519"/>
            <a:ext cx="2194560" cy="32004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700" b="0" i="0" u="none" strike="noStrike" cap="none">
                <a:solidFill>
                  <a:srgbClr val="59616B"/>
                </a:solidFill>
                <a:latin typeface="Arial"/>
                <a:ea typeface="Arial"/>
                <a:cs typeface="Arial"/>
                <a:sym typeface="Arial"/>
              </a:rPr>
              <a:t>rare crossing</a:t>
            </a:r>
            <a:endParaRPr/>
          </a:p>
        </p:txBody>
      </p:sp>
      <p:sp>
        <p:nvSpPr>
          <p:cNvPr id="227" name="Google Shape;227;p4"/>
          <p:cNvSpPr txBox="1"/>
          <p:nvPr/>
        </p:nvSpPr>
        <p:spPr>
          <a:xfrm>
            <a:off x="6922008" y="4471416"/>
            <a:ext cx="2221992" cy="283464"/>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600" b="0" i="0" u="none" strike="noStrike" cap="none">
                <a:solidFill>
                  <a:srgbClr val="800000"/>
                </a:solidFill>
                <a:latin typeface="Arial"/>
                <a:ea typeface="Arial"/>
                <a:cs typeface="Arial"/>
                <a:sym typeface="Arial"/>
              </a:rPr>
              <a:t>sampled basin</a:t>
            </a:r>
            <a:endParaRPr/>
          </a:p>
        </p:txBody>
      </p:sp>
      <p:sp>
        <p:nvSpPr>
          <p:cNvPr id="228" name="Google Shape;228;p4"/>
          <p:cNvSpPr txBox="1"/>
          <p:nvPr/>
        </p:nvSpPr>
        <p:spPr>
          <a:xfrm>
            <a:off x="9326880" y="4471416"/>
            <a:ext cx="2221992" cy="283464"/>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600" b="0" i="0" u="none" strike="noStrike" cap="none">
                <a:solidFill>
                  <a:srgbClr val="245D68"/>
                </a:solidFill>
                <a:latin typeface="Arial"/>
                <a:ea typeface="Arial"/>
                <a:cs typeface="Arial"/>
                <a:sym typeface="Arial"/>
              </a:rPr>
              <a:t>unvisited basin</a:t>
            </a:r>
            <a:endParaRPr/>
          </a:p>
        </p:txBody>
      </p:sp>
      <p:sp>
        <p:nvSpPr>
          <p:cNvPr id="229" name="Google Shape;229;p4"/>
          <p:cNvSpPr txBox="1"/>
          <p:nvPr/>
        </p:nvSpPr>
        <p:spPr>
          <a:xfrm>
            <a:off x="777240" y="5029200"/>
            <a:ext cx="4800600" cy="667512"/>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200" b="0" i="0" u="none" strike="noStrike" cap="none">
                <a:solidFill>
                  <a:srgbClr val="21252B"/>
                </a:solidFill>
                <a:latin typeface="Arial"/>
                <a:ea typeface="Arial"/>
                <a:cs typeface="Arial"/>
                <a:sym typeface="Arial"/>
              </a:rPr>
              <a:t>Both states are present,</a:t>
            </a:r>
            <a:endParaRPr/>
          </a:p>
          <a:p>
            <a:pPr marL="0" marR="0" lvl="0" indent="0" algn="ctr" rtl="0">
              <a:lnSpc>
                <a:spcPct val="108000"/>
              </a:lnSpc>
              <a:spcBef>
                <a:spcPts val="300"/>
              </a:spcBef>
              <a:spcAft>
                <a:spcPts val="0"/>
              </a:spcAft>
              <a:buNone/>
            </a:pPr>
            <a:r>
              <a:rPr lang="en-US" sz="2200" b="0" i="0" u="none" strike="noStrike" cap="none">
                <a:solidFill>
                  <a:srgbClr val="21252B"/>
                </a:solidFill>
                <a:latin typeface="Arial"/>
                <a:ea typeface="Arial"/>
                <a:cs typeface="Arial"/>
                <a:sym typeface="Arial"/>
              </a:rPr>
              <a:t>but their distinction is lost.</a:t>
            </a:r>
            <a:endParaRPr/>
          </a:p>
        </p:txBody>
      </p:sp>
      <p:sp>
        <p:nvSpPr>
          <p:cNvPr id="230" name="Google Shape;230;p4"/>
          <p:cNvSpPr txBox="1"/>
          <p:nvPr/>
        </p:nvSpPr>
        <p:spPr>
          <a:xfrm>
            <a:off x="6419088" y="5029200"/>
            <a:ext cx="5029200" cy="667512"/>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200" b="0" i="0" u="none" strike="noStrike" cap="none">
                <a:solidFill>
                  <a:srgbClr val="21252B"/>
                </a:solidFill>
                <a:latin typeface="Arial"/>
                <a:ea typeface="Arial"/>
                <a:cs typeface="Arial"/>
                <a:sym typeface="Arial"/>
              </a:rPr>
              <a:t>The states are distinguishable,</a:t>
            </a:r>
            <a:endParaRPr/>
          </a:p>
          <a:p>
            <a:pPr marL="0" marR="0" lvl="0" indent="0" algn="ctr" rtl="0">
              <a:lnSpc>
                <a:spcPct val="108000"/>
              </a:lnSpc>
              <a:spcBef>
                <a:spcPts val="300"/>
              </a:spcBef>
              <a:spcAft>
                <a:spcPts val="0"/>
              </a:spcAft>
              <a:buNone/>
            </a:pPr>
            <a:r>
              <a:rPr lang="en-US" sz="2200" b="0" i="0" u="none" strike="noStrike" cap="none">
                <a:solidFill>
                  <a:srgbClr val="21252B"/>
                </a:solidFill>
                <a:latin typeface="Arial"/>
                <a:ea typeface="Arial"/>
                <a:cs typeface="Arial"/>
                <a:sym typeface="Arial"/>
              </a:rPr>
              <a:t>but transitions are missing.</a:t>
            </a:r>
            <a:endParaRPr/>
          </a:p>
        </p:txBody>
      </p:sp>
      <p:sp>
        <p:nvSpPr>
          <p:cNvPr id="5007" name="Shape 5007"/>
          <p:cNvSpPr/>
          <p:nvPr/>
        </p:nvSpPr>
        <p:spPr>
          <a:xfrm>
            <a:off x="502920" y="5852160"/>
            <a:ext cx="5440680" cy="475488"/>
          </a:xfrm>
          <a:prstGeom prst="roundRect">
            <a:avLst>
              <a:gd name="adj" fmla="val 12000"/>
            </a:avLst>
          </a:prstGeom>
          <a:solidFill>
            <a:srgbClr val="F6EEEE"/>
          </a:solidFill>
          <a:ln>
            <a:no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500" b="1" i="0" u="none" strike="noStrike" cap="none">
                <a:solidFill>
                  <a:srgbClr val="800000"/>
                </a:solidFill>
                <a:latin typeface="Arial"/>
                <a:ea typeface="Arial"/>
                <a:cs typeface="Arial"/>
                <a:sym typeface="Arial"/>
              </a:rPr>
              <a:t>Representation learning: </a:t>
            </a:r>
            <a:r>
              <a:rPr lang="en-US" sz="1500" b="0" i="0" u="none" strike="noStrike" cap="none">
                <a:solidFill>
                  <a:srgbClr val="21252B"/>
                </a:solidFill>
                <a:latin typeface="Arial"/>
                <a:ea typeface="Arial"/>
                <a:cs typeface="Arial"/>
                <a:sym typeface="Arial"/>
              </a:rPr>
              <a:t>keep slow distinctions visible</a:t>
            </a:r>
          </a:p>
        </p:txBody>
      </p:sp>
      <p:sp>
        <p:nvSpPr>
          <p:cNvPr id="5008" name="Shape 5008"/>
          <p:cNvSpPr/>
          <p:nvPr/>
        </p:nvSpPr>
        <p:spPr>
          <a:xfrm>
            <a:off x="6245352" y="5852160"/>
            <a:ext cx="5440680" cy="475488"/>
          </a:xfrm>
          <a:prstGeom prst="roundRect">
            <a:avLst>
              <a:gd name="adj" fmla="val 12000"/>
            </a:avLst>
          </a:prstGeom>
          <a:solidFill>
            <a:srgbClr val="EFF5F6"/>
          </a:solidFill>
          <a:ln>
            <a:no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500" b="1" i="0" u="none" strike="noStrike" cap="none" dirty="0">
                <a:solidFill>
                  <a:srgbClr val="245D68"/>
                </a:solidFill>
                <a:latin typeface="Arial"/>
                <a:ea typeface="Arial"/>
                <a:cs typeface="Arial"/>
                <a:sym typeface="Arial"/>
              </a:rPr>
              <a:t>Reinforcement learning: </a:t>
            </a:r>
            <a:r>
              <a:rPr lang="en-US" sz="1500" b="0" i="0" u="none" strike="noStrike" cap="none" dirty="0">
                <a:solidFill>
                  <a:srgbClr val="21252B"/>
                </a:solidFill>
                <a:latin typeface="Arial"/>
                <a:ea typeface="Arial"/>
                <a:cs typeface="Arial"/>
                <a:sym typeface="Arial"/>
              </a:rPr>
              <a:t>choose where to sample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5"/>
        <p:cNvGrpSpPr/>
        <p:nvPr/>
      </p:nvGrpSpPr>
      <p:grpSpPr>
        <a:xfrm>
          <a:off x="0" y="0"/>
          <a:ext cx="0" cy="0"/>
          <a:chOff x="0" y="0"/>
          <a:chExt cx="0" cy="0"/>
        </a:xfrm>
      </p:grpSpPr>
      <p:sp>
        <p:nvSpPr>
          <p:cNvPr id="236" name="Google Shape;236;p5"/>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THESIS ROADMAP</a:t>
            </a:r>
            <a:endParaRPr/>
          </a:p>
        </p:txBody>
      </p:sp>
      <p:sp>
        <p:nvSpPr>
          <p:cNvPr id="237" name="Google Shape;237;p5"/>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A closed loop links representation, kinetics, and sampling</a:t>
            </a:r>
            <a:endParaRPr/>
          </a:p>
        </p:txBody>
      </p:sp>
      <p:cxnSp>
        <p:nvCxnSpPr>
          <p:cNvPr id="238" name="Google Shape;238;p5"/>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239" name="Google Shape;239;p5"/>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Dissertation Ch. 1</a:t>
            </a:r>
            <a:endParaRPr/>
          </a:p>
        </p:txBody>
      </p:sp>
      <p:sp>
        <p:nvSpPr>
          <p:cNvPr id="240" name="Google Shape;240;p5"/>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05 / 37</a:t>
            </a:r>
            <a:endParaRPr/>
          </a:p>
        </p:txBody>
      </p:sp>
      <p:sp>
        <p:nvSpPr>
          <p:cNvPr id="241" name="Google Shape;241;p5"/>
          <p:cNvSpPr/>
          <p:nvPr/>
        </p:nvSpPr>
        <p:spPr>
          <a:xfrm>
            <a:off x="914400" y="1924812"/>
            <a:ext cx="3823106" cy="1371600"/>
          </a:xfrm>
          <a:prstGeom prst="roundRect">
            <a:avLst>
              <a:gd name="adj" fmla="val 9000"/>
            </a:avLst>
          </a:prstGeom>
          <a:solidFill>
            <a:srgbClr val="F6EEEE"/>
          </a:solidFill>
          <a:ln w="10150" cap="flat" cmpd="sng">
            <a:solidFill>
              <a:srgbClr val="CFD5D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2" name="Google Shape;242;p5"/>
          <p:cNvSpPr txBox="1"/>
          <p:nvPr/>
        </p:nvSpPr>
        <p:spPr>
          <a:xfrm>
            <a:off x="1051560" y="2043684"/>
            <a:ext cx="3548786" cy="36576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800" b="1" i="0" u="none" strike="noStrike" cap="none">
                <a:solidFill>
                  <a:srgbClr val="21252B"/>
                </a:solidFill>
                <a:latin typeface="Arial"/>
                <a:ea typeface="Arial"/>
                <a:cs typeface="Arial"/>
                <a:sym typeface="Arial"/>
              </a:rPr>
              <a:t>Geometric representation</a:t>
            </a:r>
            <a:endParaRPr/>
          </a:p>
        </p:txBody>
      </p:sp>
      <p:sp>
        <p:nvSpPr>
          <p:cNvPr id="243" name="Google Shape;243;p5"/>
          <p:cNvSpPr txBox="1"/>
          <p:nvPr/>
        </p:nvSpPr>
        <p:spPr>
          <a:xfrm>
            <a:off x="1078992" y="2436876"/>
            <a:ext cx="3493922" cy="82296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400" b="0" i="0" u="none" strike="noStrike" cap="none">
                <a:solidFill>
                  <a:srgbClr val="59616B"/>
                </a:solidFill>
                <a:latin typeface="Arial"/>
                <a:ea typeface="Arial"/>
                <a:cs typeface="Arial"/>
                <a:sym typeface="Arial"/>
              </a:rPr>
              <a:t>Pretrained all-atom encoders map each configuration to transferable, multiscale features</a:t>
            </a:r>
            <a:endParaRPr/>
          </a:p>
        </p:txBody>
      </p:sp>
      <p:sp>
        <p:nvSpPr>
          <p:cNvPr id="244" name="Google Shape;244;p5"/>
          <p:cNvSpPr/>
          <p:nvPr/>
        </p:nvSpPr>
        <p:spPr>
          <a:xfrm>
            <a:off x="7424013" y="1924812"/>
            <a:ext cx="3823106" cy="1371600"/>
          </a:xfrm>
          <a:prstGeom prst="roundRect">
            <a:avLst>
              <a:gd name="adj" fmla="val 9000"/>
            </a:avLst>
          </a:prstGeom>
          <a:solidFill>
            <a:srgbClr val="EFF5F6"/>
          </a:solidFill>
          <a:ln w="10150" cap="flat" cmpd="sng">
            <a:solidFill>
              <a:srgbClr val="CFD5D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5" name="Google Shape;245;p5"/>
          <p:cNvSpPr txBox="1"/>
          <p:nvPr/>
        </p:nvSpPr>
        <p:spPr>
          <a:xfrm>
            <a:off x="7561173" y="2043684"/>
            <a:ext cx="3548786" cy="36576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800" b="1" i="0" u="none" strike="noStrike" cap="none">
                <a:solidFill>
                  <a:srgbClr val="21252B"/>
                </a:solidFill>
                <a:latin typeface="Arial"/>
                <a:ea typeface="Arial"/>
                <a:cs typeface="Arial"/>
                <a:sym typeface="Arial"/>
              </a:rPr>
              <a:t>Kinetic model</a:t>
            </a:r>
            <a:endParaRPr/>
          </a:p>
        </p:txBody>
      </p:sp>
      <p:sp>
        <p:nvSpPr>
          <p:cNvPr id="246" name="Google Shape;246;p5"/>
          <p:cNvSpPr txBox="1"/>
          <p:nvPr/>
        </p:nvSpPr>
        <p:spPr>
          <a:xfrm>
            <a:off x="7588605" y="2436876"/>
            <a:ext cx="3493922" cy="82296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400" b="0" i="0" u="none" strike="noStrike" cap="none">
                <a:solidFill>
                  <a:srgbClr val="59616B"/>
                </a:solidFill>
                <a:latin typeface="Arial"/>
                <a:ea typeface="Arial"/>
                <a:cs typeface="Arial"/>
                <a:sym typeface="Arial"/>
              </a:rPr>
              <a:t>Time-lagged objectives (VAMP, SPIB) learn slow coordinates and metastable states</a:t>
            </a:r>
            <a:endParaRPr/>
          </a:p>
        </p:txBody>
      </p:sp>
      <p:sp>
        <p:nvSpPr>
          <p:cNvPr id="247" name="Google Shape;247;p5"/>
          <p:cNvSpPr/>
          <p:nvPr/>
        </p:nvSpPr>
        <p:spPr>
          <a:xfrm>
            <a:off x="914400" y="4549140"/>
            <a:ext cx="3823106" cy="1371600"/>
          </a:xfrm>
          <a:prstGeom prst="roundRect">
            <a:avLst>
              <a:gd name="adj" fmla="val 9000"/>
            </a:avLst>
          </a:prstGeom>
          <a:solidFill>
            <a:srgbClr val="F5F6F8"/>
          </a:solidFill>
          <a:ln w="10150" cap="flat" cmpd="sng">
            <a:solidFill>
              <a:srgbClr val="CFD5D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8" name="Google Shape;248;p5"/>
          <p:cNvSpPr txBox="1"/>
          <p:nvPr/>
        </p:nvSpPr>
        <p:spPr>
          <a:xfrm>
            <a:off x="1051560" y="4668012"/>
            <a:ext cx="3548786" cy="36576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800" b="1" i="0" u="none" strike="noStrike" cap="none">
                <a:solidFill>
                  <a:srgbClr val="21252B"/>
                </a:solidFill>
                <a:latin typeface="Arial"/>
                <a:ea typeface="Arial"/>
                <a:cs typeface="Arial"/>
                <a:sym typeface="Arial"/>
              </a:rPr>
              <a:t>Unbiased molecular dynamics</a:t>
            </a:r>
            <a:endParaRPr/>
          </a:p>
        </p:txBody>
      </p:sp>
      <p:sp>
        <p:nvSpPr>
          <p:cNvPr id="249" name="Google Shape;249;p5"/>
          <p:cNvSpPr txBox="1"/>
          <p:nvPr/>
        </p:nvSpPr>
        <p:spPr>
          <a:xfrm>
            <a:off x="1078992" y="5061204"/>
            <a:ext cx="3493922" cy="82296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400" b="0" i="0" u="none" strike="noStrike" cap="none">
                <a:solidFill>
                  <a:srgbClr val="59616B"/>
                </a:solidFill>
                <a:latin typeface="Arial"/>
                <a:ea typeface="Arial"/>
                <a:cs typeface="Arial"/>
                <a:sym typeface="Arial"/>
              </a:rPr>
              <a:t>Short parallel trajectories propagate under a fixed force field</a:t>
            </a:r>
            <a:endParaRPr/>
          </a:p>
        </p:txBody>
      </p:sp>
      <p:sp>
        <p:nvSpPr>
          <p:cNvPr id="250" name="Google Shape;250;p5"/>
          <p:cNvSpPr/>
          <p:nvPr/>
        </p:nvSpPr>
        <p:spPr>
          <a:xfrm>
            <a:off x="7424013" y="4549140"/>
            <a:ext cx="3823106" cy="1371600"/>
          </a:xfrm>
          <a:prstGeom prst="roundRect">
            <a:avLst>
              <a:gd name="adj" fmla="val 9000"/>
            </a:avLst>
          </a:prstGeom>
          <a:solidFill>
            <a:srgbClr val="EFF5F6"/>
          </a:solidFill>
          <a:ln w="10150" cap="flat" cmpd="sng">
            <a:solidFill>
              <a:srgbClr val="CFD5D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1" name="Google Shape;251;p5"/>
          <p:cNvSpPr txBox="1"/>
          <p:nvPr/>
        </p:nvSpPr>
        <p:spPr>
          <a:xfrm>
            <a:off x="7561173" y="4668012"/>
            <a:ext cx="3548786" cy="36576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800" b="1" i="0" u="none" strike="noStrike" cap="none">
                <a:solidFill>
                  <a:srgbClr val="21252B"/>
                </a:solidFill>
                <a:latin typeface="Arial"/>
                <a:ea typeface="Arial"/>
                <a:cs typeface="Arial"/>
                <a:sym typeface="Arial"/>
              </a:rPr>
              <a:t>Generative sampling policy</a:t>
            </a:r>
            <a:endParaRPr/>
          </a:p>
        </p:txBody>
      </p:sp>
      <p:sp>
        <p:nvSpPr>
          <p:cNvPr id="252" name="Google Shape;252;p5"/>
          <p:cNvSpPr txBox="1"/>
          <p:nvPr/>
        </p:nvSpPr>
        <p:spPr>
          <a:xfrm>
            <a:off x="7588605" y="5061204"/>
            <a:ext cx="3493922" cy="82296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400" b="0" i="0" u="none" strike="noStrike" cap="none">
                <a:solidFill>
                  <a:srgbClr val="59616B"/>
                </a:solidFill>
                <a:latin typeface="Arial"/>
                <a:ea typeface="Arial"/>
                <a:cs typeface="Arial"/>
                <a:sym typeface="Arial"/>
              </a:rPr>
              <a:t>Learns a probability distribution over initial conformations to explore kinetically significant regions</a:t>
            </a:r>
            <a:endParaRPr/>
          </a:p>
        </p:txBody>
      </p:sp>
      <p:cxnSp>
        <p:nvCxnSpPr>
          <p:cNvPr id="253" name="Google Shape;253;p5"/>
          <p:cNvCxnSpPr/>
          <p:nvPr/>
        </p:nvCxnSpPr>
        <p:spPr>
          <a:xfrm>
            <a:off x="4737506" y="2610612"/>
            <a:ext cx="2686507" cy="0"/>
          </a:xfrm>
          <a:prstGeom prst="straightConnector1">
            <a:avLst/>
          </a:prstGeom>
          <a:noFill/>
          <a:ln w="21575" cap="flat" cmpd="sng">
            <a:solidFill>
              <a:srgbClr val="245D68"/>
            </a:solidFill>
            <a:prstDash val="solid"/>
            <a:round/>
            <a:headEnd type="none" w="sm" len="sm"/>
            <a:tailEnd type="triangle" w="sm" len="sm"/>
          </a:ln>
        </p:spPr>
      </p:cxnSp>
      <p:sp>
        <p:nvSpPr>
          <p:cNvPr id="254" name="Google Shape;254;p5"/>
          <p:cNvSpPr txBox="1"/>
          <p:nvPr/>
        </p:nvSpPr>
        <p:spPr>
          <a:xfrm>
            <a:off x="4783226" y="2702052"/>
            <a:ext cx="2595067" cy="530352"/>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300" b="0" i="0" u="none" strike="noStrike" cap="none">
                <a:solidFill>
                  <a:srgbClr val="59616B"/>
                </a:solidFill>
                <a:latin typeface="Arial"/>
                <a:ea typeface="Arial"/>
                <a:cs typeface="Arial"/>
                <a:sym typeface="Arial"/>
              </a:rPr>
              <a:t>structural</a:t>
            </a:r>
            <a:endParaRPr/>
          </a:p>
          <a:p>
            <a:pPr marL="0" marR="0" lvl="0" indent="0" algn="ctr" rtl="0">
              <a:lnSpc>
                <a:spcPct val="108000"/>
              </a:lnSpc>
              <a:spcBef>
                <a:spcPts val="0"/>
              </a:spcBef>
              <a:spcAft>
                <a:spcPts val="0"/>
              </a:spcAft>
              <a:buNone/>
            </a:pPr>
            <a:r>
              <a:rPr lang="en-US" sz="1300" b="0" i="0" u="none" strike="noStrike" cap="none">
                <a:solidFill>
                  <a:srgbClr val="59616B"/>
                </a:solidFill>
                <a:latin typeface="Arial"/>
                <a:ea typeface="Arial"/>
                <a:cs typeface="Arial"/>
                <a:sym typeface="Arial"/>
              </a:rPr>
              <a:t>embeddings</a:t>
            </a:r>
            <a:endParaRPr/>
          </a:p>
        </p:txBody>
      </p:sp>
      <p:cxnSp>
        <p:nvCxnSpPr>
          <p:cNvPr id="255" name="Google Shape;255;p5"/>
          <p:cNvCxnSpPr/>
          <p:nvPr/>
        </p:nvCxnSpPr>
        <p:spPr>
          <a:xfrm>
            <a:off x="9335566" y="3296412"/>
            <a:ext cx="0" cy="1252728"/>
          </a:xfrm>
          <a:prstGeom prst="straightConnector1">
            <a:avLst/>
          </a:prstGeom>
          <a:noFill/>
          <a:ln w="21575" cap="flat" cmpd="sng">
            <a:solidFill>
              <a:srgbClr val="245D68"/>
            </a:solidFill>
            <a:prstDash val="solid"/>
            <a:round/>
            <a:headEnd type="none" w="sm" len="sm"/>
            <a:tailEnd type="triangle" w="sm" len="sm"/>
          </a:ln>
        </p:spPr>
      </p:cxnSp>
      <p:sp>
        <p:nvSpPr>
          <p:cNvPr id="256" name="Google Shape;256;p5"/>
          <p:cNvSpPr txBox="1"/>
          <p:nvPr/>
        </p:nvSpPr>
        <p:spPr>
          <a:xfrm>
            <a:off x="9481870" y="3616452"/>
            <a:ext cx="2048713" cy="59436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300" b="0" i="0" u="none" strike="noStrike" cap="none">
                <a:solidFill>
                  <a:srgbClr val="59616B"/>
                </a:solidFill>
                <a:latin typeface="Arial"/>
                <a:ea typeface="Arial"/>
                <a:cs typeface="Arial"/>
                <a:sym typeface="Arial"/>
              </a:rPr>
              <a:t>trajectory-level</a:t>
            </a:r>
            <a:endParaRPr/>
          </a:p>
          <a:p>
            <a:pPr marL="0" marR="0" lvl="0" indent="0" algn="l" rtl="0">
              <a:lnSpc>
                <a:spcPct val="108000"/>
              </a:lnSpc>
              <a:spcBef>
                <a:spcPts val="0"/>
              </a:spcBef>
              <a:spcAft>
                <a:spcPts val="0"/>
              </a:spcAft>
              <a:buNone/>
            </a:pPr>
            <a:r>
              <a:rPr lang="en-US" sz="1300" b="0" i="0" u="none" strike="noStrike" cap="none">
                <a:solidFill>
                  <a:srgbClr val="59616B"/>
                </a:solidFill>
                <a:latin typeface="Arial"/>
                <a:ea typeface="Arial"/>
                <a:cs typeface="Arial"/>
                <a:sym typeface="Arial"/>
              </a:rPr>
              <a:t>rewards</a:t>
            </a:r>
            <a:endParaRPr/>
          </a:p>
        </p:txBody>
      </p:sp>
      <p:cxnSp>
        <p:nvCxnSpPr>
          <p:cNvPr id="257" name="Google Shape;257;p5"/>
          <p:cNvCxnSpPr/>
          <p:nvPr/>
        </p:nvCxnSpPr>
        <p:spPr>
          <a:xfrm rot="10800000">
            <a:off x="4737506" y="5234940"/>
            <a:ext cx="2686507" cy="0"/>
          </a:xfrm>
          <a:prstGeom prst="straightConnector1">
            <a:avLst/>
          </a:prstGeom>
          <a:noFill/>
          <a:ln w="21575" cap="flat" cmpd="sng">
            <a:solidFill>
              <a:srgbClr val="245D68"/>
            </a:solidFill>
            <a:prstDash val="solid"/>
            <a:round/>
            <a:headEnd type="none" w="sm" len="sm"/>
            <a:tailEnd type="triangle" w="sm" len="sm"/>
          </a:ln>
        </p:spPr>
      </p:cxnSp>
      <p:sp>
        <p:nvSpPr>
          <p:cNvPr id="258" name="Google Shape;258;p5"/>
          <p:cNvSpPr txBox="1"/>
          <p:nvPr/>
        </p:nvSpPr>
        <p:spPr>
          <a:xfrm>
            <a:off x="4783226" y="5326380"/>
            <a:ext cx="2595067" cy="530352"/>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300" b="0" i="0" u="none" strike="noStrike" cap="none">
                <a:solidFill>
                  <a:srgbClr val="59616B"/>
                </a:solidFill>
                <a:latin typeface="Arial"/>
                <a:ea typeface="Arial"/>
                <a:cs typeface="Arial"/>
                <a:sym typeface="Arial"/>
              </a:rPr>
              <a:t>sampled initial</a:t>
            </a:r>
            <a:endParaRPr/>
          </a:p>
          <a:p>
            <a:pPr marL="0" marR="0" lvl="0" indent="0" algn="ctr" rtl="0">
              <a:lnSpc>
                <a:spcPct val="108000"/>
              </a:lnSpc>
              <a:spcBef>
                <a:spcPts val="0"/>
              </a:spcBef>
              <a:spcAft>
                <a:spcPts val="0"/>
              </a:spcAft>
              <a:buNone/>
            </a:pPr>
            <a:r>
              <a:rPr lang="en-US" sz="1300" b="0" i="0" u="none" strike="noStrike" cap="none">
                <a:solidFill>
                  <a:srgbClr val="59616B"/>
                </a:solidFill>
                <a:latin typeface="Arial"/>
                <a:ea typeface="Arial"/>
                <a:cs typeface="Arial"/>
                <a:sym typeface="Arial"/>
              </a:rPr>
              <a:t>conformations</a:t>
            </a:r>
            <a:endParaRPr/>
          </a:p>
        </p:txBody>
      </p:sp>
      <p:cxnSp>
        <p:nvCxnSpPr>
          <p:cNvPr id="259" name="Google Shape;259;p5"/>
          <p:cNvCxnSpPr/>
          <p:nvPr/>
        </p:nvCxnSpPr>
        <p:spPr>
          <a:xfrm rot="10800000">
            <a:off x="2825953" y="3296412"/>
            <a:ext cx="0" cy="1252728"/>
          </a:xfrm>
          <a:prstGeom prst="straightConnector1">
            <a:avLst/>
          </a:prstGeom>
          <a:noFill/>
          <a:ln w="21575" cap="flat" cmpd="sng">
            <a:solidFill>
              <a:srgbClr val="245D68"/>
            </a:solidFill>
            <a:prstDash val="solid"/>
            <a:round/>
            <a:headEnd type="none" w="sm" len="sm"/>
            <a:tailEnd type="triangle" w="sm" len="sm"/>
          </a:ln>
        </p:spPr>
      </p:cxnSp>
      <p:sp>
        <p:nvSpPr>
          <p:cNvPr id="260" name="Google Shape;260;p5"/>
          <p:cNvSpPr txBox="1"/>
          <p:nvPr/>
        </p:nvSpPr>
        <p:spPr>
          <a:xfrm>
            <a:off x="941832" y="3616452"/>
            <a:ext cx="1774393" cy="56692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300" b="0" i="0" u="none" strike="noStrike" cap="none">
                <a:solidFill>
                  <a:srgbClr val="59616B"/>
                </a:solidFill>
                <a:latin typeface="Arial"/>
                <a:ea typeface="Arial"/>
                <a:cs typeface="Arial"/>
                <a:sym typeface="Arial"/>
              </a:rPr>
              <a:t>new trajectory</a:t>
            </a:r>
            <a:endParaRPr/>
          </a:p>
          <a:p>
            <a:pPr marL="0" marR="0" lvl="0" indent="0" algn="l" rtl="0">
              <a:lnSpc>
                <a:spcPct val="108000"/>
              </a:lnSpc>
              <a:spcBef>
                <a:spcPts val="0"/>
              </a:spcBef>
              <a:spcAft>
                <a:spcPts val="0"/>
              </a:spcAft>
              <a:buNone/>
            </a:pPr>
            <a:r>
              <a:rPr lang="en-US" sz="1300" b="0" i="0" u="none" strike="noStrike" cap="none">
                <a:solidFill>
                  <a:srgbClr val="59616B"/>
                </a:solidFill>
                <a:latin typeface="Arial"/>
                <a:ea typeface="Arial"/>
                <a:cs typeface="Arial"/>
                <a:sym typeface="Arial"/>
              </a:rPr>
              <a:t>data</a:t>
            </a:r>
            <a:endParaRPr/>
          </a:p>
        </p:txBody>
      </p:sp>
      <p:sp>
        <p:nvSpPr>
          <p:cNvPr id="5009" name="Shape 5009"/>
          <p:cNvSpPr/>
          <p:nvPr/>
        </p:nvSpPr>
        <p:spPr>
          <a:xfrm>
            <a:off x="1152144" y="1650492"/>
            <a:ext cx="3017520" cy="256032"/>
          </a:xfrm>
          <a:prstGeom prst="roundRect">
            <a:avLst>
              <a:gd name="adj" fmla="val 50000"/>
            </a:avLst>
          </a:prstGeom>
          <a:solidFill>
            <a:srgbClr val="FFFFFF"/>
          </a:solidFill>
          <a:ln w="12700">
            <a:solidFill>
              <a:srgbClr val="800000"/>
            </a:solid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100" b="1" i="0" u="none" strike="noStrike" cap="none">
                <a:solidFill>
                  <a:srgbClr val="800000"/>
                </a:solidFill>
                <a:latin typeface="Arial"/>
                <a:ea typeface="Arial"/>
                <a:cs typeface="Arial"/>
                <a:sym typeface="Arial"/>
              </a:rPr>
              <a:t>Ch. 3–4 · SubFormer, all-atom pretraining</a:t>
            </a:r>
          </a:p>
        </p:txBody>
      </p:sp>
      <p:sp>
        <p:nvSpPr>
          <p:cNvPr id="5010" name="Shape 5010"/>
          <p:cNvSpPr/>
          <p:nvPr/>
        </p:nvSpPr>
        <p:spPr>
          <a:xfrm>
            <a:off x="7836408" y="1650492"/>
            <a:ext cx="2651760" cy="256032"/>
          </a:xfrm>
          <a:prstGeom prst="roundRect">
            <a:avLst>
              <a:gd name="adj" fmla="val 50000"/>
            </a:avLst>
          </a:prstGeom>
          <a:solidFill>
            <a:srgbClr val="FFFFFF"/>
          </a:solidFill>
          <a:ln w="12700">
            <a:solidFill>
              <a:srgbClr val="245D68"/>
            </a:solid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Ch. 5–6 · Geom2Vec, token merging</a:t>
            </a:r>
          </a:p>
        </p:txBody>
      </p:sp>
      <p:sp>
        <p:nvSpPr>
          <p:cNvPr id="5011" name="Shape 5011"/>
          <p:cNvSpPr/>
          <p:nvPr/>
        </p:nvSpPr>
        <p:spPr>
          <a:xfrm>
            <a:off x="7589520" y="4293108"/>
            <a:ext cx="1371600" cy="256032"/>
          </a:xfrm>
          <a:prstGeom prst="roundRect">
            <a:avLst>
              <a:gd name="adj" fmla="val 50000"/>
            </a:avLst>
          </a:prstGeom>
          <a:solidFill>
            <a:srgbClr val="FFFFFF"/>
          </a:solidFill>
          <a:ln w="12700">
            <a:solidFill>
              <a:srgbClr val="245D68"/>
            </a:solid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Ch. 7 · GESPO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7"/>
        <p:cNvGrpSpPr/>
        <p:nvPr/>
      </p:nvGrpSpPr>
      <p:grpSpPr>
        <a:xfrm>
          <a:off x="0" y="0"/>
          <a:ext cx="0" cy="0"/>
          <a:chOff x="0" y="0"/>
          <a:chExt cx="0" cy="0"/>
        </a:xfrm>
      </p:grpSpPr>
      <p:sp>
        <p:nvSpPr>
          <p:cNvPr id="269" name="Google Shape;269;p7"/>
          <p:cNvSpPr txBox="1"/>
          <p:nvPr/>
        </p:nvSpPr>
        <p:spPr>
          <a:xfrm>
            <a:off x="521207" y="292608"/>
            <a:ext cx="10058400" cy="2103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REPRESENTATION LEARNING · GEOM2VEC</a:t>
            </a:r>
            <a:endParaRPr/>
          </a:p>
        </p:txBody>
      </p:sp>
      <p:sp>
        <p:nvSpPr>
          <p:cNvPr id="270" name="Google Shape;270;p7"/>
          <p:cNvSpPr txBox="1"/>
          <p:nvPr/>
        </p:nvSpPr>
        <p:spPr>
          <a:xfrm>
            <a:off x="502920" y="658368"/>
            <a:ext cx="11119200" cy="4542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a:solidFill>
                  <a:srgbClr val="21252B"/>
                </a:solidFill>
              </a:rPr>
              <a:t>Pretrain once, then featurize every MD frame</a:t>
            </a:r>
            <a:endParaRPr/>
          </a:p>
        </p:txBody>
      </p:sp>
      <p:cxnSp>
        <p:nvCxnSpPr>
          <p:cNvPr id="271" name="Google Shape;271;p7"/>
          <p:cNvCxnSpPr/>
          <p:nvPr/>
        </p:nvCxnSpPr>
        <p:spPr>
          <a:xfrm>
            <a:off x="502920" y="6473952"/>
            <a:ext cx="11183100" cy="0"/>
          </a:xfrm>
          <a:prstGeom prst="straightConnector1">
            <a:avLst/>
          </a:prstGeom>
          <a:noFill/>
          <a:ln w="9525" cap="flat" cmpd="sng">
            <a:solidFill>
              <a:srgbClr val="CFD5DC"/>
            </a:solidFill>
            <a:prstDash val="solid"/>
            <a:round/>
            <a:headEnd type="none" w="sm" len="sm"/>
            <a:tailEnd type="none" w="sm" len="sm"/>
          </a:ln>
        </p:spPr>
      </p:cxnSp>
      <p:sp>
        <p:nvSpPr>
          <p:cNvPr id="272" name="Google Shape;272;p7"/>
          <p:cNvSpPr txBox="1"/>
          <p:nvPr/>
        </p:nvSpPr>
        <p:spPr>
          <a:xfrm>
            <a:off x="530352" y="6519672"/>
            <a:ext cx="9692700" cy="1260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a:solidFill>
                  <a:srgbClr val="59616B"/>
                </a:solidFill>
              </a:rPr>
              <a:t>Pengmei et al., J. Chem. Phys. 162, 044107 (2025)</a:t>
            </a:r>
            <a:endParaRPr/>
          </a:p>
        </p:txBody>
      </p:sp>
      <p:sp>
        <p:nvSpPr>
          <p:cNvPr id="273" name="Google Shape;273;p7"/>
          <p:cNvSpPr txBox="1"/>
          <p:nvPr/>
        </p:nvSpPr>
        <p:spPr>
          <a:xfrm>
            <a:off x="10424160" y="6510528"/>
            <a:ext cx="1216200" cy="18300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06 / 37</a:t>
            </a:r>
            <a:endParaRPr/>
          </a:p>
        </p:txBody>
      </p:sp>
      <p:sp>
        <p:nvSpPr>
          <p:cNvPr id="274" name="Google Shape;274;p7"/>
          <p:cNvSpPr/>
          <p:nvPr/>
        </p:nvSpPr>
        <p:spPr>
          <a:xfrm>
            <a:off x="502920" y="5971032"/>
            <a:ext cx="11155800" cy="356700"/>
          </a:xfrm>
          <a:prstGeom prst="rect">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5" name="Google Shape;275;p7"/>
          <p:cNvSpPr txBox="1"/>
          <p:nvPr/>
        </p:nvSpPr>
        <p:spPr>
          <a:xfrm>
            <a:off x="658368" y="6021324"/>
            <a:ext cx="10844700" cy="29918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800" b="1" dirty="0">
                <a:solidFill>
                  <a:srgbClr val="245D68"/>
                </a:solidFill>
              </a:rPr>
              <a:t>Freezing the geometric encoder makes all-atom kinetic learning fit on a single GPU.</a:t>
            </a:r>
            <a:endParaRPr dirty="0"/>
          </a:p>
        </p:txBody>
      </p:sp>
      <p:pic>
        <p:nvPicPr>
          <p:cNvPr id="276" name="Google Shape;276;p7"/>
          <p:cNvPicPr preferRelativeResize="0"/>
          <p:nvPr/>
        </p:nvPicPr>
        <p:blipFill>
          <a:blip r:embed="rId3">
            <a:alphaModFix/>
          </a:blip>
          <a:stretch>
            <a:fillRect/>
          </a:stretch>
        </p:blipFill>
        <p:spPr>
          <a:xfrm>
            <a:off x="1158088" y="1298448"/>
            <a:ext cx="9875520" cy="3721849"/>
          </a:xfrm>
          <a:prstGeom prst="rect">
            <a:avLst/>
          </a:prstGeom>
          <a:noFill/>
          <a:ln>
            <a:noFill/>
          </a:ln>
        </p:spPr>
      </p:pic>
      <p:sp>
        <p:nvSpPr>
          <p:cNvPr id="5001" name="Text 5001"/>
          <p:cNvSpPr txBox="1"/>
          <p:nvPr/>
        </p:nvSpPr>
        <p:spPr>
          <a:xfrm>
            <a:off x="1256843" y="5093449"/>
            <a:ext cx="3061411" cy="86868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400" b="1" i="0" u="none" strike="noStrike" cap="none">
                <a:solidFill>
                  <a:srgbClr val="245D68"/>
                </a:solidFill>
                <a:latin typeface="Arial"/>
                <a:ea typeface="Arial"/>
                <a:cs typeface="Arial"/>
                <a:sym typeface="Arial"/>
              </a:rPr>
              <a:t>Pretrain once</a:t>
            </a:r>
          </a:p>
          <a:p>
            <a:pPr marL="0" marR="0" lvl="0" indent="0" algn="ctr" rtl="0">
              <a:lnSpc>
                <a:spcPct val="108000"/>
              </a:lnSpc>
              <a:spcBef>
                <a:spcPts val="200"/>
              </a:spcBef>
              <a:spcAft>
                <a:spcPts val="0"/>
              </a:spcAft>
              <a:buNone/>
            </a:pPr>
            <a:r>
              <a:rPr lang="en-US" sz="1200" b="0" i="0" u="none" strike="noStrike" cap="none">
                <a:solidFill>
                  <a:srgbClr val="59616B"/>
                </a:solidFill>
                <a:latin typeface="Arial"/>
                <a:ea typeface="Arial"/>
                <a:cs typeface="Arial"/>
                <a:sym typeface="Arial"/>
              </a:rPr>
              <a:t>Denoising on 2.3 M conformations of 215 k molecules (OrbNet Denali)</a:t>
            </a:r>
          </a:p>
        </p:txBody>
      </p:sp>
      <p:sp>
        <p:nvSpPr>
          <p:cNvPr id="5002" name="Text 5002"/>
          <p:cNvSpPr txBox="1"/>
          <p:nvPr/>
        </p:nvSpPr>
        <p:spPr>
          <a:xfrm>
            <a:off x="4565142" y="5093449"/>
            <a:ext cx="3061411" cy="86868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400" b="1" i="0" u="none" strike="noStrike" cap="none">
                <a:solidFill>
                  <a:srgbClr val="245D68"/>
                </a:solidFill>
                <a:latin typeface="Arial"/>
                <a:ea typeface="Arial"/>
                <a:cs typeface="Arial"/>
                <a:sym typeface="Arial"/>
              </a:rPr>
              <a:t>Featurize frames</a:t>
            </a:r>
          </a:p>
          <a:p>
            <a:pPr marL="0" marR="0" lvl="0" indent="0" algn="ctr" rtl="0">
              <a:lnSpc>
                <a:spcPct val="108000"/>
              </a:lnSpc>
              <a:spcBef>
                <a:spcPts val="200"/>
              </a:spcBef>
              <a:spcAft>
                <a:spcPts val="0"/>
              </a:spcAft>
              <a:buNone/>
            </a:pPr>
            <a:r>
              <a:rPr lang="en-US" sz="1200" b="0" i="0" u="none" strike="noStrike" cap="none">
                <a:solidFill>
                  <a:srgbClr val="59616B"/>
                </a:solidFill>
                <a:latin typeface="Arial"/>
                <a:ea typeface="Arial"/>
                <a:cs typeface="Arial"/>
                <a:sym typeface="Arial"/>
              </a:rPr>
              <a:t>A frozen ViSNet encodes all heavy atoms; atoms pool into residue tokens</a:t>
            </a:r>
          </a:p>
        </p:txBody>
      </p:sp>
      <p:sp>
        <p:nvSpPr>
          <p:cNvPr id="5003" name="Text 5003"/>
          <p:cNvSpPr txBox="1"/>
          <p:nvPr/>
        </p:nvSpPr>
        <p:spPr>
          <a:xfrm>
            <a:off x="7873441" y="5093449"/>
            <a:ext cx="3061411" cy="86868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400" b="1" i="0" u="none" strike="noStrike" cap="none">
                <a:solidFill>
                  <a:srgbClr val="245D68"/>
                </a:solidFill>
                <a:latin typeface="Arial"/>
                <a:ea typeface="Arial"/>
                <a:cs typeface="Arial"/>
                <a:sym typeface="Arial"/>
              </a:rPr>
              <a:t>Train only the head</a:t>
            </a:r>
          </a:p>
          <a:p>
            <a:pPr marL="0" marR="0" lvl="0" indent="0" algn="ctr" rtl="0">
              <a:lnSpc>
                <a:spcPct val="108000"/>
              </a:lnSpc>
              <a:spcBef>
                <a:spcPts val="200"/>
              </a:spcBef>
              <a:spcAft>
                <a:spcPts val="0"/>
              </a:spcAft>
              <a:buNone/>
            </a:pPr>
            <a:r>
              <a:rPr lang="en-US" sz="1200" b="0" i="0" u="none" strike="noStrike" cap="none">
                <a:solidFill>
                  <a:srgbClr val="59616B"/>
                </a:solidFill>
                <a:latin typeface="Arial"/>
                <a:ea typeface="Arial"/>
                <a:cs typeface="Arial"/>
                <a:sym typeface="Arial"/>
              </a:rPr>
              <a:t>A token mixer (SubFormer, SubMixer) with a VAMP or SPIB objective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7"/>
        <p:cNvGrpSpPr/>
        <p:nvPr/>
      </p:nvGrpSpPr>
      <p:grpSpPr>
        <a:xfrm>
          <a:off x="0" y="0"/>
          <a:ext cx="0" cy="0"/>
          <a:chOff x="0" y="0"/>
          <a:chExt cx="0" cy="0"/>
        </a:xfrm>
      </p:grpSpPr>
      <p:sp>
        <p:nvSpPr>
          <p:cNvPr id="269" name="Google Shape;269;p7"/>
          <p:cNvSpPr txBox="1"/>
          <p:nvPr/>
        </p:nvSpPr>
        <p:spPr>
          <a:xfrm>
            <a:off x="521207" y="292608"/>
            <a:ext cx="10058400" cy="2103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REPRESENTATION LEARNING · WHAT THE FEATURES ENCODE</a:t>
            </a:r>
            <a:endParaRPr/>
          </a:p>
        </p:txBody>
      </p:sp>
      <p:sp>
        <p:nvSpPr>
          <p:cNvPr id="270" name="Google Shape;270;p7"/>
          <p:cNvSpPr txBox="1"/>
          <p:nvPr/>
        </p:nvSpPr>
        <p:spPr>
          <a:xfrm>
            <a:off x="502920" y="658368"/>
            <a:ext cx="11119200" cy="4542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a:solidFill>
                  <a:srgbClr val="21252B"/>
                </a:solidFill>
              </a:rPr>
              <a:t>Pretrained features organize residues by local geometry</a:t>
            </a:r>
            <a:endParaRPr/>
          </a:p>
        </p:txBody>
      </p:sp>
      <p:cxnSp>
        <p:nvCxnSpPr>
          <p:cNvPr id="271" name="Google Shape;271;p7"/>
          <p:cNvCxnSpPr/>
          <p:nvPr/>
        </p:nvCxnSpPr>
        <p:spPr>
          <a:xfrm>
            <a:off x="502920" y="6473952"/>
            <a:ext cx="11183100" cy="0"/>
          </a:xfrm>
          <a:prstGeom prst="straightConnector1">
            <a:avLst/>
          </a:prstGeom>
          <a:noFill/>
          <a:ln w="9525" cap="flat" cmpd="sng">
            <a:solidFill>
              <a:srgbClr val="CFD5DC"/>
            </a:solidFill>
            <a:prstDash val="solid"/>
            <a:round/>
            <a:headEnd type="none" w="sm" len="sm"/>
            <a:tailEnd type="none" w="sm" len="sm"/>
          </a:ln>
        </p:spPr>
      </p:cxnSp>
      <p:sp>
        <p:nvSpPr>
          <p:cNvPr id="272" name="Google Shape;272;p7"/>
          <p:cNvSpPr txBox="1"/>
          <p:nvPr/>
        </p:nvSpPr>
        <p:spPr>
          <a:xfrm>
            <a:off x="530352" y="6519672"/>
            <a:ext cx="9692700" cy="1260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“Pushing the Limits of All-Atom Geometric Graph Neural Networks: Pre-Training, Scaling and Zero-Shot Transfer,” ICLR 2025, appendix. Histidine residues, HomologyTAPE validation set; color: 1D t-SNE of backbone and side-chain angles.</a:t>
            </a:r>
          </a:p>
        </p:txBody>
      </p:sp>
      <p:sp>
        <p:nvSpPr>
          <p:cNvPr id="273" name="Google Shape;273;p7"/>
          <p:cNvSpPr txBox="1"/>
          <p:nvPr/>
        </p:nvSpPr>
        <p:spPr>
          <a:xfrm>
            <a:off x="10424160" y="6510528"/>
            <a:ext cx="1216200" cy="18300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07 / 37</a:t>
            </a:r>
            <a:endParaRPr/>
          </a:p>
        </p:txBody>
      </p:sp>
      <p:pic>
        <p:nvPicPr>
          <p:cNvPr id="5001" name="tsne_his.png" descr="t-SNE of histidine residues: backbone and side-chain angles, pretrained ViSNet embedding, and untrained embedding; colors from the angle projection"/>
          <p:cNvPicPr>
            <a:picLocks noChangeAspect="1"/>
          </p:cNvPicPr>
          <p:nvPr/>
        </p:nvPicPr>
        <p:blipFill>
          <a:blip r:embed="rId3"/>
          <a:stretch>
            <a:fillRect/>
          </a:stretch>
        </p:blipFill>
        <p:spPr>
          <a:xfrm>
            <a:off x="457200" y="1783080"/>
            <a:ext cx="6675120" cy="2053483"/>
          </a:xfrm>
          <a:prstGeom prst="rect">
            <a:avLst/>
          </a:prstGeom>
        </p:spPr>
      </p:pic>
      <p:sp>
        <p:nvSpPr>
          <p:cNvPr id="5002" name="Text 5002"/>
          <p:cNvSpPr txBox="1"/>
          <p:nvPr/>
        </p:nvSpPr>
        <p:spPr>
          <a:xfrm>
            <a:off x="685800" y="1417320"/>
            <a:ext cx="2042160" cy="32004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350" b="1" i="0" u="none" strike="noStrike" cap="none">
                <a:solidFill>
                  <a:srgbClr val="21252B"/>
                </a:solidFill>
                <a:latin typeface="Arial"/>
                <a:ea typeface="Arial"/>
                <a:cs typeface="Arial"/>
                <a:sym typeface="Arial"/>
              </a:rPr>
              <a:t>Angles (φ, ψ, χ)</a:t>
            </a:r>
          </a:p>
        </p:txBody>
      </p:sp>
      <p:sp>
        <p:nvSpPr>
          <p:cNvPr id="5003" name="Text 5003"/>
          <p:cNvSpPr txBox="1"/>
          <p:nvPr/>
        </p:nvSpPr>
        <p:spPr>
          <a:xfrm>
            <a:off x="2910840" y="1417320"/>
            <a:ext cx="2042160" cy="32004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350" b="1" i="0" u="none" strike="noStrike" cap="none">
                <a:solidFill>
                  <a:srgbClr val="245D68"/>
                </a:solidFill>
                <a:latin typeface="Arial"/>
                <a:ea typeface="Arial"/>
                <a:cs typeface="Arial"/>
                <a:sym typeface="Arial"/>
              </a:rPr>
              <a:t>Pretrained embedding</a:t>
            </a:r>
          </a:p>
        </p:txBody>
      </p:sp>
      <p:sp>
        <p:nvSpPr>
          <p:cNvPr id="5004" name="Text 5004"/>
          <p:cNvSpPr txBox="1"/>
          <p:nvPr/>
        </p:nvSpPr>
        <p:spPr>
          <a:xfrm>
            <a:off x="5135880" y="1417320"/>
            <a:ext cx="2042160" cy="32004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350" b="1" i="0" u="none" strike="noStrike" cap="none">
                <a:solidFill>
                  <a:srgbClr val="59616B"/>
                </a:solidFill>
                <a:latin typeface="Arial"/>
                <a:ea typeface="Arial"/>
                <a:cs typeface="Arial"/>
                <a:sym typeface="Arial"/>
              </a:rPr>
              <a:t>Untrained embedding</a:t>
            </a:r>
          </a:p>
        </p:txBody>
      </p:sp>
      <p:sp>
        <p:nvSpPr>
          <p:cNvPr id="5005" name="Text 5005"/>
          <p:cNvSpPr txBox="1"/>
          <p:nvPr/>
        </p:nvSpPr>
        <p:spPr>
          <a:xfrm>
            <a:off x="640080" y="3928003"/>
            <a:ext cx="1996440" cy="91440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Clusters by construction: the reference.</a:t>
            </a:r>
          </a:p>
        </p:txBody>
      </p:sp>
      <p:sp>
        <p:nvSpPr>
          <p:cNvPr id="5006" name="Text 5006"/>
          <p:cNvSpPr txBox="1"/>
          <p:nvPr/>
        </p:nvSpPr>
        <p:spPr>
          <a:xfrm>
            <a:off x="2865120" y="3928003"/>
            <a:ext cx="1996440" cy="91440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The same color groups stay together as compact clusters.</a:t>
            </a:r>
          </a:p>
        </p:txBody>
      </p:sp>
      <p:sp>
        <p:nvSpPr>
          <p:cNvPr id="5007" name="Text 5007"/>
          <p:cNvSpPr txBox="1"/>
          <p:nvPr/>
        </p:nvSpPr>
        <p:spPr>
          <a:xfrm>
            <a:off x="5090160" y="3928003"/>
            <a:ext cx="1996440" cy="91440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Groups overlap; the structure comes from pretraining.</a:t>
            </a:r>
          </a:p>
        </p:txBody>
      </p:sp>
      <p:sp>
        <p:nvSpPr>
          <p:cNvPr id="5008" name="Text 5008"/>
          <p:cNvSpPr txBox="1"/>
          <p:nvPr/>
        </p:nvSpPr>
        <p:spPr>
          <a:xfrm>
            <a:off x="548640" y="4796683"/>
            <a:ext cx="6492240" cy="109728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0" i="0" u="none" strike="noStrike" cap="none">
                <a:solidFill>
                  <a:srgbClr val="21252B"/>
                </a:solidFill>
                <a:latin typeface="Arial"/>
                <a:ea typeface="Arial"/>
                <a:cs typeface="Arial"/>
                <a:sym typeface="Arial"/>
              </a:rPr>
              <a:t>The encoder never saw these angles: it was pretrained only to denoise coordinates of small molecules, yet residues with similar backbone and side-chain geometry map to nearby embeddings.</a:t>
            </a:r>
          </a:p>
        </p:txBody>
      </p:sp>
      <p:pic>
        <p:nvPicPr>
          <p:cNvPr id="5009" name="tsne_his_structures.png" descr="Pretrained t-SNE map of histidine residues with representative structures for each cluster; outliers are fragments from preprocessing errors"/>
          <p:cNvPicPr>
            <a:picLocks noChangeAspect="1"/>
          </p:cNvPicPr>
          <p:nvPr/>
        </p:nvPicPr>
        <p:blipFill>
          <a:blip r:embed="rId4"/>
          <a:stretch>
            <a:fillRect/>
          </a:stretch>
        </p:blipFill>
        <p:spPr>
          <a:xfrm>
            <a:off x="7498080" y="1371600"/>
            <a:ext cx="4114800" cy="3746235"/>
          </a:xfrm>
          <a:prstGeom prst="rect">
            <a:avLst/>
          </a:prstGeom>
        </p:spPr>
      </p:pic>
      <p:sp>
        <p:nvSpPr>
          <p:cNvPr id="5010" name="Text 5010"/>
          <p:cNvSpPr txBox="1"/>
          <p:nvPr/>
        </p:nvSpPr>
        <p:spPr>
          <a:xfrm>
            <a:off x="7543800" y="5190987"/>
            <a:ext cx="4069080" cy="73152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Each cluster is one side-chain conformation. Isolated points (circled) are broken fragments from dataset preprocessing errors.</a:t>
            </a:r>
          </a:p>
        </p:txBody>
      </p:sp>
      <p:sp>
        <p:nvSpPr>
          <p:cNvPr id="5011" name="Shape 5011"/>
          <p:cNvSpPr/>
          <p:nvPr/>
        </p:nvSpPr>
        <p:spPr>
          <a:xfrm>
            <a:off x="502920" y="5971032"/>
            <a:ext cx="11155680" cy="356616"/>
          </a:xfrm>
          <a:prstGeom prst="rect">
            <a:avLst/>
          </a:prstGeom>
          <a:solidFill>
            <a:srgbClr val="EFF5F6"/>
          </a:solidFill>
          <a:ln>
            <a:noFill/>
          </a:ln>
        </p:spPr>
        <p:txBody>
          <a:bodyPr spcFirstLastPara="1" wrap="square" lIns="45720" tIns="0" rIns="45720" bIns="0" anchor="ctr" anchorCtr="0">
            <a:noAutofit/>
          </a:bodyPr>
          <a:lstStyle/>
          <a:p>
            <a:pPr marL="0" marR="0" lvl="0" indent="0" algn="l" rtl="0">
              <a:lnSpc>
                <a:spcPct val="108000"/>
              </a:lnSpc>
              <a:spcBef>
                <a:spcPts val="0"/>
              </a:spcBef>
              <a:spcAft>
                <a:spcPts val="0"/>
              </a:spcAft>
              <a:buNone/>
            </a:pPr>
            <a:r>
              <a:rPr lang="en-US" sz="1550" b="1" i="0" u="none" strike="noStrike" cap="none">
                <a:solidFill>
                  <a:srgbClr val="245D68"/>
                </a:solidFill>
                <a:latin typeface="Arial"/>
                <a:ea typeface="Arial"/>
                <a:cs typeface="Arial"/>
                <a:sym typeface="Arial"/>
              </a:rPr>
              <a:t>Denoising pretraining alone yields features that resolve residue conformation, the input the kinetic models build 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7"/>
        <p:cNvGrpSpPr/>
        <p:nvPr/>
      </p:nvGrpSpPr>
      <p:grpSpPr>
        <a:xfrm>
          <a:off x="0" y="0"/>
          <a:ext cx="0" cy="0"/>
          <a:chOff x="0" y="0"/>
          <a:chExt cx="0" cy="0"/>
        </a:xfrm>
      </p:grpSpPr>
      <p:sp>
        <p:nvSpPr>
          <p:cNvPr id="288" name="Google Shape;288;p8"/>
          <p:cNvSpPr txBox="1"/>
          <p:nvPr/>
        </p:nvSpPr>
        <p:spPr>
          <a:xfrm>
            <a:off x="521207" y="292608"/>
            <a:ext cx="10058400" cy="1617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1050" b="1">
                <a:solidFill>
                  <a:srgbClr val="245D68"/>
                </a:solidFill>
                <a:latin typeface="Arial"/>
                <a:ea typeface="Arial"/>
                <a:cs typeface="Arial"/>
                <a:sym typeface="Arial"/>
              </a:rPr>
              <a:t>LEARNING FROM MD</a:t>
            </a:r>
            <a:endParaRPr sz="1050" b="1">
              <a:solidFill>
                <a:srgbClr val="245D68"/>
              </a:solidFill>
              <a:latin typeface="Arial"/>
              <a:ea typeface="Arial"/>
              <a:cs typeface="Arial"/>
              <a:sym typeface="Arial"/>
            </a:endParaRPr>
          </a:p>
        </p:txBody>
      </p:sp>
      <p:sp>
        <p:nvSpPr>
          <p:cNvPr id="289" name="Google Shape;289;p8"/>
          <p:cNvSpPr txBox="1"/>
          <p:nvPr/>
        </p:nvSpPr>
        <p:spPr>
          <a:xfrm>
            <a:off x="502920" y="658368"/>
            <a:ext cx="11119200" cy="4311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2950" b="1">
                <a:solidFill>
                  <a:srgbClr val="1E293B"/>
                </a:solidFill>
                <a:latin typeface="Arial"/>
                <a:ea typeface="Arial"/>
                <a:cs typeface="Arial"/>
                <a:sym typeface="Arial"/>
              </a:rPr>
              <a:t>Time-lagged learning asks which distinctions persist</a:t>
            </a:r>
            <a:endParaRPr sz="2800" b="1">
              <a:solidFill>
                <a:srgbClr val="1E293B"/>
              </a:solidFill>
              <a:latin typeface="Arial"/>
              <a:ea typeface="Arial"/>
              <a:cs typeface="Arial"/>
              <a:sym typeface="Arial"/>
            </a:endParaRPr>
          </a:p>
        </p:txBody>
      </p:sp>
      <p:cxnSp>
        <p:nvCxnSpPr>
          <p:cNvPr id="290" name="Google Shape;290;p8"/>
          <p:cNvCxnSpPr/>
          <p:nvPr/>
        </p:nvCxnSpPr>
        <p:spPr>
          <a:xfrm>
            <a:off x="502920" y="6473952"/>
            <a:ext cx="11183100" cy="0"/>
          </a:xfrm>
          <a:prstGeom prst="straightConnector1">
            <a:avLst/>
          </a:prstGeom>
          <a:noFill/>
          <a:ln w="9525" cap="flat" cmpd="sng">
            <a:solidFill>
              <a:srgbClr val="CFD5DC"/>
            </a:solidFill>
            <a:prstDash val="solid"/>
            <a:round/>
            <a:headEnd type="none" w="sm" len="sm"/>
            <a:tailEnd type="none" w="sm" len="sm"/>
          </a:ln>
        </p:spPr>
      </p:cxnSp>
      <p:sp>
        <p:nvSpPr>
          <p:cNvPr id="291" name="Google Shape;291;p8"/>
          <p:cNvSpPr txBox="1"/>
          <p:nvPr/>
        </p:nvSpPr>
        <p:spPr>
          <a:xfrm>
            <a:off x="530352" y="6519672"/>
            <a:ext cx="9692700" cy="1308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850" b="0">
                <a:solidFill>
                  <a:srgbClr val="64748B"/>
                </a:solidFill>
                <a:latin typeface="Arial"/>
                <a:ea typeface="Arial"/>
                <a:cs typeface="Arial"/>
                <a:sym typeface="Arial"/>
              </a:rPr>
              <a:t>Time-based split as in Pengmei et al., J. Chem. Phys. 162, 044107 (2025)</a:t>
            </a:r>
            <a:endParaRPr sz="850" b="0">
              <a:solidFill>
                <a:srgbClr val="64748B"/>
              </a:solidFill>
              <a:latin typeface="Arial"/>
              <a:ea typeface="Arial"/>
              <a:cs typeface="Arial"/>
              <a:sym typeface="Arial"/>
            </a:endParaRPr>
          </a:p>
        </p:txBody>
      </p:sp>
      <p:sp>
        <p:nvSpPr>
          <p:cNvPr id="292" name="Google Shape;292;p8"/>
          <p:cNvSpPr txBox="1"/>
          <p:nvPr/>
        </p:nvSpPr>
        <p:spPr>
          <a:xfrm>
            <a:off x="10424160" y="6510528"/>
            <a:ext cx="1216200" cy="146100"/>
          </a:xfrm>
          <a:prstGeom prst="rect">
            <a:avLst/>
          </a:prstGeom>
          <a:solidFill>
            <a:srgbClr val="000000">
              <a:alpha val="0"/>
            </a:srgbClr>
          </a:solidFill>
          <a:ln>
            <a:noFill/>
          </a:ln>
        </p:spPr>
        <p:txBody>
          <a:bodyPr spcFirstLastPara="1" wrap="square" lIns="0" tIns="0" rIns="0" bIns="0" anchor="t" anchorCtr="0">
            <a:spAutoFit/>
          </a:bodyPr>
          <a:lstStyle/>
          <a:p>
            <a:pPr marL="0" lvl="0" indent="0" algn="r" rtl="0">
              <a:spcBef>
                <a:spcPts val="0"/>
              </a:spcBef>
              <a:spcAft>
                <a:spcPts val="0"/>
              </a:spcAft>
              <a:buNone/>
            </a:pPr>
            <a:r>
              <a:rPr lang="en-US" sz="950" b="0">
                <a:solidFill>
                  <a:srgbClr val="64748B"/>
                </a:solidFill>
                <a:latin typeface="Arial"/>
                <a:ea typeface="Arial"/>
                <a:cs typeface="Arial"/>
                <a:sym typeface="Arial"/>
              </a:rPr>
              <a:t>08 / 37</a:t>
            </a:r>
            <a:endParaRPr sz="950" b="0">
              <a:solidFill>
                <a:srgbClr val="64748B"/>
              </a:solidFill>
              <a:latin typeface="Arial"/>
              <a:ea typeface="Arial"/>
              <a:cs typeface="Arial"/>
              <a:sym typeface="Arial"/>
            </a:endParaRPr>
          </a:p>
        </p:txBody>
      </p:sp>
      <p:sp>
        <p:nvSpPr>
          <p:cNvPr id="293" name="Google Shape;293;p8"/>
          <p:cNvSpPr/>
          <p:nvPr/>
        </p:nvSpPr>
        <p:spPr>
          <a:xfrm>
            <a:off x="649224" y="1883664"/>
            <a:ext cx="2011800" cy="868800"/>
          </a:xfrm>
          <a:prstGeom prst="roundRect">
            <a:avLst>
              <a:gd name="adj" fmla="val 9000"/>
            </a:avLst>
          </a:prstGeom>
          <a:solidFill>
            <a:srgbClr val="F5F6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4" name="Google Shape;294;p8"/>
          <p:cNvSpPr txBox="1"/>
          <p:nvPr/>
        </p:nvSpPr>
        <p:spPr>
          <a:xfrm>
            <a:off x="758952" y="1975104"/>
            <a:ext cx="1792200" cy="511800"/>
          </a:xfrm>
          <a:prstGeom prst="rect">
            <a:avLst/>
          </a:prstGeom>
          <a:solidFill>
            <a:srgbClr val="000000">
              <a:alpha val="0"/>
            </a:srgbClr>
          </a:solidFill>
          <a:ln>
            <a:noFill/>
          </a:ln>
        </p:spPr>
        <p:txBody>
          <a:bodyPr spcFirstLastPara="1" wrap="square" lIns="0" tIns="0" rIns="0" bIns="0" anchor="ctr" anchorCtr="0">
            <a:spAutoFit/>
          </a:bodyPr>
          <a:lstStyle/>
          <a:p>
            <a:pPr marL="0" lvl="0" indent="0" algn="ctr" rtl="0">
              <a:spcBef>
                <a:spcPts val="0"/>
              </a:spcBef>
              <a:spcAft>
                <a:spcPts val="0"/>
              </a:spcAft>
              <a:buNone/>
            </a:pPr>
            <a:r>
              <a:rPr lang="en-US" sz="1700" b="0">
                <a:solidFill>
                  <a:srgbClr val="1E293B"/>
                </a:solidFill>
                <a:latin typeface="Arial"/>
                <a:ea typeface="Arial"/>
                <a:cs typeface="Arial"/>
                <a:sym typeface="Arial"/>
              </a:rPr>
              <a:t>Configuration</a:t>
            </a:r>
            <a:endParaRPr sz="1700" b="0">
              <a:solidFill>
                <a:srgbClr val="1E293B"/>
              </a:solidFill>
              <a:latin typeface="Arial"/>
              <a:ea typeface="Arial"/>
              <a:cs typeface="Arial"/>
              <a:sym typeface="Arial"/>
            </a:endParaRPr>
          </a:p>
          <a:p>
            <a:pPr marL="0" lvl="0" indent="0" algn="ctr" rtl="0">
              <a:spcBef>
                <a:spcPts val="150"/>
              </a:spcBef>
              <a:spcAft>
                <a:spcPts val="0"/>
              </a:spcAft>
              <a:buNone/>
            </a:pPr>
            <a:r>
              <a:rPr lang="en-US" sz="1500" b="0">
                <a:solidFill>
                  <a:srgbClr val="475569"/>
                </a:solidFill>
                <a:latin typeface="Arial"/>
                <a:ea typeface="Arial"/>
                <a:cs typeface="Arial"/>
                <a:sym typeface="Arial"/>
              </a:rPr>
              <a:t>X(t)</a:t>
            </a:r>
            <a:endParaRPr sz="1500" b="0">
              <a:solidFill>
                <a:srgbClr val="475569"/>
              </a:solidFill>
              <a:latin typeface="Arial"/>
              <a:ea typeface="Arial"/>
              <a:cs typeface="Arial"/>
              <a:sym typeface="Arial"/>
            </a:endParaRPr>
          </a:p>
        </p:txBody>
      </p:sp>
      <p:sp>
        <p:nvSpPr>
          <p:cNvPr id="295" name="Google Shape;295;p8"/>
          <p:cNvSpPr/>
          <p:nvPr/>
        </p:nvSpPr>
        <p:spPr>
          <a:xfrm>
            <a:off x="3246120" y="1883664"/>
            <a:ext cx="2286000" cy="868800"/>
          </a:xfrm>
          <a:prstGeom prst="roundRect">
            <a:avLst>
              <a:gd name="adj" fmla="val 9000"/>
            </a:avLst>
          </a:prstGeom>
          <a:solidFill>
            <a:srgbClr val="F6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6" name="Google Shape;296;p8"/>
          <p:cNvSpPr txBox="1"/>
          <p:nvPr/>
        </p:nvSpPr>
        <p:spPr>
          <a:xfrm>
            <a:off x="3355848" y="1975104"/>
            <a:ext cx="2066400" cy="511800"/>
          </a:xfrm>
          <a:prstGeom prst="rect">
            <a:avLst/>
          </a:prstGeom>
          <a:solidFill>
            <a:srgbClr val="000000">
              <a:alpha val="0"/>
            </a:srgbClr>
          </a:solidFill>
          <a:ln>
            <a:noFill/>
          </a:ln>
        </p:spPr>
        <p:txBody>
          <a:bodyPr spcFirstLastPara="1" wrap="square" lIns="0" tIns="0" rIns="0" bIns="0" anchor="ctr" anchorCtr="0">
            <a:spAutoFit/>
          </a:bodyPr>
          <a:lstStyle/>
          <a:p>
            <a:pPr marL="0" lvl="0" indent="0" algn="ctr" rtl="0">
              <a:spcBef>
                <a:spcPts val="0"/>
              </a:spcBef>
              <a:spcAft>
                <a:spcPts val="0"/>
              </a:spcAft>
              <a:buNone/>
            </a:pPr>
            <a:r>
              <a:rPr lang="en-US" sz="1700" b="0">
                <a:solidFill>
                  <a:srgbClr val="1E293B"/>
                </a:solidFill>
                <a:latin typeface="Arial"/>
                <a:ea typeface="Arial"/>
                <a:cs typeface="Arial"/>
                <a:sym typeface="Arial"/>
              </a:rPr>
              <a:t>Geometric encoder</a:t>
            </a:r>
            <a:endParaRPr sz="1700" b="0">
              <a:solidFill>
                <a:srgbClr val="1E293B"/>
              </a:solidFill>
              <a:latin typeface="Arial"/>
              <a:ea typeface="Arial"/>
              <a:cs typeface="Arial"/>
              <a:sym typeface="Arial"/>
            </a:endParaRPr>
          </a:p>
          <a:p>
            <a:pPr marL="0" lvl="0" indent="0" algn="ctr" rtl="0">
              <a:spcBef>
                <a:spcPts val="150"/>
              </a:spcBef>
              <a:spcAft>
                <a:spcPts val="0"/>
              </a:spcAft>
              <a:buNone/>
            </a:pPr>
            <a:r>
              <a:rPr lang="en-US" sz="1500" b="0">
                <a:solidFill>
                  <a:srgbClr val="800000"/>
                </a:solidFill>
                <a:latin typeface="Arial"/>
                <a:ea typeface="Arial"/>
                <a:cs typeface="Arial"/>
                <a:sym typeface="Arial"/>
              </a:rPr>
              <a:t>h(X)</a:t>
            </a:r>
            <a:endParaRPr sz="1500" b="0">
              <a:solidFill>
                <a:srgbClr val="800000"/>
              </a:solidFill>
              <a:latin typeface="Arial"/>
              <a:ea typeface="Arial"/>
              <a:cs typeface="Arial"/>
              <a:sym typeface="Arial"/>
            </a:endParaRPr>
          </a:p>
        </p:txBody>
      </p:sp>
      <p:sp>
        <p:nvSpPr>
          <p:cNvPr id="297" name="Google Shape;297;p8"/>
          <p:cNvSpPr/>
          <p:nvPr/>
        </p:nvSpPr>
        <p:spPr>
          <a:xfrm>
            <a:off x="6126480" y="1883664"/>
            <a:ext cx="2286000" cy="868800"/>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8" name="Google Shape;298;p8"/>
          <p:cNvSpPr txBox="1"/>
          <p:nvPr/>
        </p:nvSpPr>
        <p:spPr>
          <a:xfrm>
            <a:off x="6236208" y="1975104"/>
            <a:ext cx="2066400" cy="511800"/>
          </a:xfrm>
          <a:prstGeom prst="rect">
            <a:avLst/>
          </a:prstGeom>
          <a:solidFill>
            <a:srgbClr val="000000">
              <a:alpha val="0"/>
            </a:srgbClr>
          </a:solidFill>
          <a:ln>
            <a:noFill/>
          </a:ln>
        </p:spPr>
        <p:txBody>
          <a:bodyPr spcFirstLastPara="1" wrap="square" lIns="0" tIns="0" rIns="0" bIns="0" anchor="ctr" anchorCtr="0">
            <a:spAutoFit/>
          </a:bodyPr>
          <a:lstStyle/>
          <a:p>
            <a:pPr marL="0" lvl="0" indent="0" algn="ctr" rtl="0">
              <a:spcBef>
                <a:spcPts val="0"/>
              </a:spcBef>
              <a:spcAft>
                <a:spcPts val="0"/>
              </a:spcAft>
              <a:buNone/>
            </a:pPr>
            <a:r>
              <a:rPr lang="en-US" sz="1700" b="0">
                <a:solidFill>
                  <a:srgbClr val="1E293B"/>
                </a:solidFill>
                <a:latin typeface="Arial"/>
                <a:ea typeface="Arial"/>
                <a:cs typeface="Arial"/>
                <a:sym typeface="Arial"/>
              </a:rPr>
              <a:t>Kinetic coordinate</a:t>
            </a:r>
            <a:endParaRPr sz="1700" b="0">
              <a:solidFill>
                <a:srgbClr val="1E293B"/>
              </a:solidFill>
              <a:latin typeface="Arial"/>
              <a:ea typeface="Arial"/>
              <a:cs typeface="Arial"/>
              <a:sym typeface="Arial"/>
            </a:endParaRPr>
          </a:p>
          <a:p>
            <a:pPr marL="0" lvl="0" indent="0" algn="ctr" rtl="0">
              <a:spcBef>
                <a:spcPts val="150"/>
              </a:spcBef>
              <a:spcAft>
                <a:spcPts val="0"/>
              </a:spcAft>
              <a:buNone/>
            </a:pPr>
            <a:r>
              <a:rPr lang="en-US" sz="1500" b="0">
                <a:solidFill>
                  <a:srgbClr val="245D68"/>
                </a:solidFill>
                <a:latin typeface="Arial"/>
                <a:ea typeface="Arial"/>
                <a:cs typeface="Arial"/>
                <a:sym typeface="Arial"/>
              </a:rPr>
              <a:t>χ(h(X))</a:t>
            </a:r>
            <a:endParaRPr sz="1500" b="0">
              <a:solidFill>
                <a:srgbClr val="245D68"/>
              </a:solidFill>
              <a:latin typeface="Arial"/>
              <a:ea typeface="Arial"/>
              <a:cs typeface="Arial"/>
              <a:sym typeface="Arial"/>
            </a:endParaRPr>
          </a:p>
        </p:txBody>
      </p:sp>
      <p:cxnSp>
        <p:nvCxnSpPr>
          <p:cNvPr id="299" name="Google Shape;299;p8"/>
          <p:cNvCxnSpPr/>
          <p:nvPr/>
        </p:nvCxnSpPr>
        <p:spPr>
          <a:xfrm>
            <a:off x="2670048" y="2304288"/>
            <a:ext cx="548700" cy="0"/>
          </a:xfrm>
          <a:prstGeom prst="straightConnector1">
            <a:avLst/>
          </a:prstGeom>
          <a:noFill/>
          <a:ln w="19050" cap="flat" cmpd="sng">
            <a:solidFill>
              <a:srgbClr val="59616B"/>
            </a:solidFill>
            <a:prstDash val="solid"/>
            <a:round/>
            <a:headEnd type="none" w="sm" len="sm"/>
            <a:tailEnd type="triangle" w="sm" len="sm"/>
          </a:ln>
        </p:spPr>
      </p:cxnSp>
      <p:cxnSp>
        <p:nvCxnSpPr>
          <p:cNvPr id="300" name="Google Shape;300;p8"/>
          <p:cNvCxnSpPr/>
          <p:nvPr/>
        </p:nvCxnSpPr>
        <p:spPr>
          <a:xfrm>
            <a:off x="5550408" y="2304288"/>
            <a:ext cx="548700" cy="0"/>
          </a:xfrm>
          <a:prstGeom prst="straightConnector1">
            <a:avLst/>
          </a:prstGeom>
          <a:noFill/>
          <a:ln w="19050" cap="flat" cmpd="sng">
            <a:solidFill>
              <a:srgbClr val="59616B"/>
            </a:solidFill>
            <a:prstDash val="solid"/>
            <a:round/>
            <a:headEnd type="none" w="sm" len="sm"/>
            <a:tailEnd type="triangle" w="sm" len="sm"/>
          </a:ln>
        </p:spPr>
      </p:cxnSp>
      <p:sp>
        <p:nvSpPr>
          <p:cNvPr id="301" name="Google Shape;301;p8"/>
          <p:cNvSpPr/>
          <p:nvPr/>
        </p:nvSpPr>
        <p:spPr>
          <a:xfrm>
            <a:off x="649224" y="3739896"/>
            <a:ext cx="2011800" cy="868800"/>
          </a:xfrm>
          <a:prstGeom prst="roundRect">
            <a:avLst>
              <a:gd name="adj" fmla="val 9000"/>
            </a:avLst>
          </a:prstGeom>
          <a:solidFill>
            <a:srgbClr val="F5F6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2" name="Google Shape;302;p8"/>
          <p:cNvSpPr txBox="1"/>
          <p:nvPr/>
        </p:nvSpPr>
        <p:spPr>
          <a:xfrm>
            <a:off x="758952" y="3831336"/>
            <a:ext cx="1792200" cy="511800"/>
          </a:xfrm>
          <a:prstGeom prst="rect">
            <a:avLst/>
          </a:prstGeom>
          <a:solidFill>
            <a:srgbClr val="000000">
              <a:alpha val="0"/>
            </a:srgbClr>
          </a:solidFill>
          <a:ln>
            <a:noFill/>
          </a:ln>
        </p:spPr>
        <p:txBody>
          <a:bodyPr spcFirstLastPara="1" wrap="square" lIns="0" tIns="0" rIns="0" bIns="0" anchor="ctr" anchorCtr="0">
            <a:spAutoFit/>
          </a:bodyPr>
          <a:lstStyle/>
          <a:p>
            <a:pPr marL="0" lvl="0" indent="0" algn="ctr" rtl="0">
              <a:spcBef>
                <a:spcPts val="0"/>
              </a:spcBef>
              <a:spcAft>
                <a:spcPts val="0"/>
              </a:spcAft>
              <a:buNone/>
            </a:pPr>
            <a:r>
              <a:rPr lang="en-US" sz="1700" b="0">
                <a:solidFill>
                  <a:srgbClr val="1E293B"/>
                </a:solidFill>
                <a:latin typeface="Arial"/>
                <a:ea typeface="Arial"/>
                <a:cs typeface="Arial"/>
                <a:sym typeface="Arial"/>
              </a:rPr>
              <a:t>Configuration</a:t>
            </a:r>
            <a:endParaRPr sz="1700" b="0">
              <a:solidFill>
                <a:srgbClr val="1E293B"/>
              </a:solidFill>
              <a:latin typeface="Arial"/>
              <a:ea typeface="Arial"/>
              <a:cs typeface="Arial"/>
              <a:sym typeface="Arial"/>
            </a:endParaRPr>
          </a:p>
          <a:p>
            <a:pPr marL="0" lvl="0" indent="0" algn="ctr" rtl="0">
              <a:spcBef>
                <a:spcPts val="150"/>
              </a:spcBef>
              <a:spcAft>
                <a:spcPts val="0"/>
              </a:spcAft>
              <a:buNone/>
            </a:pPr>
            <a:r>
              <a:rPr lang="en-US" sz="1500" b="0">
                <a:solidFill>
                  <a:srgbClr val="475569"/>
                </a:solidFill>
                <a:latin typeface="Arial"/>
                <a:ea typeface="Arial"/>
                <a:cs typeface="Arial"/>
                <a:sym typeface="Arial"/>
              </a:rPr>
              <a:t>X(t + τ)</a:t>
            </a:r>
            <a:endParaRPr sz="1500" b="0">
              <a:solidFill>
                <a:srgbClr val="475569"/>
              </a:solidFill>
              <a:latin typeface="Arial"/>
              <a:ea typeface="Arial"/>
              <a:cs typeface="Arial"/>
              <a:sym typeface="Arial"/>
            </a:endParaRPr>
          </a:p>
        </p:txBody>
      </p:sp>
      <p:sp>
        <p:nvSpPr>
          <p:cNvPr id="303" name="Google Shape;303;p8"/>
          <p:cNvSpPr/>
          <p:nvPr/>
        </p:nvSpPr>
        <p:spPr>
          <a:xfrm>
            <a:off x="3246120" y="3739896"/>
            <a:ext cx="2286000" cy="868800"/>
          </a:xfrm>
          <a:prstGeom prst="roundRect">
            <a:avLst>
              <a:gd name="adj" fmla="val 9000"/>
            </a:avLst>
          </a:prstGeom>
          <a:solidFill>
            <a:srgbClr val="F6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4" name="Google Shape;304;p8"/>
          <p:cNvSpPr txBox="1"/>
          <p:nvPr/>
        </p:nvSpPr>
        <p:spPr>
          <a:xfrm>
            <a:off x="3355848" y="3831336"/>
            <a:ext cx="2066400" cy="511800"/>
          </a:xfrm>
          <a:prstGeom prst="rect">
            <a:avLst/>
          </a:prstGeom>
          <a:solidFill>
            <a:srgbClr val="000000">
              <a:alpha val="0"/>
            </a:srgbClr>
          </a:solidFill>
          <a:ln>
            <a:noFill/>
          </a:ln>
        </p:spPr>
        <p:txBody>
          <a:bodyPr spcFirstLastPara="1" wrap="square" lIns="0" tIns="0" rIns="0" bIns="0" anchor="ctr" anchorCtr="0">
            <a:spAutoFit/>
          </a:bodyPr>
          <a:lstStyle/>
          <a:p>
            <a:pPr marL="0" lvl="0" indent="0" algn="ctr" rtl="0">
              <a:spcBef>
                <a:spcPts val="0"/>
              </a:spcBef>
              <a:spcAft>
                <a:spcPts val="0"/>
              </a:spcAft>
              <a:buNone/>
            </a:pPr>
            <a:r>
              <a:rPr lang="en-US" sz="1700" b="0">
                <a:solidFill>
                  <a:srgbClr val="1E293B"/>
                </a:solidFill>
                <a:latin typeface="Arial"/>
                <a:ea typeface="Arial"/>
                <a:cs typeface="Arial"/>
                <a:sym typeface="Arial"/>
              </a:rPr>
              <a:t>Geometric encoder</a:t>
            </a:r>
            <a:endParaRPr sz="1700" b="0">
              <a:solidFill>
                <a:srgbClr val="1E293B"/>
              </a:solidFill>
              <a:latin typeface="Arial"/>
              <a:ea typeface="Arial"/>
              <a:cs typeface="Arial"/>
              <a:sym typeface="Arial"/>
            </a:endParaRPr>
          </a:p>
          <a:p>
            <a:pPr marL="0" lvl="0" indent="0" algn="ctr" rtl="0">
              <a:spcBef>
                <a:spcPts val="150"/>
              </a:spcBef>
              <a:spcAft>
                <a:spcPts val="0"/>
              </a:spcAft>
              <a:buNone/>
            </a:pPr>
            <a:r>
              <a:rPr lang="en-US" sz="1500" b="0">
                <a:solidFill>
                  <a:srgbClr val="800000"/>
                </a:solidFill>
                <a:latin typeface="Arial"/>
                <a:ea typeface="Arial"/>
                <a:cs typeface="Arial"/>
                <a:sym typeface="Arial"/>
              </a:rPr>
              <a:t>h(X)</a:t>
            </a:r>
            <a:endParaRPr sz="1500" b="0">
              <a:solidFill>
                <a:srgbClr val="800000"/>
              </a:solidFill>
              <a:latin typeface="Arial"/>
              <a:ea typeface="Arial"/>
              <a:cs typeface="Arial"/>
              <a:sym typeface="Arial"/>
            </a:endParaRPr>
          </a:p>
        </p:txBody>
      </p:sp>
      <p:sp>
        <p:nvSpPr>
          <p:cNvPr id="305" name="Google Shape;305;p8"/>
          <p:cNvSpPr/>
          <p:nvPr/>
        </p:nvSpPr>
        <p:spPr>
          <a:xfrm>
            <a:off x="6126480" y="3739896"/>
            <a:ext cx="2286000" cy="868800"/>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6" name="Google Shape;306;p8"/>
          <p:cNvSpPr txBox="1"/>
          <p:nvPr/>
        </p:nvSpPr>
        <p:spPr>
          <a:xfrm>
            <a:off x="6236208" y="3831336"/>
            <a:ext cx="2066400" cy="511800"/>
          </a:xfrm>
          <a:prstGeom prst="rect">
            <a:avLst/>
          </a:prstGeom>
          <a:solidFill>
            <a:srgbClr val="000000">
              <a:alpha val="0"/>
            </a:srgbClr>
          </a:solidFill>
          <a:ln>
            <a:noFill/>
          </a:ln>
        </p:spPr>
        <p:txBody>
          <a:bodyPr spcFirstLastPara="1" wrap="square" lIns="0" tIns="0" rIns="0" bIns="0" anchor="ctr" anchorCtr="0">
            <a:spAutoFit/>
          </a:bodyPr>
          <a:lstStyle/>
          <a:p>
            <a:pPr marL="0" lvl="0" indent="0" algn="ctr" rtl="0">
              <a:spcBef>
                <a:spcPts val="0"/>
              </a:spcBef>
              <a:spcAft>
                <a:spcPts val="0"/>
              </a:spcAft>
              <a:buNone/>
            </a:pPr>
            <a:r>
              <a:rPr lang="en-US" sz="1700" b="0">
                <a:solidFill>
                  <a:srgbClr val="1E293B"/>
                </a:solidFill>
                <a:latin typeface="Arial"/>
                <a:ea typeface="Arial"/>
                <a:cs typeface="Arial"/>
                <a:sym typeface="Arial"/>
              </a:rPr>
              <a:t>Kinetic coordinate</a:t>
            </a:r>
            <a:endParaRPr sz="1700" b="0">
              <a:solidFill>
                <a:srgbClr val="1E293B"/>
              </a:solidFill>
              <a:latin typeface="Arial"/>
              <a:ea typeface="Arial"/>
              <a:cs typeface="Arial"/>
              <a:sym typeface="Arial"/>
            </a:endParaRPr>
          </a:p>
          <a:p>
            <a:pPr marL="0" lvl="0" indent="0" algn="ctr" rtl="0">
              <a:spcBef>
                <a:spcPts val="150"/>
              </a:spcBef>
              <a:spcAft>
                <a:spcPts val="0"/>
              </a:spcAft>
              <a:buNone/>
            </a:pPr>
            <a:r>
              <a:rPr lang="en-US" sz="1500" b="0">
                <a:solidFill>
                  <a:srgbClr val="245D68"/>
                </a:solidFill>
                <a:latin typeface="Arial"/>
                <a:ea typeface="Arial"/>
                <a:cs typeface="Arial"/>
                <a:sym typeface="Arial"/>
              </a:rPr>
              <a:t>χ(h(X))</a:t>
            </a:r>
            <a:endParaRPr sz="1500" b="0">
              <a:solidFill>
                <a:srgbClr val="245D68"/>
              </a:solidFill>
              <a:latin typeface="Arial"/>
              <a:ea typeface="Arial"/>
              <a:cs typeface="Arial"/>
              <a:sym typeface="Arial"/>
            </a:endParaRPr>
          </a:p>
        </p:txBody>
      </p:sp>
      <p:cxnSp>
        <p:nvCxnSpPr>
          <p:cNvPr id="307" name="Google Shape;307;p8"/>
          <p:cNvCxnSpPr/>
          <p:nvPr/>
        </p:nvCxnSpPr>
        <p:spPr>
          <a:xfrm>
            <a:off x="2670048" y="4160520"/>
            <a:ext cx="548700" cy="0"/>
          </a:xfrm>
          <a:prstGeom prst="straightConnector1">
            <a:avLst/>
          </a:prstGeom>
          <a:noFill/>
          <a:ln w="19050" cap="flat" cmpd="sng">
            <a:solidFill>
              <a:srgbClr val="59616B"/>
            </a:solidFill>
            <a:prstDash val="solid"/>
            <a:round/>
            <a:headEnd type="none" w="sm" len="sm"/>
            <a:tailEnd type="triangle" w="sm" len="sm"/>
          </a:ln>
        </p:spPr>
      </p:cxnSp>
      <p:cxnSp>
        <p:nvCxnSpPr>
          <p:cNvPr id="308" name="Google Shape;308;p8"/>
          <p:cNvCxnSpPr/>
          <p:nvPr/>
        </p:nvCxnSpPr>
        <p:spPr>
          <a:xfrm>
            <a:off x="5550408" y="4160520"/>
            <a:ext cx="548700" cy="0"/>
          </a:xfrm>
          <a:prstGeom prst="straightConnector1">
            <a:avLst/>
          </a:prstGeom>
          <a:noFill/>
          <a:ln w="19050" cap="flat" cmpd="sng">
            <a:solidFill>
              <a:srgbClr val="59616B"/>
            </a:solidFill>
            <a:prstDash val="solid"/>
            <a:round/>
            <a:headEnd type="none" w="sm" len="sm"/>
            <a:tailEnd type="triangle" w="sm" len="sm"/>
          </a:ln>
        </p:spPr>
      </p:cxnSp>
      <p:sp>
        <p:nvSpPr>
          <p:cNvPr id="309" name="Google Shape;309;p8"/>
          <p:cNvSpPr/>
          <p:nvPr/>
        </p:nvSpPr>
        <p:spPr>
          <a:xfrm>
            <a:off x="9326880" y="2779776"/>
            <a:ext cx="2130600" cy="905400"/>
          </a:xfrm>
          <a:prstGeom prst="roundRect">
            <a:avLst>
              <a:gd name="adj" fmla="val 9000"/>
            </a:avLst>
          </a:prstGeom>
          <a:solidFill>
            <a:srgbClr val="F5F6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0" name="Google Shape;310;p8"/>
          <p:cNvSpPr txBox="1"/>
          <p:nvPr/>
        </p:nvSpPr>
        <p:spPr>
          <a:xfrm>
            <a:off x="9436608" y="2871216"/>
            <a:ext cx="1911000" cy="558000"/>
          </a:xfrm>
          <a:prstGeom prst="rect">
            <a:avLst/>
          </a:prstGeom>
          <a:solidFill>
            <a:srgbClr val="000000">
              <a:alpha val="0"/>
            </a:srgbClr>
          </a:solidFill>
          <a:ln>
            <a:noFill/>
          </a:ln>
        </p:spPr>
        <p:txBody>
          <a:bodyPr spcFirstLastPara="1" wrap="square" lIns="0" tIns="0" rIns="0" bIns="0" anchor="ctr" anchorCtr="0">
            <a:spAutoFit/>
          </a:bodyPr>
          <a:lstStyle/>
          <a:p>
            <a:pPr marL="0" lvl="0" indent="0" algn="ctr" rtl="0">
              <a:spcBef>
                <a:spcPts val="0"/>
              </a:spcBef>
              <a:spcAft>
                <a:spcPts val="0"/>
              </a:spcAft>
              <a:buNone/>
            </a:pPr>
            <a:r>
              <a:rPr lang="en-US" sz="1750" b="0">
                <a:solidFill>
                  <a:srgbClr val="1E293B"/>
                </a:solidFill>
                <a:latin typeface="Arial"/>
                <a:ea typeface="Arial"/>
                <a:cs typeface="Arial"/>
                <a:sym typeface="Arial"/>
              </a:rPr>
              <a:t>Time-lagged</a:t>
            </a:r>
            <a:endParaRPr sz="1750" b="0">
              <a:solidFill>
                <a:srgbClr val="1E293B"/>
              </a:solidFill>
              <a:latin typeface="Arial"/>
              <a:ea typeface="Arial"/>
              <a:cs typeface="Arial"/>
              <a:sym typeface="Arial"/>
            </a:endParaRPr>
          </a:p>
          <a:p>
            <a:pPr marL="0" lvl="0" indent="0" algn="ctr" rtl="0">
              <a:spcBef>
                <a:spcPts val="150"/>
              </a:spcBef>
              <a:spcAft>
                <a:spcPts val="0"/>
              </a:spcAft>
              <a:buNone/>
            </a:pPr>
            <a:r>
              <a:rPr lang="en-US" sz="1750" b="0">
                <a:solidFill>
                  <a:srgbClr val="1E293B"/>
                </a:solidFill>
                <a:latin typeface="Arial"/>
                <a:ea typeface="Arial"/>
                <a:cs typeface="Arial"/>
                <a:sym typeface="Arial"/>
              </a:rPr>
              <a:t>objective</a:t>
            </a:r>
            <a:endParaRPr sz="1750" b="0">
              <a:solidFill>
                <a:srgbClr val="1E293B"/>
              </a:solidFill>
              <a:latin typeface="Arial"/>
              <a:ea typeface="Arial"/>
              <a:cs typeface="Arial"/>
              <a:sym typeface="Arial"/>
            </a:endParaRPr>
          </a:p>
        </p:txBody>
      </p:sp>
      <p:cxnSp>
        <p:nvCxnSpPr>
          <p:cNvPr id="311" name="Google Shape;311;p8"/>
          <p:cNvCxnSpPr/>
          <p:nvPr/>
        </p:nvCxnSpPr>
        <p:spPr>
          <a:xfrm>
            <a:off x="8412480" y="2313432"/>
            <a:ext cx="484500" cy="0"/>
          </a:xfrm>
          <a:prstGeom prst="straightConnector1">
            <a:avLst/>
          </a:prstGeom>
          <a:noFill/>
          <a:ln w="19050" cap="flat" cmpd="sng">
            <a:solidFill>
              <a:srgbClr val="59616B"/>
            </a:solidFill>
            <a:prstDash val="solid"/>
            <a:round/>
            <a:headEnd type="none" w="sm" len="sm"/>
            <a:tailEnd type="none" w="sm" len="sm"/>
          </a:ln>
        </p:spPr>
      </p:cxnSp>
      <p:cxnSp>
        <p:nvCxnSpPr>
          <p:cNvPr id="312" name="Google Shape;312;p8"/>
          <p:cNvCxnSpPr/>
          <p:nvPr/>
        </p:nvCxnSpPr>
        <p:spPr>
          <a:xfrm>
            <a:off x="8897112" y="2313432"/>
            <a:ext cx="0" cy="713100"/>
          </a:xfrm>
          <a:prstGeom prst="straightConnector1">
            <a:avLst/>
          </a:prstGeom>
          <a:noFill/>
          <a:ln w="19050" cap="flat" cmpd="sng">
            <a:solidFill>
              <a:srgbClr val="59616B"/>
            </a:solidFill>
            <a:prstDash val="solid"/>
            <a:round/>
            <a:headEnd type="none" w="sm" len="sm"/>
            <a:tailEnd type="none" w="sm" len="sm"/>
          </a:ln>
        </p:spPr>
      </p:cxnSp>
      <p:cxnSp>
        <p:nvCxnSpPr>
          <p:cNvPr id="313" name="Google Shape;313;p8"/>
          <p:cNvCxnSpPr/>
          <p:nvPr/>
        </p:nvCxnSpPr>
        <p:spPr>
          <a:xfrm>
            <a:off x="8897112" y="3026664"/>
            <a:ext cx="411600" cy="0"/>
          </a:xfrm>
          <a:prstGeom prst="straightConnector1">
            <a:avLst/>
          </a:prstGeom>
          <a:noFill/>
          <a:ln w="19050" cap="flat" cmpd="sng">
            <a:solidFill>
              <a:srgbClr val="59616B"/>
            </a:solidFill>
            <a:prstDash val="solid"/>
            <a:round/>
            <a:headEnd type="none" w="sm" len="sm"/>
            <a:tailEnd type="triangle" w="sm" len="sm"/>
          </a:ln>
        </p:spPr>
      </p:cxnSp>
      <p:cxnSp>
        <p:nvCxnSpPr>
          <p:cNvPr id="314" name="Google Shape;314;p8"/>
          <p:cNvCxnSpPr/>
          <p:nvPr/>
        </p:nvCxnSpPr>
        <p:spPr>
          <a:xfrm>
            <a:off x="8412480" y="4169663"/>
            <a:ext cx="484500" cy="0"/>
          </a:xfrm>
          <a:prstGeom prst="straightConnector1">
            <a:avLst/>
          </a:prstGeom>
          <a:noFill/>
          <a:ln w="19050" cap="flat" cmpd="sng">
            <a:solidFill>
              <a:srgbClr val="59616B"/>
            </a:solidFill>
            <a:prstDash val="solid"/>
            <a:round/>
            <a:headEnd type="none" w="sm" len="sm"/>
            <a:tailEnd type="none" w="sm" len="sm"/>
          </a:ln>
        </p:spPr>
      </p:cxnSp>
      <p:cxnSp>
        <p:nvCxnSpPr>
          <p:cNvPr id="315" name="Google Shape;315;p8"/>
          <p:cNvCxnSpPr/>
          <p:nvPr/>
        </p:nvCxnSpPr>
        <p:spPr>
          <a:xfrm rot="10800000">
            <a:off x="8897112" y="3447263"/>
            <a:ext cx="0" cy="722400"/>
          </a:xfrm>
          <a:prstGeom prst="straightConnector1">
            <a:avLst/>
          </a:prstGeom>
          <a:noFill/>
          <a:ln w="19050" cap="flat" cmpd="sng">
            <a:solidFill>
              <a:srgbClr val="59616B"/>
            </a:solidFill>
            <a:prstDash val="solid"/>
            <a:round/>
            <a:headEnd type="none" w="sm" len="sm"/>
            <a:tailEnd type="none" w="sm" len="sm"/>
          </a:ln>
        </p:spPr>
      </p:cxnSp>
      <p:cxnSp>
        <p:nvCxnSpPr>
          <p:cNvPr id="316" name="Google Shape;316;p8"/>
          <p:cNvCxnSpPr/>
          <p:nvPr/>
        </p:nvCxnSpPr>
        <p:spPr>
          <a:xfrm>
            <a:off x="8897112" y="3447288"/>
            <a:ext cx="411600" cy="0"/>
          </a:xfrm>
          <a:prstGeom prst="straightConnector1">
            <a:avLst/>
          </a:prstGeom>
          <a:noFill/>
          <a:ln w="19050" cap="flat" cmpd="sng">
            <a:solidFill>
              <a:srgbClr val="59616B"/>
            </a:solidFill>
            <a:prstDash val="solid"/>
            <a:round/>
            <a:headEnd type="none" w="sm" len="sm"/>
            <a:tailEnd type="triangle" w="sm" len="sm"/>
          </a:ln>
        </p:spPr>
      </p:cxnSp>
      <p:sp>
        <p:nvSpPr>
          <p:cNvPr id="317" name="Google Shape;317;p8"/>
          <p:cNvSpPr txBox="1"/>
          <p:nvPr/>
        </p:nvSpPr>
        <p:spPr>
          <a:xfrm>
            <a:off x="3429000" y="3063240"/>
            <a:ext cx="1920300" cy="223200"/>
          </a:xfrm>
          <a:prstGeom prst="rect">
            <a:avLst/>
          </a:prstGeom>
          <a:solidFill>
            <a:srgbClr val="000000">
              <a:alpha val="0"/>
            </a:srgbClr>
          </a:solidFill>
          <a:ln>
            <a:noFill/>
          </a:ln>
        </p:spPr>
        <p:txBody>
          <a:bodyPr spcFirstLastPara="1" wrap="square" lIns="0" tIns="0" rIns="0" bIns="0" anchor="t" anchorCtr="0">
            <a:spAutoFit/>
          </a:bodyPr>
          <a:lstStyle/>
          <a:p>
            <a:pPr marL="0" lvl="0" indent="0" algn="ctr" rtl="0">
              <a:spcBef>
                <a:spcPts val="0"/>
              </a:spcBef>
              <a:spcAft>
                <a:spcPts val="0"/>
              </a:spcAft>
              <a:buNone/>
            </a:pPr>
            <a:r>
              <a:rPr lang="en-US" sz="1450" b="0">
                <a:solidFill>
                  <a:srgbClr val="800000"/>
                </a:solidFill>
                <a:latin typeface="Arial"/>
                <a:ea typeface="Arial"/>
                <a:cs typeface="Arial"/>
                <a:sym typeface="Arial"/>
              </a:rPr>
              <a:t>frozen / shared</a:t>
            </a:r>
            <a:endParaRPr sz="1450" b="0">
              <a:solidFill>
                <a:srgbClr val="800000"/>
              </a:solidFill>
              <a:latin typeface="Arial"/>
              <a:ea typeface="Arial"/>
              <a:cs typeface="Arial"/>
              <a:sym typeface="Arial"/>
            </a:endParaRPr>
          </a:p>
        </p:txBody>
      </p:sp>
      <p:sp>
        <p:nvSpPr>
          <p:cNvPr id="318" name="Google Shape;318;p8"/>
          <p:cNvSpPr txBox="1"/>
          <p:nvPr/>
        </p:nvSpPr>
        <p:spPr>
          <a:xfrm>
            <a:off x="6291072" y="3063240"/>
            <a:ext cx="1920300" cy="223200"/>
          </a:xfrm>
          <a:prstGeom prst="rect">
            <a:avLst/>
          </a:prstGeom>
          <a:solidFill>
            <a:srgbClr val="000000">
              <a:alpha val="0"/>
            </a:srgbClr>
          </a:solidFill>
          <a:ln>
            <a:noFill/>
          </a:ln>
        </p:spPr>
        <p:txBody>
          <a:bodyPr spcFirstLastPara="1" wrap="square" lIns="0" tIns="0" rIns="0" bIns="0" anchor="t" anchorCtr="0">
            <a:spAutoFit/>
          </a:bodyPr>
          <a:lstStyle/>
          <a:p>
            <a:pPr marL="0" lvl="0" indent="0" algn="ctr" rtl="0">
              <a:spcBef>
                <a:spcPts val="0"/>
              </a:spcBef>
              <a:spcAft>
                <a:spcPts val="0"/>
              </a:spcAft>
              <a:buNone/>
            </a:pPr>
            <a:r>
              <a:rPr lang="en-US" sz="1450" b="0">
                <a:solidFill>
                  <a:srgbClr val="245D68"/>
                </a:solidFill>
                <a:latin typeface="Arial"/>
                <a:ea typeface="Arial"/>
                <a:cs typeface="Arial"/>
                <a:sym typeface="Arial"/>
              </a:rPr>
              <a:t>trainable / shared</a:t>
            </a:r>
            <a:endParaRPr sz="1450" b="0">
              <a:solidFill>
                <a:srgbClr val="245D68"/>
              </a:solidFill>
              <a:latin typeface="Arial"/>
              <a:ea typeface="Arial"/>
              <a:cs typeface="Arial"/>
              <a:sym typeface="Arial"/>
            </a:endParaRPr>
          </a:p>
        </p:txBody>
      </p:sp>
      <p:sp>
        <p:nvSpPr>
          <p:cNvPr id="319" name="Google Shape;319;p8"/>
          <p:cNvSpPr/>
          <p:nvPr/>
        </p:nvSpPr>
        <p:spPr>
          <a:xfrm>
            <a:off x="731520" y="4846320"/>
            <a:ext cx="5020200" cy="393300"/>
          </a:xfrm>
          <a:prstGeom prst="rect">
            <a:avLst/>
          </a:prstGeom>
          <a:solidFill>
            <a:srgbClr val="F6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0" name="Google Shape;320;p8"/>
          <p:cNvSpPr/>
          <p:nvPr/>
        </p:nvSpPr>
        <p:spPr>
          <a:xfrm>
            <a:off x="5971032" y="4846320"/>
            <a:ext cx="5394900" cy="393300"/>
          </a:xfrm>
          <a:prstGeom prst="rect">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1" name="Google Shape;321;p8"/>
          <p:cNvSpPr txBox="1"/>
          <p:nvPr/>
        </p:nvSpPr>
        <p:spPr>
          <a:xfrm>
            <a:off x="822960" y="4919472"/>
            <a:ext cx="4800600" cy="223200"/>
          </a:xfrm>
          <a:prstGeom prst="rect">
            <a:avLst/>
          </a:prstGeom>
          <a:solidFill>
            <a:srgbClr val="000000">
              <a:alpha val="0"/>
            </a:srgbClr>
          </a:solidFill>
          <a:ln>
            <a:noFill/>
          </a:ln>
        </p:spPr>
        <p:txBody>
          <a:bodyPr spcFirstLastPara="1" wrap="square" lIns="0" tIns="0" rIns="0" bIns="0" anchor="t" anchorCtr="0">
            <a:spAutoFit/>
          </a:bodyPr>
          <a:lstStyle/>
          <a:p>
            <a:pPr marL="0" lvl="0" indent="0" algn="ctr" rtl="0">
              <a:spcBef>
                <a:spcPts val="0"/>
              </a:spcBef>
              <a:spcAft>
                <a:spcPts val="0"/>
              </a:spcAft>
              <a:buNone/>
            </a:pPr>
            <a:r>
              <a:rPr lang="en-US" sz="1450" b="0">
                <a:solidFill>
                  <a:srgbClr val="800000"/>
                </a:solidFill>
                <a:latin typeface="Arial"/>
                <a:ea typeface="Arial"/>
                <a:cs typeface="Arial"/>
                <a:sym typeface="Arial"/>
              </a:rPr>
              <a:t>Training: first half of the trajectory</a:t>
            </a:r>
            <a:endParaRPr sz="1450" b="0">
              <a:solidFill>
                <a:srgbClr val="800000"/>
              </a:solidFill>
              <a:latin typeface="Arial"/>
              <a:ea typeface="Arial"/>
              <a:cs typeface="Arial"/>
              <a:sym typeface="Arial"/>
            </a:endParaRPr>
          </a:p>
        </p:txBody>
      </p:sp>
      <p:sp>
        <p:nvSpPr>
          <p:cNvPr id="322" name="Google Shape;322;p8"/>
          <p:cNvSpPr txBox="1"/>
          <p:nvPr/>
        </p:nvSpPr>
        <p:spPr>
          <a:xfrm>
            <a:off x="6099048" y="4919472"/>
            <a:ext cx="5139000" cy="223200"/>
          </a:xfrm>
          <a:prstGeom prst="rect">
            <a:avLst/>
          </a:prstGeom>
          <a:solidFill>
            <a:srgbClr val="000000">
              <a:alpha val="0"/>
            </a:srgbClr>
          </a:solidFill>
          <a:ln>
            <a:noFill/>
          </a:ln>
        </p:spPr>
        <p:txBody>
          <a:bodyPr spcFirstLastPara="1" wrap="square" lIns="0" tIns="0" rIns="0" bIns="0" anchor="t" anchorCtr="0">
            <a:spAutoFit/>
          </a:bodyPr>
          <a:lstStyle/>
          <a:p>
            <a:pPr marL="0" lvl="0" indent="0" algn="ctr" rtl="0">
              <a:spcBef>
                <a:spcPts val="0"/>
              </a:spcBef>
              <a:spcAft>
                <a:spcPts val="0"/>
              </a:spcAft>
              <a:buNone/>
            </a:pPr>
            <a:r>
              <a:rPr lang="en-US" sz="1450" b="0">
                <a:solidFill>
                  <a:srgbClr val="245D68"/>
                </a:solidFill>
                <a:latin typeface="Arial"/>
                <a:ea typeface="Arial"/>
                <a:cs typeface="Arial"/>
                <a:sym typeface="Arial"/>
              </a:rPr>
              <a:t>Validation: second half, held out in time</a:t>
            </a:r>
            <a:endParaRPr sz="1450" b="0">
              <a:solidFill>
                <a:srgbClr val="245D68"/>
              </a:solidFill>
              <a:latin typeface="Arial"/>
              <a:ea typeface="Arial"/>
              <a:cs typeface="Arial"/>
              <a:sym typeface="Arial"/>
            </a:endParaRPr>
          </a:p>
        </p:txBody>
      </p:sp>
      <p:cxnSp>
        <p:nvCxnSpPr>
          <p:cNvPr id="323" name="Google Shape;323;p8"/>
          <p:cNvCxnSpPr/>
          <p:nvPr/>
        </p:nvCxnSpPr>
        <p:spPr>
          <a:xfrm>
            <a:off x="731520" y="5413248"/>
            <a:ext cx="10634400" cy="0"/>
          </a:xfrm>
          <a:prstGeom prst="straightConnector1">
            <a:avLst/>
          </a:prstGeom>
          <a:noFill/>
          <a:ln w="12700" cap="flat" cmpd="sng">
            <a:solidFill>
              <a:srgbClr val="59616B"/>
            </a:solidFill>
            <a:prstDash val="solid"/>
            <a:round/>
            <a:headEnd type="none" w="sm" len="sm"/>
            <a:tailEnd type="triangle" w="sm" len="sm"/>
          </a:ln>
        </p:spPr>
      </p:cxnSp>
      <p:sp>
        <p:nvSpPr>
          <p:cNvPr id="324" name="Google Shape;324;p8"/>
          <p:cNvSpPr txBox="1"/>
          <p:nvPr/>
        </p:nvSpPr>
        <p:spPr>
          <a:xfrm>
            <a:off x="4864608" y="5486400"/>
            <a:ext cx="2194500" cy="207900"/>
          </a:xfrm>
          <a:prstGeom prst="rect">
            <a:avLst/>
          </a:prstGeom>
          <a:solidFill>
            <a:srgbClr val="000000">
              <a:alpha val="0"/>
            </a:srgbClr>
          </a:solidFill>
          <a:ln>
            <a:noFill/>
          </a:ln>
        </p:spPr>
        <p:txBody>
          <a:bodyPr spcFirstLastPara="1" wrap="square" lIns="0" tIns="0" rIns="0" bIns="0" anchor="t" anchorCtr="0">
            <a:spAutoFit/>
          </a:bodyPr>
          <a:lstStyle/>
          <a:p>
            <a:pPr marL="0" lvl="0" indent="0" algn="ctr" rtl="0">
              <a:spcBef>
                <a:spcPts val="0"/>
              </a:spcBef>
              <a:spcAft>
                <a:spcPts val="0"/>
              </a:spcAft>
              <a:buNone/>
            </a:pPr>
            <a:r>
              <a:rPr lang="en-US" sz="1350" b="0">
                <a:solidFill>
                  <a:srgbClr val="64748B"/>
                </a:solidFill>
                <a:latin typeface="Arial"/>
                <a:ea typeface="Arial"/>
                <a:cs typeface="Arial"/>
                <a:sym typeface="Arial"/>
              </a:rPr>
              <a:t>simulation time</a:t>
            </a:r>
            <a:endParaRPr sz="1350" b="0">
              <a:solidFill>
                <a:srgbClr val="64748B"/>
              </a:solidFill>
              <a:latin typeface="Arial"/>
              <a:ea typeface="Arial"/>
              <a:cs typeface="Arial"/>
              <a:sym typeface="Arial"/>
            </a:endParaRPr>
          </a:p>
        </p:txBody>
      </p:sp>
      <p:sp>
        <p:nvSpPr>
          <p:cNvPr id="5004" name="Shape 5004"/>
          <p:cNvSpPr/>
          <p:nvPr/>
        </p:nvSpPr>
        <p:spPr>
          <a:xfrm>
            <a:off x="502920" y="5971032"/>
            <a:ext cx="11155680" cy="356616"/>
          </a:xfrm>
          <a:prstGeom prst="rect">
            <a:avLst/>
          </a:prstGeom>
          <a:solidFill>
            <a:srgbClr val="EFF5F6"/>
          </a:solidFill>
          <a:ln>
            <a:noFill/>
          </a:ln>
        </p:spPr>
        <p:txBody>
          <a:bodyPr spcFirstLastPara="1" wrap="square" lIns="45720" tIns="0" rIns="45720" bIns="0" anchor="ctr" anchorCtr="0">
            <a:noAutofit/>
          </a:bodyPr>
          <a:lstStyle/>
          <a:p>
            <a:pPr marL="0" marR="0" lvl="0" indent="0" algn="l" rtl="0">
              <a:lnSpc>
                <a:spcPct val="108000"/>
              </a:lnSpc>
              <a:spcBef>
                <a:spcPts val="0"/>
              </a:spcBef>
              <a:spcAft>
                <a:spcPts val="0"/>
              </a:spcAft>
              <a:buNone/>
            </a:pPr>
            <a:r>
              <a:rPr lang="en-US" sz="1750" b="1" i="0" u="none" strike="noStrike" cap="none" dirty="0">
                <a:solidFill>
                  <a:srgbClr val="245D68"/>
                </a:solidFill>
                <a:latin typeface="Arial"/>
                <a:ea typeface="Arial"/>
                <a:cs typeface="Arial"/>
                <a:sym typeface="Arial"/>
              </a:rPr>
              <a:t>Split by time/trajectory, not by frame: random splits reward memorizing correlated neighbors.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9"/>
        <p:cNvGrpSpPr/>
        <p:nvPr/>
      </p:nvGrpSpPr>
      <p:grpSpPr>
        <a:xfrm>
          <a:off x="0" y="0"/>
          <a:ext cx="0" cy="0"/>
          <a:chOff x="0" y="0"/>
          <a:chExt cx="0" cy="0"/>
        </a:xfrm>
      </p:grpSpPr>
      <p:sp>
        <p:nvSpPr>
          <p:cNvPr id="330" name="Google Shape;330;p9"/>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TEST 1 · CHIGNOLIN</a:t>
            </a:r>
            <a:endParaRPr/>
          </a:p>
        </p:txBody>
      </p:sp>
      <p:sp>
        <p:nvSpPr>
          <p:cNvPr id="331" name="Google Shape;331;p9"/>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All-atom features resolve four folded substates</a:t>
            </a:r>
            <a:endParaRPr/>
          </a:p>
        </p:txBody>
      </p:sp>
      <p:cxnSp>
        <p:nvCxnSpPr>
          <p:cNvPr id="332" name="Google Shape;332;p9"/>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333" name="Google Shape;333;p9"/>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J. Chem. Phys. 162, 044107 (2025); VAMPnet with SubMixer; trajectory: Lindorff-Larsen et al., Science 334, 517 (2011)</a:t>
            </a:r>
            <a:endParaRPr/>
          </a:p>
        </p:txBody>
      </p:sp>
      <p:sp>
        <p:nvSpPr>
          <p:cNvPr id="334" name="Google Shape;334;p9"/>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09 / 37</a:t>
            </a:r>
            <a:endParaRPr/>
          </a:p>
        </p:txBody>
      </p:sp>
      <p:sp>
        <p:nvSpPr>
          <p:cNvPr id="335" name="Google Shape;335;p9"/>
          <p:cNvSpPr txBox="1"/>
          <p:nvPr/>
        </p:nvSpPr>
        <p:spPr>
          <a:xfrm>
            <a:off x="6660350" y="1744050"/>
            <a:ext cx="5343600" cy="3387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200" b="1" i="0" u="none" strike="noStrike" cap="none">
                <a:solidFill>
                  <a:srgbClr val="245D68"/>
                </a:solidFill>
                <a:latin typeface="Arial"/>
                <a:ea typeface="Arial"/>
                <a:cs typeface="Arial"/>
                <a:sym typeface="Arial"/>
              </a:rPr>
              <a:t>10-residue chignolin</a:t>
            </a:r>
            <a:endParaRPr/>
          </a:p>
        </p:txBody>
      </p:sp>
      <p:sp>
        <p:nvSpPr>
          <p:cNvPr id="336" name="Google Shape;336;p9"/>
          <p:cNvSpPr txBox="1"/>
          <p:nvPr/>
        </p:nvSpPr>
        <p:spPr>
          <a:xfrm>
            <a:off x="6660350" y="2173818"/>
            <a:ext cx="5343600" cy="9522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100">
                <a:solidFill>
                  <a:srgbClr val="21252B"/>
                </a:solidFill>
              </a:rPr>
              <a:t>106 μs unbiased trajectory at 340 K; all heavy atoms as input</a:t>
            </a:r>
            <a:endParaRPr/>
          </a:p>
        </p:txBody>
      </p:sp>
      <p:sp>
        <p:nvSpPr>
          <p:cNvPr id="337" name="Google Shape;337;p9"/>
          <p:cNvSpPr txBox="1"/>
          <p:nvPr/>
        </p:nvSpPr>
        <p:spPr>
          <a:xfrm>
            <a:off x="6660350" y="3124797"/>
            <a:ext cx="5343600" cy="3387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200" b="1" i="0" u="none" strike="noStrike" cap="none">
                <a:solidFill>
                  <a:srgbClr val="245D68"/>
                </a:solidFill>
                <a:latin typeface="Arial"/>
                <a:ea typeface="Arial"/>
                <a:cs typeface="Arial"/>
                <a:sym typeface="Arial"/>
              </a:rPr>
              <a:t>Folding</a:t>
            </a:r>
            <a:endParaRPr/>
          </a:p>
        </p:txBody>
      </p:sp>
      <p:sp>
        <p:nvSpPr>
          <p:cNvPr id="338" name="Google Shape;338;p9"/>
          <p:cNvSpPr txBox="1"/>
          <p:nvPr/>
        </p:nvSpPr>
        <p:spPr>
          <a:xfrm>
            <a:off x="6660350" y="3554565"/>
            <a:ext cx="5343600" cy="6723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100" b="0" i="0" u="none" strike="noStrike" cap="none">
                <a:solidFill>
                  <a:srgbClr val="21252B"/>
                </a:solidFill>
                <a:latin typeface="Arial"/>
                <a:ea typeface="Arial"/>
                <a:cs typeface="Arial"/>
                <a:sym typeface="Arial"/>
              </a:rPr>
              <a:t>CV 1 separates unfolded (0) from folded configurations.</a:t>
            </a:r>
            <a:endParaRPr/>
          </a:p>
        </p:txBody>
      </p:sp>
      <p:sp>
        <p:nvSpPr>
          <p:cNvPr id="339" name="Google Shape;339;p9"/>
          <p:cNvSpPr txBox="1"/>
          <p:nvPr/>
        </p:nvSpPr>
        <p:spPr>
          <a:xfrm>
            <a:off x="6660350" y="4523831"/>
            <a:ext cx="5343600" cy="3387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200" b="1" i="0" u="none" strike="noStrike" cap="none">
                <a:solidFill>
                  <a:srgbClr val="245D68"/>
                </a:solidFill>
                <a:latin typeface="Arial"/>
                <a:ea typeface="Arial"/>
                <a:cs typeface="Arial"/>
                <a:sym typeface="Arial"/>
              </a:rPr>
              <a:t>Folded substates</a:t>
            </a:r>
            <a:endParaRPr/>
          </a:p>
        </p:txBody>
      </p:sp>
      <p:sp>
        <p:nvSpPr>
          <p:cNvPr id="340" name="Google Shape;340;p9"/>
          <p:cNvSpPr txBox="1"/>
          <p:nvPr/>
        </p:nvSpPr>
        <p:spPr>
          <a:xfrm>
            <a:off x="6660350" y="4953600"/>
            <a:ext cx="5343600" cy="10215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100" b="0" i="0" u="none" strike="noStrike" cap="none">
                <a:solidFill>
                  <a:srgbClr val="21252B"/>
                </a:solidFill>
                <a:latin typeface="Arial"/>
                <a:ea typeface="Arial"/>
                <a:cs typeface="Arial"/>
                <a:sym typeface="Arial"/>
              </a:rPr>
              <a:t>CV 2 splits the folded ensemble into four substates (1–4).</a:t>
            </a:r>
            <a:endParaRPr/>
          </a:p>
        </p:txBody>
      </p:sp>
      <p:pic>
        <p:nvPicPr>
          <p:cNvPr id="341" name="Google Shape;341;p9"/>
          <p:cNvPicPr preferRelativeResize="0"/>
          <p:nvPr/>
        </p:nvPicPr>
        <p:blipFill>
          <a:blip r:embed="rId3">
            <a:alphaModFix/>
          </a:blip>
          <a:stretch>
            <a:fillRect/>
          </a:stretch>
        </p:blipFill>
        <p:spPr>
          <a:xfrm>
            <a:off x="1084775" y="1682174"/>
            <a:ext cx="3932975" cy="4005600"/>
          </a:xfrm>
          <a:prstGeom prst="rect">
            <a:avLst/>
          </a:prstGeom>
          <a:noFill/>
          <a:ln>
            <a:noFill/>
          </a:ln>
        </p:spPr>
      </p:pic>
      <p:pic>
        <p:nvPicPr>
          <p:cNvPr id="342" name="Google Shape;342;p9"/>
          <p:cNvPicPr preferRelativeResize="0"/>
          <p:nvPr/>
        </p:nvPicPr>
        <p:blipFill>
          <a:blip r:embed="rId4">
            <a:alphaModFix/>
          </a:blip>
          <a:stretch>
            <a:fillRect/>
          </a:stretch>
        </p:blipFill>
        <p:spPr>
          <a:xfrm>
            <a:off x="122675" y="5117175"/>
            <a:ext cx="1664047" cy="1231725"/>
          </a:xfrm>
          <a:prstGeom prst="rect">
            <a:avLst/>
          </a:prstGeom>
          <a:noFill/>
          <a:ln>
            <a:noFill/>
          </a:ln>
        </p:spPr>
      </p:pic>
      <p:pic>
        <p:nvPicPr>
          <p:cNvPr id="343" name="Google Shape;343;p9"/>
          <p:cNvPicPr preferRelativeResize="0"/>
          <p:nvPr/>
        </p:nvPicPr>
        <p:blipFill>
          <a:blip r:embed="rId5">
            <a:alphaModFix/>
          </a:blip>
          <a:stretch>
            <a:fillRect/>
          </a:stretch>
        </p:blipFill>
        <p:spPr>
          <a:xfrm>
            <a:off x="5017750" y="1236952"/>
            <a:ext cx="1308491" cy="1403904"/>
          </a:xfrm>
          <a:prstGeom prst="rect">
            <a:avLst/>
          </a:prstGeom>
          <a:noFill/>
          <a:ln>
            <a:noFill/>
          </a:ln>
        </p:spPr>
      </p:pic>
      <p:pic>
        <p:nvPicPr>
          <p:cNvPr id="344" name="Google Shape;344;p9"/>
          <p:cNvPicPr preferRelativeResize="0"/>
          <p:nvPr/>
        </p:nvPicPr>
        <p:blipFill>
          <a:blip r:embed="rId6">
            <a:alphaModFix/>
          </a:blip>
          <a:stretch>
            <a:fillRect/>
          </a:stretch>
        </p:blipFill>
        <p:spPr>
          <a:xfrm>
            <a:off x="5017750" y="2605581"/>
            <a:ext cx="1308491" cy="1375943"/>
          </a:xfrm>
          <a:prstGeom prst="rect">
            <a:avLst/>
          </a:prstGeom>
          <a:noFill/>
          <a:ln>
            <a:noFill/>
          </a:ln>
        </p:spPr>
      </p:pic>
      <p:pic>
        <p:nvPicPr>
          <p:cNvPr id="345" name="Google Shape;345;p9"/>
          <p:cNvPicPr preferRelativeResize="0"/>
          <p:nvPr/>
        </p:nvPicPr>
        <p:blipFill>
          <a:blip r:embed="rId7">
            <a:alphaModFix/>
          </a:blip>
          <a:stretch>
            <a:fillRect/>
          </a:stretch>
        </p:blipFill>
        <p:spPr>
          <a:xfrm>
            <a:off x="5017750" y="3934061"/>
            <a:ext cx="1308491" cy="1308491"/>
          </a:xfrm>
          <a:prstGeom prst="rect">
            <a:avLst/>
          </a:prstGeom>
          <a:noFill/>
          <a:ln>
            <a:noFill/>
          </a:ln>
        </p:spPr>
      </p:pic>
      <p:pic>
        <p:nvPicPr>
          <p:cNvPr id="346" name="Google Shape;346;p9"/>
          <p:cNvPicPr preferRelativeResize="0"/>
          <p:nvPr/>
        </p:nvPicPr>
        <p:blipFill>
          <a:blip r:embed="rId8">
            <a:alphaModFix/>
          </a:blip>
          <a:stretch>
            <a:fillRect/>
          </a:stretch>
        </p:blipFill>
        <p:spPr>
          <a:xfrm>
            <a:off x="5083464" y="5233798"/>
            <a:ext cx="1177075" cy="12317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1"/>
        <p:cNvGrpSpPr/>
        <p:nvPr/>
      </p:nvGrpSpPr>
      <p:grpSpPr>
        <a:xfrm>
          <a:off x="0" y="0"/>
          <a:ext cx="0" cy="0"/>
          <a:chOff x="0" y="0"/>
          <a:chExt cx="0" cy="0"/>
        </a:xfrm>
      </p:grpSpPr>
      <p:sp>
        <p:nvSpPr>
          <p:cNvPr id="352" name="Google Shape;352;p10"/>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TEST 1 · PHYSICAL INTERPRETATION</a:t>
            </a:r>
            <a:endParaRPr/>
          </a:p>
        </p:txBody>
      </p:sp>
      <p:sp>
        <p:nvSpPr>
          <p:cNvPr id="353" name="Google Shape;353;p10"/>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Thr6 and Thr8 rotamers define the four folded substates</a:t>
            </a:r>
            <a:endParaRPr/>
          </a:p>
        </p:txBody>
      </p:sp>
      <p:cxnSp>
        <p:nvCxnSpPr>
          <p:cNvPr id="354" name="Google Shape;354;p10"/>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355" name="Google Shape;355;p10"/>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J. Chem. Phys. 162, 044107 (2025); VAMPnet with SubMixer</a:t>
            </a:r>
            <a:endParaRPr/>
          </a:p>
        </p:txBody>
      </p:sp>
      <p:sp>
        <p:nvSpPr>
          <p:cNvPr id="356" name="Google Shape;356;p10"/>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10 / 37</a:t>
            </a:r>
            <a:endParaRPr/>
          </a:p>
        </p:txBody>
      </p:sp>
      <p:sp>
        <p:nvSpPr>
          <p:cNvPr id="357" name="Google Shape;357;p10"/>
          <p:cNvSpPr txBox="1"/>
          <p:nvPr/>
        </p:nvSpPr>
        <p:spPr>
          <a:xfrm>
            <a:off x="731520" y="1554480"/>
            <a:ext cx="5212080" cy="36576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300" b="1" i="0" u="none" strike="noStrike" cap="none">
                <a:solidFill>
                  <a:srgbClr val="245D68"/>
                </a:solidFill>
                <a:latin typeface="Arial"/>
                <a:ea typeface="Arial"/>
                <a:cs typeface="Arial"/>
                <a:sym typeface="Arial"/>
              </a:rPr>
              <a:t>Thr6</a:t>
            </a:r>
            <a:endParaRPr/>
          </a:p>
        </p:txBody>
      </p:sp>
      <p:sp>
        <p:nvSpPr>
          <p:cNvPr id="358" name="Google Shape;358;p10"/>
          <p:cNvSpPr txBox="1"/>
          <p:nvPr/>
        </p:nvSpPr>
        <p:spPr>
          <a:xfrm>
            <a:off x="6428232" y="1554480"/>
            <a:ext cx="5029200" cy="36576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300" b="1" i="0" u="none" strike="noStrike" cap="none">
                <a:solidFill>
                  <a:srgbClr val="245D68"/>
                </a:solidFill>
                <a:latin typeface="Arial"/>
                <a:ea typeface="Arial"/>
                <a:cs typeface="Arial"/>
                <a:sym typeface="Arial"/>
              </a:rPr>
              <a:t>Thr8</a:t>
            </a:r>
            <a:endParaRPr/>
          </a:p>
        </p:txBody>
      </p:sp>
      <p:pic>
        <p:nvPicPr>
          <p:cNvPr id="359" name="Google Shape;359;p10" descr="Source chignolin_thr6_cvs.png; crop left/top/right/bottom (0, 0, 1, 1). Original scientific plot, not redrawn."/>
          <p:cNvPicPr preferRelativeResize="0"/>
          <p:nvPr/>
        </p:nvPicPr>
        <p:blipFill rotWithShape="1">
          <a:blip r:embed="rId3">
            <a:alphaModFix/>
          </a:blip>
          <a:srcRect/>
          <a:stretch/>
        </p:blipFill>
        <p:spPr>
          <a:xfrm>
            <a:off x="566928" y="2166427"/>
            <a:ext cx="5522976" cy="3357249"/>
          </a:xfrm>
          <a:prstGeom prst="rect">
            <a:avLst/>
          </a:prstGeom>
          <a:noFill/>
          <a:ln>
            <a:noFill/>
          </a:ln>
        </p:spPr>
      </p:pic>
      <p:pic>
        <p:nvPicPr>
          <p:cNvPr id="360" name="Google Shape;360;p10" descr="Source chignolin_thr8_cvs.png; crop left/top/right/bottom (0, 0, 1, 1). Original scientific plot, not redrawn."/>
          <p:cNvPicPr preferRelativeResize="0"/>
          <p:nvPr/>
        </p:nvPicPr>
        <p:blipFill rotWithShape="1">
          <a:blip r:embed="rId4">
            <a:alphaModFix/>
          </a:blip>
          <a:srcRect/>
          <a:stretch/>
        </p:blipFill>
        <p:spPr>
          <a:xfrm>
            <a:off x="6300216" y="2226564"/>
            <a:ext cx="5394960" cy="3236976"/>
          </a:xfrm>
          <a:prstGeom prst="rect">
            <a:avLst/>
          </a:prstGeom>
          <a:noFill/>
          <a:ln>
            <a:noFill/>
          </a:ln>
        </p:spPr>
      </p:pic>
      <p:sp>
        <p:nvSpPr>
          <p:cNvPr id="361" name="Google Shape;361;p10"/>
          <p:cNvSpPr/>
          <p:nvPr/>
        </p:nvSpPr>
        <p:spPr>
          <a:xfrm>
            <a:off x="502920" y="5971032"/>
            <a:ext cx="11155680" cy="356616"/>
          </a:xfrm>
          <a:prstGeom prst="rect">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2" name="Google Shape;362;p10"/>
          <p:cNvSpPr txBox="1"/>
          <p:nvPr/>
        </p:nvSpPr>
        <p:spPr>
          <a:xfrm>
            <a:off x="658368" y="6021324"/>
            <a:ext cx="10844784" cy="24688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750" b="1" i="0" u="none" strike="noStrike" cap="none">
                <a:solidFill>
                  <a:srgbClr val="245D68"/>
                </a:solidFill>
                <a:latin typeface="Arial"/>
                <a:ea typeface="Arial"/>
                <a:cs typeface="Arial"/>
                <a:sym typeface="Arial"/>
              </a:rPr>
              <a:t>No side-chain angle was hand-picked, and backbone-only inputs cannot see these substates.</a:t>
            </a:r>
            <a:endParaRPr/>
          </a:p>
        </p:txBody>
      </p:sp>
      <p:sp>
        <p:nvSpPr>
          <p:cNvPr id="5005" name="Text 5005"/>
          <p:cNvSpPr txBox="1"/>
          <p:nvPr/>
        </p:nvSpPr>
        <p:spPr>
          <a:xfrm>
            <a:off x="566928" y="5577840"/>
            <a:ext cx="11064240" cy="27432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200" b="0" i="0" u="none" strike="noStrike" cap="none">
                <a:solidFill>
                  <a:srgbClr val="59616B"/>
                </a:solidFill>
                <a:latin typeface="Arial"/>
                <a:ea typeface="Arial"/>
                <a:cs typeface="Arial"/>
                <a:sym typeface="Arial"/>
              </a:rPr>
              <a:t>x: fraction of native contacts Q̄  ·  y: χ</a:t>
            </a:r>
            <a:r>
              <a:rPr lang="en-US" sz="1200" baseline="-25000">
                <a:solidFill>
                  <a:srgbClr val="59616B"/>
                </a:solidFill>
                <a:latin typeface="Arial"/>
              </a:rPr>
              <a:t>1</a:t>
            </a:r>
            <a:r>
              <a:rPr lang="en-US" sz="1200" b="0" i="0" u="none" strike="noStrike" cap="none">
                <a:solidFill>
                  <a:srgbClr val="59616B"/>
                </a:solidFill>
                <a:latin typeface="Arial"/>
                <a:ea typeface="Arial"/>
                <a:cs typeface="Arial"/>
                <a:sym typeface="Arial"/>
              </a:rPr>
              <a:t> side-chain dihedral  ·  color: mean CV value.  CV 1 tracks Q̄; CV 2 tracks the rotamers.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7"/>
        <p:cNvGrpSpPr/>
        <p:nvPr/>
      </p:nvGrpSpPr>
      <p:grpSpPr>
        <a:xfrm>
          <a:off x="0" y="0"/>
          <a:ext cx="0" cy="0"/>
          <a:chOff x="0" y="0"/>
          <a:chExt cx="0" cy="0"/>
        </a:xfrm>
      </p:grpSpPr>
      <p:sp>
        <p:nvSpPr>
          <p:cNvPr id="368" name="Google Shape;368;p11"/>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TEST 1 · VALIDATION</a:t>
            </a:r>
            <a:endParaRPr/>
          </a:p>
        </p:txBody>
      </p:sp>
      <p:sp>
        <p:nvSpPr>
          <p:cNvPr id="369" name="Google Shape;369;p11"/>
          <p:cNvSpPr txBox="1"/>
          <p:nvPr/>
        </p:nvSpPr>
        <p:spPr>
          <a:xfrm>
            <a:off x="502920" y="658368"/>
            <a:ext cx="11119200" cy="4542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a:solidFill>
                  <a:srgbClr val="21252B"/>
                </a:solidFill>
              </a:rPr>
              <a:t>All-atom features help most where side chains matter</a:t>
            </a:r>
            <a:endParaRPr/>
          </a:p>
        </p:txBody>
      </p:sp>
      <p:cxnSp>
        <p:nvCxnSpPr>
          <p:cNvPr id="370" name="Google Shape;370;p11"/>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371" name="Google Shape;371;p11"/>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J. Chem. Phys. 162, 044107 (2025); error bars: standard error over 3 runs</a:t>
            </a:r>
            <a:endParaRPr/>
          </a:p>
        </p:txBody>
      </p:sp>
      <p:sp>
        <p:nvSpPr>
          <p:cNvPr id="372" name="Google Shape;372;p11"/>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11 / 37</a:t>
            </a:r>
            <a:endParaRPr/>
          </a:p>
        </p:txBody>
      </p:sp>
      <p:pic>
        <p:nvPicPr>
          <p:cNvPr id="373" name="Google Shape;373;p11" descr="Source vamp_data_scaling.png; crop left/top/right/bottom (0, 0.14, 0.363, 1). Original scientific plot, not redrawn."/>
          <p:cNvPicPr preferRelativeResize="0"/>
          <p:nvPr/>
        </p:nvPicPr>
        <p:blipFill rotWithShape="1">
          <a:blip r:embed="rId3">
            <a:alphaModFix/>
          </a:blip>
          <a:srcRect t="12211" r="34288"/>
          <a:stretch/>
        </p:blipFill>
        <p:spPr>
          <a:xfrm>
            <a:off x="305275" y="2045788"/>
            <a:ext cx="7167701" cy="3827101"/>
          </a:xfrm>
          <a:prstGeom prst="rect">
            <a:avLst/>
          </a:prstGeom>
          <a:noFill/>
          <a:ln>
            <a:noFill/>
          </a:ln>
        </p:spPr>
      </p:pic>
      <p:pic>
        <p:nvPicPr>
          <p:cNvPr id="374" name="Google Shape;374;p11" descr="Source vamp_data_scaling.png; crop left/top/right/bottom (0, 0, 1, 0.14). Original scientific plot, not redrawn."/>
          <p:cNvPicPr preferRelativeResize="0"/>
          <p:nvPr/>
        </p:nvPicPr>
        <p:blipFill rotWithShape="1">
          <a:blip r:embed="rId3">
            <a:alphaModFix/>
          </a:blip>
          <a:srcRect b="90487"/>
          <a:stretch/>
        </p:blipFill>
        <p:spPr>
          <a:xfrm>
            <a:off x="1846800" y="1538003"/>
            <a:ext cx="8498399" cy="323100"/>
          </a:xfrm>
          <a:prstGeom prst="rect">
            <a:avLst/>
          </a:prstGeom>
          <a:noFill/>
          <a:ln>
            <a:noFill/>
          </a:ln>
        </p:spPr>
      </p:pic>
      <p:sp>
        <p:nvSpPr>
          <p:cNvPr id="375" name="Google Shape;375;p11"/>
          <p:cNvSpPr txBox="1"/>
          <p:nvPr/>
        </p:nvSpPr>
        <p:spPr>
          <a:xfrm>
            <a:off x="7670625" y="2395728"/>
            <a:ext cx="4114800" cy="3231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100" b="1">
                <a:solidFill>
                  <a:srgbClr val="245D68"/>
                </a:solidFill>
              </a:rPr>
              <a:t>Chignolin: side chains matter</a:t>
            </a:r>
            <a:endParaRPr/>
          </a:p>
        </p:txBody>
      </p:sp>
      <p:sp>
        <p:nvSpPr>
          <p:cNvPr id="376" name="Google Shape;376;p11"/>
          <p:cNvSpPr txBox="1"/>
          <p:nvPr/>
        </p:nvSpPr>
        <p:spPr>
          <a:xfrm>
            <a:off x="7670625" y="2825496"/>
            <a:ext cx="4114800" cy="6402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000">
                <a:solidFill>
                  <a:srgbClr val="21252B"/>
                </a:solidFill>
              </a:rPr>
              <a:t>Every all-atom GNN variant beats the Cα-distance MLP.</a:t>
            </a:r>
            <a:endParaRPr/>
          </a:p>
        </p:txBody>
      </p:sp>
      <p:sp>
        <p:nvSpPr>
          <p:cNvPr id="377" name="Google Shape;377;p11"/>
          <p:cNvSpPr txBox="1"/>
          <p:nvPr/>
        </p:nvSpPr>
        <p:spPr>
          <a:xfrm>
            <a:off x="7670625" y="3867912"/>
            <a:ext cx="4114800" cy="3231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100" b="1">
                <a:solidFill>
                  <a:srgbClr val="245D68"/>
                </a:solidFill>
              </a:rPr>
              <a:t>Trp-cage: Cα distances suffice</a:t>
            </a:r>
            <a:endParaRPr/>
          </a:p>
        </p:txBody>
      </p:sp>
      <p:sp>
        <p:nvSpPr>
          <p:cNvPr id="378" name="Google Shape;378;p11"/>
          <p:cNvSpPr txBox="1"/>
          <p:nvPr/>
        </p:nvSpPr>
        <p:spPr>
          <a:xfrm>
            <a:off x="7670625" y="4297680"/>
            <a:ext cx="4114800" cy="6402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000">
                <a:solidFill>
                  <a:srgbClr val="21252B"/>
                </a:solidFill>
              </a:rPr>
              <a:t>Summed features score lowest; token mixers match the Cα MLP.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5"/>
        <p:cNvGrpSpPr/>
        <p:nvPr/>
      </p:nvGrpSpPr>
      <p:grpSpPr>
        <a:xfrm>
          <a:off x="0" y="0"/>
          <a:ext cx="0" cy="0"/>
          <a:chOff x="0" y="0"/>
          <a:chExt cx="0" cy="0"/>
        </a:xfrm>
      </p:grpSpPr>
      <p:sp>
        <p:nvSpPr>
          <p:cNvPr id="386" name="Google Shape;386;p12"/>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GEOM2VEC · TRP-CAGE STATES</a:t>
            </a:r>
            <a:endParaRPr/>
          </a:p>
        </p:txBody>
      </p:sp>
      <p:sp>
        <p:nvSpPr>
          <p:cNvPr id="387" name="Google Shape;387;p12"/>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A learned state map can be read in molecular terms</a:t>
            </a:r>
            <a:endParaRPr/>
          </a:p>
        </p:txBody>
      </p:sp>
      <p:cxnSp>
        <p:nvCxnSpPr>
          <p:cNvPr id="388" name="Google Shape;388;p12"/>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389" name="Google Shape;389;p12"/>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J. Chem. Phys. 162, 044107 (2025); SPIB with SubFormer-GVP; Markov state model at 20 ns lag</a:t>
            </a:r>
            <a:endParaRPr/>
          </a:p>
        </p:txBody>
      </p:sp>
      <p:sp>
        <p:nvSpPr>
          <p:cNvPr id="390" name="Google Shape;390;p12"/>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12 / 37</a:t>
            </a:r>
            <a:endParaRPr/>
          </a:p>
        </p:txBody>
      </p:sp>
      <p:pic>
        <p:nvPicPr>
          <p:cNvPr id="391" name="Google Shape;391;p12" descr="Source trpcage_spib.png; crop left/top/right/bottom (0, 0.405, 1, 1). Original scientific plot, not redrawn."/>
          <p:cNvPicPr preferRelativeResize="0"/>
          <p:nvPr/>
        </p:nvPicPr>
        <p:blipFill rotWithShape="1">
          <a:blip r:embed="rId3">
            <a:alphaModFix/>
          </a:blip>
          <a:srcRect t="40500"/>
          <a:stretch/>
        </p:blipFill>
        <p:spPr>
          <a:xfrm>
            <a:off x="649224" y="1549234"/>
            <a:ext cx="5989320" cy="4491051"/>
          </a:xfrm>
          <a:prstGeom prst="rect">
            <a:avLst/>
          </a:prstGeom>
          <a:noFill/>
          <a:ln>
            <a:noFill/>
          </a:ln>
        </p:spPr>
      </p:pic>
      <p:sp>
        <p:nvSpPr>
          <p:cNvPr id="392" name="Google Shape;392;p12"/>
          <p:cNvSpPr txBox="1"/>
          <p:nvPr/>
        </p:nvSpPr>
        <p:spPr>
          <a:xfrm>
            <a:off x="7159752" y="2272268"/>
            <a:ext cx="4297800" cy="3387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200" b="1" i="0" u="none" strike="noStrike" cap="none">
                <a:solidFill>
                  <a:srgbClr val="245D68"/>
                </a:solidFill>
                <a:latin typeface="Arial"/>
                <a:ea typeface="Arial"/>
                <a:cs typeface="Arial"/>
                <a:sym typeface="Arial"/>
              </a:rPr>
              <a:t>13 metastable states</a:t>
            </a:r>
            <a:endParaRPr/>
          </a:p>
        </p:txBody>
      </p:sp>
      <p:sp>
        <p:nvSpPr>
          <p:cNvPr id="393" name="Google Shape;393;p12"/>
          <p:cNvSpPr txBox="1"/>
          <p:nvPr/>
        </p:nvSpPr>
        <p:spPr>
          <a:xfrm>
            <a:off x="7159752" y="2702036"/>
            <a:ext cx="4297800" cy="6723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100" b="0" i="0" u="none" strike="noStrike" cap="none">
                <a:solidFill>
                  <a:srgbClr val="21252B"/>
                </a:solidFill>
                <a:latin typeface="Arial"/>
                <a:ea typeface="Arial"/>
                <a:cs typeface="Arial"/>
                <a:sym typeface="Arial"/>
              </a:rPr>
              <a:t>S11 is folded; S1 and S2 keep the α-helix; S8 keeps the 3₁₀-helix.</a:t>
            </a:r>
            <a:endParaRPr/>
          </a:p>
        </p:txBody>
      </p:sp>
      <p:sp>
        <p:nvSpPr>
          <p:cNvPr id="394" name="Google Shape;394;p12"/>
          <p:cNvSpPr txBox="1"/>
          <p:nvPr/>
        </p:nvSpPr>
        <p:spPr>
          <a:xfrm>
            <a:off x="7159752" y="3881613"/>
            <a:ext cx="4297800" cy="3387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200" b="1" i="0" u="none" strike="noStrike" cap="none">
                <a:solidFill>
                  <a:srgbClr val="245D68"/>
                </a:solidFill>
                <a:latin typeface="Arial"/>
                <a:ea typeface="Arial"/>
                <a:cs typeface="Arial"/>
                <a:sym typeface="Arial"/>
              </a:rPr>
              <a:t>An unfolded hub</a:t>
            </a:r>
            <a:endParaRPr/>
          </a:p>
        </p:txBody>
      </p:sp>
      <p:sp>
        <p:nvSpPr>
          <p:cNvPr id="395" name="Google Shape;395;p12"/>
          <p:cNvSpPr txBox="1"/>
          <p:nvPr/>
        </p:nvSpPr>
        <p:spPr>
          <a:xfrm>
            <a:off x="7159752" y="4311381"/>
            <a:ext cx="4297800" cy="6723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100" b="0" i="0" u="none" strike="noStrike" cap="none">
                <a:solidFill>
                  <a:srgbClr val="21252B"/>
                </a:solidFill>
                <a:latin typeface="Arial"/>
                <a:ea typeface="Arial"/>
                <a:cs typeface="Arial"/>
                <a:sym typeface="Arial"/>
              </a:rPr>
              <a:t>S5 links every intermediate to the folded state; edges come from time-ordered transitions.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4"/>
        <p:cNvGrpSpPr/>
        <p:nvPr/>
      </p:nvGrpSpPr>
      <p:grpSpPr>
        <a:xfrm>
          <a:off x="0" y="0"/>
          <a:ext cx="0" cy="0"/>
          <a:chOff x="0" y="0"/>
          <a:chExt cx="0" cy="0"/>
        </a:xfrm>
      </p:grpSpPr>
      <p:sp>
        <p:nvSpPr>
          <p:cNvPr id="415" name="Google Shape;415;p16"/>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PART II · ADAPTIVE SAMPLING</a:t>
            </a:r>
            <a:endParaRPr/>
          </a:p>
        </p:txBody>
      </p:sp>
      <p:sp>
        <p:nvSpPr>
          <p:cNvPr id="416" name="Google Shape;416;p16"/>
          <p:cNvSpPr txBox="1"/>
          <p:nvPr/>
        </p:nvSpPr>
        <p:spPr>
          <a:xfrm>
            <a:off x="502920" y="658368"/>
            <a:ext cx="11119200" cy="4542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a:solidFill>
                  <a:srgbClr val="21252B"/>
                </a:solidFill>
              </a:rPr>
              <a:t>Adaptive sampling as policy optimization</a:t>
            </a:r>
            <a:endParaRPr/>
          </a:p>
        </p:txBody>
      </p:sp>
      <p:cxnSp>
        <p:nvCxnSpPr>
          <p:cNvPr id="417" name="Google Shape;417;p16"/>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418" name="Google Shape;418;p16"/>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Top: GRPO for language models (Shao et al., 2024). Bottom: GESPO loop, Pengmei et al., GESPO (manuscript, 2026)</a:t>
            </a:r>
            <a:endParaRPr/>
          </a:p>
        </p:txBody>
      </p:sp>
      <p:sp>
        <p:nvSpPr>
          <p:cNvPr id="419" name="Google Shape;419;p16"/>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13 / 37</a:t>
            </a:r>
            <a:endParaRPr/>
          </a:p>
        </p:txBody>
      </p:sp>
      <p:pic>
        <p:nvPicPr>
          <p:cNvPr id="420" name="Google Shape;420;p16" descr="Source gespo_overview.png; crop left/top/right/bottom (0, 0, 1, 0.662). Original scientific plot, not redrawn."/>
          <p:cNvPicPr preferRelativeResize="0"/>
          <p:nvPr/>
        </p:nvPicPr>
        <p:blipFill rotWithShape="1">
          <a:blip r:embed="rId3">
            <a:alphaModFix/>
          </a:blip>
          <a:srcRect b="40430"/>
          <a:stretch/>
        </p:blipFill>
        <p:spPr>
          <a:xfrm>
            <a:off x="727352" y="2970725"/>
            <a:ext cx="7049674" cy="2907549"/>
          </a:xfrm>
          <a:prstGeom prst="rect">
            <a:avLst/>
          </a:prstGeom>
          <a:noFill/>
          <a:ln>
            <a:noFill/>
          </a:ln>
        </p:spPr>
      </p:pic>
      <p:sp>
        <p:nvSpPr>
          <p:cNvPr id="421" name="Google Shape;421;p16"/>
          <p:cNvSpPr/>
          <p:nvPr/>
        </p:nvSpPr>
        <p:spPr>
          <a:xfrm>
            <a:off x="502920" y="5971032"/>
            <a:ext cx="11155680" cy="356616"/>
          </a:xfrm>
          <a:prstGeom prst="rect">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2" name="Google Shape;422;p16"/>
          <p:cNvSpPr txBox="1"/>
          <p:nvPr/>
        </p:nvSpPr>
        <p:spPr>
          <a:xfrm>
            <a:off x="658368" y="6021324"/>
            <a:ext cx="10844784" cy="24688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800" b="1" i="0" u="none" strike="noStrike" cap="none">
                <a:solidFill>
                  <a:srgbClr val="245D68"/>
                </a:solidFill>
                <a:latin typeface="Arial"/>
                <a:ea typeface="Arial"/>
                <a:cs typeface="Arial"/>
                <a:sym typeface="Arial"/>
              </a:rPr>
              <a:t>The first RL-trained sampling policy for biomolecular MD; the dynamics remain unbiased.</a:t>
            </a:r>
            <a:endParaRPr/>
          </a:p>
        </p:txBody>
      </p:sp>
      <p:pic>
        <p:nvPicPr>
          <p:cNvPr id="423" name="Google Shape;423;p16" title="Screenshot From 2026-09-22 17-54-47.png"/>
          <p:cNvPicPr preferRelativeResize="0"/>
          <p:nvPr/>
        </p:nvPicPr>
        <p:blipFill>
          <a:blip r:embed="rId4">
            <a:alphaModFix/>
          </a:blip>
          <a:stretch>
            <a:fillRect/>
          </a:stretch>
        </p:blipFill>
        <p:spPr>
          <a:xfrm>
            <a:off x="658375" y="1294525"/>
            <a:ext cx="7187625" cy="1857400"/>
          </a:xfrm>
          <a:prstGeom prst="rect">
            <a:avLst/>
          </a:prstGeom>
          <a:noFill/>
          <a:ln>
            <a:noFill/>
          </a:ln>
        </p:spPr>
      </p:pic>
      <p:sp>
        <p:nvSpPr>
          <p:cNvPr id="5001" name="Text 5001"/>
          <p:cNvSpPr txBox="1"/>
          <p:nvPr/>
        </p:nvSpPr>
        <p:spPr>
          <a:xfrm>
            <a:off x="8183880" y="1417320"/>
            <a:ext cx="3474720" cy="155448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600" b="1" i="0" u="none" strike="noStrike" cap="none">
                <a:solidFill>
                  <a:srgbClr val="245D68"/>
                </a:solidFill>
                <a:latin typeface="Arial"/>
                <a:ea typeface="Arial"/>
                <a:cs typeface="Arial"/>
                <a:sym typeface="Arial"/>
              </a:rPr>
              <a:t>Language models (GRPO)</a:t>
            </a:r>
          </a:p>
          <a:p>
            <a:pPr marL="0" marR="0" lvl="0" indent="0" algn="l" rtl="0">
              <a:lnSpc>
                <a:spcPct val="108000"/>
              </a:lnSpc>
              <a:spcBef>
                <a:spcPts val="400"/>
              </a:spcBef>
              <a:spcAft>
                <a:spcPts val="0"/>
              </a:spcAft>
              <a:buNone/>
            </a:pPr>
            <a:r>
              <a:rPr lang="en-US" sz="1250" b="0" i="0" u="none" strike="noStrike" cap="none">
                <a:solidFill>
                  <a:srgbClr val="21252B"/>
                </a:solidFill>
                <a:latin typeface="Arial"/>
                <a:ea typeface="Arial"/>
                <a:cs typeface="Arial"/>
                <a:sym typeface="Arial"/>
              </a:rPr>
              <a:t>A pretrained model generates a group of responses; a reward model scores each one; group-relative advantages update the model. GESPO keeps this update and derives the reward from simulated dynamics.</a:t>
            </a:r>
          </a:p>
        </p:txBody>
      </p:sp>
      <p:sp>
        <p:nvSpPr>
          <p:cNvPr id="2" name="Shape 5001"/>
          <p:cNvSpPr/>
          <p:nvPr/>
        </p:nvSpPr>
        <p:spPr>
          <a:xfrm>
            <a:off x="1604607" y="3399922"/>
            <a:ext cx="246888" cy="246888"/>
          </a:xfrm>
          <a:prstGeom prst="ellipse">
            <a:avLst/>
          </a:prstGeom>
          <a:solidFill>
            <a:srgbClr val="245D68"/>
          </a:solidFill>
          <a:ln w="12700">
            <a:solidFill>
              <a:srgbClr val="FFFFFF"/>
            </a:solid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100" b="1" i="0" u="none" strike="noStrike" cap="none">
                <a:solidFill>
                  <a:srgbClr val="FFFFFF"/>
                </a:solidFill>
                <a:latin typeface="Arial"/>
                <a:ea typeface="Arial"/>
                <a:cs typeface="Arial"/>
                <a:sym typeface="Arial"/>
              </a:rPr>
              <a:t>1</a:t>
            </a:r>
          </a:p>
        </p:txBody>
      </p:sp>
      <p:sp>
        <p:nvSpPr>
          <p:cNvPr id="5002" name="Shape 5002"/>
          <p:cNvSpPr/>
          <p:nvPr/>
        </p:nvSpPr>
        <p:spPr>
          <a:xfrm>
            <a:off x="2404080" y="4865449"/>
            <a:ext cx="246888" cy="246888"/>
          </a:xfrm>
          <a:prstGeom prst="ellipse">
            <a:avLst/>
          </a:prstGeom>
          <a:solidFill>
            <a:srgbClr val="245D68"/>
          </a:solidFill>
          <a:ln w="12700">
            <a:solidFill>
              <a:srgbClr val="FFFFFF"/>
            </a:solid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100" b="1" i="0" u="none" strike="noStrike" cap="none">
                <a:solidFill>
                  <a:srgbClr val="FFFFFF"/>
                </a:solidFill>
                <a:latin typeface="Arial"/>
                <a:ea typeface="Arial"/>
                <a:cs typeface="Arial"/>
                <a:sym typeface="Arial"/>
              </a:rPr>
              <a:t>2</a:t>
            </a:r>
          </a:p>
        </p:txBody>
      </p:sp>
      <p:sp>
        <p:nvSpPr>
          <p:cNvPr id="5003" name="Shape 5003"/>
          <p:cNvSpPr/>
          <p:nvPr/>
        </p:nvSpPr>
        <p:spPr>
          <a:xfrm>
            <a:off x="4036866" y="3429000"/>
            <a:ext cx="246888" cy="246888"/>
          </a:xfrm>
          <a:prstGeom prst="ellipse">
            <a:avLst/>
          </a:prstGeom>
          <a:solidFill>
            <a:srgbClr val="245D68"/>
          </a:solidFill>
          <a:ln w="12700">
            <a:solidFill>
              <a:srgbClr val="FFFFFF"/>
            </a:solid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100" b="1" i="0" u="none" strike="noStrike" cap="none">
                <a:solidFill>
                  <a:srgbClr val="FFFFFF"/>
                </a:solidFill>
                <a:latin typeface="Arial"/>
                <a:ea typeface="Arial"/>
                <a:cs typeface="Arial"/>
                <a:sym typeface="Arial"/>
              </a:rPr>
              <a:t>3</a:t>
            </a:r>
          </a:p>
        </p:txBody>
      </p:sp>
      <p:sp>
        <p:nvSpPr>
          <p:cNvPr id="5004" name="Shape 5004"/>
          <p:cNvSpPr/>
          <p:nvPr/>
        </p:nvSpPr>
        <p:spPr>
          <a:xfrm>
            <a:off x="4061541" y="4330416"/>
            <a:ext cx="246888" cy="246888"/>
          </a:xfrm>
          <a:prstGeom prst="ellipse">
            <a:avLst/>
          </a:prstGeom>
          <a:solidFill>
            <a:srgbClr val="245D68"/>
          </a:solidFill>
          <a:ln w="12700">
            <a:solidFill>
              <a:srgbClr val="FFFFFF"/>
            </a:solid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100" b="1" i="0" u="none" strike="noStrike" cap="none">
                <a:solidFill>
                  <a:srgbClr val="FFFFFF"/>
                </a:solidFill>
                <a:latin typeface="Arial"/>
                <a:ea typeface="Arial"/>
                <a:cs typeface="Arial"/>
                <a:sym typeface="Arial"/>
              </a:rPr>
              <a:t>4</a:t>
            </a:r>
          </a:p>
        </p:txBody>
      </p:sp>
      <p:sp>
        <p:nvSpPr>
          <p:cNvPr id="5005" name="Shape 5005"/>
          <p:cNvSpPr/>
          <p:nvPr/>
        </p:nvSpPr>
        <p:spPr>
          <a:xfrm>
            <a:off x="6455024" y="4068714"/>
            <a:ext cx="246888" cy="246888"/>
          </a:xfrm>
          <a:prstGeom prst="ellipse">
            <a:avLst/>
          </a:prstGeom>
          <a:solidFill>
            <a:srgbClr val="245D68"/>
          </a:solidFill>
          <a:ln w="12700">
            <a:solidFill>
              <a:srgbClr val="FFFFFF"/>
            </a:solid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100" b="1" i="0" u="none" strike="noStrike" cap="none">
                <a:solidFill>
                  <a:srgbClr val="FFFFFF"/>
                </a:solidFill>
                <a:latin typeface="Arial"/>
                <a:ea typeface="Arial"/>
                <a:cs typeface="Arial"/>
                <a:sym typeface="Arial"/>
              </a:rPr>
              <a:t>5</a:t>
            </a:r>
          </a:p>
        </p:txBody>
      </p:sp>
      <p:sp>
        <p:nvSpPr>
          <p:cNvPr id="5006" name="Text 5006"/>
          <p:cNvSpPr txBox="1"/>
          <p:nvPr/>
        </p:nvSpPr>
        <p:spPr>
          <a:xfrm>
            <a:off x="8092440" y="2999232"/>
            <a:ext cx="3566160" cy="27432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500" b="1" i="0" u="none" strike="noStrike" cap="none">
                <a:solidFill>
                  <a:srgbClr val="800000"/>
                </a:solidFill>
                <a:latin typeface="Arial"/>
                <a:ea typeface="Arial"/>
                <a:cs typeface="Arial"/>
                <a:sym typeface="Arial"/>
              </a:rPr>
              <a:t>GESPO, one epoch</a:t>
            </a:r>
          </a:p>
        </p:txBody>
      </p:sp>
      <p:sp>
        <p:nvSpPr>
          <p:cNvPr id="5007" name="Shape 5007"/>
          <p:cNvSpPr/>
          <p:nvPr/>
        </p:nvSpPr>
        <p:spPr>
          <a:xfrm>
            <a:off x="8101584" y="3364992"/>
            <a:ext cx="237744" cy="237744"/>
          </a:xfrm>
          <a:prstGeom prst="ellipse">
            <a:avLst/>
          </a:prstGeom>
          <a:solidFill>
            <a:srgbClr val="245D68"/>
          </a:solidFill>
          <a:ln w="12700">
            <a:solidFill>
              <a:srgbClr val="FFFFFF"/>
            </a:solid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100" b="1" i="0" u="none" strike="noStrike" cap="none">
                <a:solidFill>
                  <a:srgbClr val="FFFFFF"/>
                </a:solidFill>
                <a:latin typeface="Arial"/>
                <a:ea typeface="Arial"/>
                <a:cs typeface="Arial"/>
                <a:sym typeface="Arial"/>
              </a:rPr>
              <a:t>1</a:t>
            </a:r>
          </a:p>
        </p:txBody>
      </p:sp>
      <p:sp>
        <p:nvSpPr>
          <p:cNvPr id="5008" name="Text 5008"/>
          <p:cNvSpPr txBox="1"/>
          <p:nvPr/>
        </p:nvSpPr>
        <p:spPr>
          <a:xfrm>
            <a:off x="8449056" y="3364992"/>
            <a:ext cx="32461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200" b="1" i="0" u="none" strike="noStrike" cap="none">
                <a:solidFill>
                  <a:srgbClr val="21252B"/>
                </a:solidFill>
                <a:latin typeface="Arial"/>
                <a:ea typeface="Arial"/>
                <a:cs typeface="Arial"/>
                <a:sym typeface="Arial"/>
              </a:rPr>
              <a:t>Proposal: </a:t>
            </a:r>
            <a:r>
              <a:rPr lang="en-US" sz="1200" b="0" i="0" u="none" strike="noStrike" cap="none">
                <a:solidFill>
                  <a:srgbClr val="21252B"/>
                </a:solidFill>
                <a:latin typeface="Arial"/>
                <a:ea typeface="Arial"/>
                <a:cs typeface="Arial"/>
                <a:sym typeface="Arial"/>
              </a:rPr>
              <a:t>the policy draws G initial conformations yᵢ.</a:t>
            </a:r>
          </a:p>
        </p:txBody>
      </p:sp>
      <p:sp>
        <p:nvSpPr>
          <p:cNvPr id="5009" name="Shape 5009"/>
          <p:cNvSpPr/>
          <p:nvPr/>
        </p:nvSpPr>
        <p:spPr>
          <a:xfrm>
            <a:off x="8101584" y="3840480"/>
            <a:ext cx="237744" cy="237744"/>
          </a:xfrm>
          <a:prstGeom prst="ellipse">
            <a:avLst/>
          </a:prstGeom>
          <a:solidFill>
            <a:srgbClr val="245D68"/>
          </a:solidFill>
          <a:ln w="12700">
            <a:solidFill>
              <a:srgbClr val="FFFFFF"/>
            </a:solid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100" b="1" i="0" u="none" strike="noStrike" cap="none">
                <a:solidFill>
                  <a:srgbClr val="FFFFFF"/>
                </a:solidFill>
                <a:latin typeface="Arial"/>
                <a:ea typeface="Arial"/>
                <a:cs typeface="Arial"/>
                <a:sym typeface="Arial"/>
              </a:rPr>
              <a:t>2</a:t>
            </a:r>
          </a:p>
        </p:txBody>
      </p:sp>
      <p:sp>
        <p:nvSpPr>
          <p:cNvPr id="5010" name="Text 5010"/>
          <p:cNvSpPr txBox="1"/>
          <p:nvPr/>
        </p:nvSpPr>
        <p:spPr>
          <a:xfrm>
            <a:off x="8449056" y="3840480"/>
            <a:ext cx="32461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200" b="1" i="0" u="none" strike="noStrike" cap="none">
                <a:solidFill>
                  <a:srgbClr val="21252B"/>
                </a:solidFill>
                <a:latin typeface="Arial"/>
                <a:ea typeface="Arial"/>
                <a:cs typeface="Arial"/>
                <a:sym typeface="Arial"/>
              </a:rPr>
              <a:t>Realization (ℳ): </a:t>
            </a:r>
            <a:r>
              <a:rPr lang="en-US" sz="1200" b="0" i="0" u="none" strike="noStrike" cap="none">
                <a:solidFill>
                  <a:srgbClr val="21252B"/>
                </a:solidFill>
                <a:latin typeface="Arial"/>
                <a:ea typeface="Arial"/>
                <a:cs typeface="Arial"/>
                <a:sym typeface="Arial"/>
              </a:rPr>
              <a:t>a nearby bank frame is restrained toward yᵢ, then released.</a:t>
            </a:r>
          </a:p>
        </p:txBody>
      </p:sp>
      <p:sp>
        <p:nvSpPr>
          <p:cNvPr id="5011" name="Shape 5011"/>
          <p:cNvSpPr/>
          <p:nvPr/>
        </p:nvSpPr>
        <p:spPr>
          <a:xfrm>
            <a:off x="8101584" y="4315968"/>
            <a:ext cx="237744" cy="237744"/>
          </a:xfrm>
          <a:prstGeom prst="ellipse">
            <a:avLst/>
          </a:prstGeom>
          <a:solidFill>
            <a:srgbClr val="245D68"/>
          </a:solidFill>
          <a:ln w="12700">
            <a:solidFill>
              <a:srgbClr val="FFFFFF"/>
            </a:solid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100" b="1" i="0" u="none" strike="noStrike" cap="none">
                <a:solidFill>
                  <a:srgbClr val="FFFFFF"/>
                </a:solidFill>
                <a:latin typeface="Arial"/>
                <a:ea typeface="Arial"/>
                <a:cs typeface="Arial"/>
                <a:sym typeface="Arial"/>
              </a:rPr>
              <a:t>3</a:t>
            </a:r>
          </a:p>
        </p:txBody>
      </p:sp>
      <p:sp>
        <p:nvSpPr>
          <p:cNvPr id="5012" name="Text 5012"/>
          <p:cNvSpPr txBox="1"/>
          <p:nvPr/>
        </p:nvSpPr>
        <p:spPr>
          <a:xfrm>
            <a:off x="8449056" y="4315968"/>
            <a:ext cx="32461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200" b="1" i="0" u="none" strike="noStrike" cap="none">
                <a:solidFill>
                  <a:srgbClr val="21252B"/>
                </a:solidFill>
                <a:latin typeface="Arial"/>
                <a:ea typeface="Arial"/>
                <a:cs typeface="Arial"/>
                <a:sym typeface="Arial"/>
              </a:rPr>
              <a:t>Propagation: </a:t>
            </a:r>
            <a:r>
              <a:rPr lang="en-US" sz="1200" b="0" i="0" u="none" strike="noStrike" cap="none">
                <a:solidFill>
                  <a:srgbClr val="21252B"/>
                </a:solidFill>
                <a:latin typeface="Arial"/>
                <a:ea typeface="Arial"/>
                <a:cs typeface="Arial"/>
                <a:sym typeface="Arial"/>
              </a:rPr>
              <a:t>short unbiased trajectories run in parallel.</a:t>
            </a:r>
          </a:p>
        </p:txBody>
      </p:sp>
      <p:sp>
        <p:nvSpPr>
          <p:cNvPr id="5013" name="Shape 5013"/>
          <p:cNvSpPr/>
          <p:nvPr/>
        </p:nvSpPr>
        <p:spPr>
          <a:xfrm>
            <a:off x="8101584" y="4791456"/>
            <a:ext cx="237744" cy="237744"/>
          </a:xfrm>
          <a:prstGeom prst="ellipse">
            <a:avLst/>
          </a:prstGeom>
          <a:solidFill>
            <a:srgbClr val="245D68"/>
          </a:solidFill>
          <a:ln w="12700">
            <a:solidFill>
              <a:srgbClr val="FFFFFF"/>
            </a:solid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100" b="1" i="0" u="none" strike="noStrike" cap="none">
                <a:solidFill>
                  <a:srgbClr val="FFFFFF"/>
                </a:solidFill>
                <a:latin typeface="Arial"/>
                <a:ea typeface="Arial"/>
                <a:cs typeface="Arial"/>
                <a:sym typeface="Arial"/>
              </a:rPr>
              <a:t>4</a:t>
            </a:r>
          </a:p>
        </p:txBody>
      </p:sp>
      <p:sp>
        <p:nvSpPr>
          <p:cNvPr id="5014" name="Text 5014"/>
          <p:cNvSpPr txBox="1"/>
          <p:nvPr/>
        </p:nvSpPr>
        <p:spPr>
          <a:xfrm>
            <a:off x="8449056" y="4791456"/>
            <a:ext cx="32461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200" b="1" i="0" u="none" strike="noStrike" cap="none">
                <a:solidFill>
                  <a:srgbClr val="21252B"/>
                </a:solidFill>
                <a:latin typeface="Arial"/>
                <a:ea typeface="Arial"/>
                <a:cs typeface="Arial"/>
                <a:sym typeface="Arial"/>
              </a:rPr>
              <a:t>Reward: </a:t>
            </a:r>
            <a:r>
              <a:rPr lang="en-US" sz="1200" b="0" i="0" u="none" strike="noStrike" cap="none">
                <a:solidFill>
                  <a:srgbClr val="21252B"/>
                </a:solidFill>
                <a:latin typeface="Arial"/>
                <a:ea typeface="Arial"/>
                <a:cs typeface="Arial"/>
                <a:sym typeface="Arial"/>
              </a:rPr>
              <a:t>the Geom2Vec kinetic model scores each trajectory.</a:t>
            </a:r>
          </a:p>
        </p:txBody>
      </p:sp>
      <p:sp>
        <p:nvSpPr>
          <p:cNvPr id="5015" name="Shape 5015"/>
          <p:cNvSpPr/>
          <p:nvPr/>
        </p:nvSpPr>
        <p:spPr>
          <a:xfrm>
            <a:off x="8101584" y="5266944"/>
            <a:ext cx="237744" cy="237744"/>
          </a:xfrm>
          <a:prstGeom prst="ellipse">
            <a:avLst/>
          </a:prstGeom>
          <a:solidFill>
            <a:srgbClr val="245D68"/>
          </a:solidFill>
          <a:ln w="12700">
            <a:solidFill>
              <a:srgbClr val="FFFFFF"/>
            </a:solid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100" b="1" i="0" u="none" strike="noStrike" cap="none">
                <a:solidFill>
                  <a:srgbClr val="FFFFFF"/>
                </a:solidFill>
                <a:latin typeface="Arial"/>
                <a:ea typeface="Arial"/>
                <a:cs typeface="Arial"/>
                <a:sym typeface="Arial"/>
              </a:rPr>
              <a:t>5</a:t>
            </a:r>
          </a:p>
        </p:txBody>
      </p:sp>
      <p:sp>
        <p:nvSpPr>
          <p:cNvPr id="5016" name="Text 5016"/>
          <p:cNvSpPr txBox="1"/>
          <p:nvPr/>
        </p:nvSpPr>
        <p:spPr>
          <a:xfrm>
            <a:off x="8449056" y="5266944"/>
            <a:ext cx="32461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200" b="1" i="0" u="none" strike="noStrike" cap="none">
                <a:solidFill>
                  <a:srgbClr val="21252B"/>
                </a:solidFill>
                <a:latin typeface="Arial"/>
                <a:ea typeface="Arial"/>
                <a:cs typeface="Arial"/>
                <a:sym typeface="Arial"/>
              </a:rPr>
              <a:t>Update: </a:t>
            </a:r>
            <a:r>
              <a:rPr lang="en-US" sz="1200" b="0" i="0" u="none" strike="noStrike" cap="none">
                <a:solidFill>
                  <a:srgbClr val="21252B"/>
                </a:solidFill>
                <a:latin typeface="Arial"/>
                <a:ea typeface="Arial"/>
                <a:cs typeface="Arial"/>
                <a:sym typeface="Arial"/>
              </a:rPr>
              <a:t>group-relative advantages drive a GRPO step.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40"/>
        <p:cNvGrpSpPr/>
        <p:nvPr/>
      </p:nvGrpSpPr>
      <p:grpSpPr>
        <a:xfrm>
          <a:off x="0" y="0"/>
          <a:ext cx="0" cy="0"/>
          <a:chOff x="0" y="0"/>
          <a:chExt cx="0" cy="0"/>
        </a:xfrm>
      </p:grpSpPr>
      <p:sp>
        <p:nvSpPr>
          <p:cNvPr id="841" name="Google Shape;841;p51"/>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GESPO · POLICY MODEL</a:t>
            </a:r>
            <a:endParaRPr/>
          </a:p>
        </p:txBody>
      </p:sp>
      <p:sp>
        <p:nvSpPr>
          <p:cNvPr id="842" name="Google Shape;842;p51"/>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The policy generates an initial conformation token by token</a:t>
            </a:r>
            <a:endParaRPr/>
          </a:p>
        </p:txBody>
      </p:sp>
      <p:cxnSp>
        <p:nvCxnSpPr>
          <p:cNvPr id="843" name="Google Shape;843;p51"/>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844" name="Google Shape;844;p51"/>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GESPO (manuscript, 2026). Trp-cage: 3 descriptors, 20 residue tokens; 4 layers, d = 256, 8 heads, 8 mixture components.</a:t>
            </a:r>
            <a:endParaRPr/>
          </a:p>
        </p:txBody>
      </p:sp>
      <p:sp>
        <p:nvSpPr>
          <p:cNvPr id="845" name="Google Shape;845;p51"/>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14 / 37</a:t>
            </a:r>
            <a:endParaRPr/>
          </a:p>
        </p:txBody>
      </p:sp>
      <p:pic>
        <p:nvPicPr>
          <p:cNvPr id="5001" name="arch_panel.png" descr="Token sequence: three global descriptors, one backbone-torsion token per residue, optional ligand torsions; a causal transformer; a Gaussian-mixture head for descriptors and a von Mises-mixture head for torsions"/>
          <p:cNvPicPr>
            <a:picLocks noChangeAspect="1"/>
          </p:cNvPicPr>
          <p:nvPr/>
        </p:nvPicPr>
        <p:blipFill>
          <a:blip r:embed="rId3"/>
          <a:stretch>
            <a:fillRect/>
          </a:stretch>
        </p:blipFill>
        <p:spPr>
          <a:xfrm>
            <a:off x="411480" y="1371600"/>
            <a:ext cx="6583680" cy="4343400"/>
          </a:xfrm>
          <a:prstGeom prst="rect">
            <a:avLst/>
          </a:prstGeom>
        </p:spPr>
      </p:pic>
      <p:sp>
        <p:nvSpPr>
          <p:cNvPr id="5002" name="Text 5002"/>
          <p:cNvSpPr txBox="1"/>
          <p:nvPr/>
        </p:nvSpPr>
        <p:spPr>
          <a:xfrm>
            <a:off x="7223760" y="1371600"/>
            <a:ext cx="4526280" cy="27432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1" i="0" u="none" strike="noStrike" cap="none">
                <a:solidFill>
                  <a:srgbClr val="245D68"/>
                </a:solidFill>
                <a:latin typeface="Arial"/>
                <a:ea typeface="Arial"/>
                <a:cs typeface="Arial"/>
                <a:sym typeface="Arial"/>
              </a:rPr>
              <a:t>Autoregressive factorization</a:t>
            </a:r>
          </a:p>
        </p:txBody>
      </p:sp>
      <p:pic>
        <p:nvPicPr>
          <p:cNvPr id="5003" name="eq_fact.png" descr="Autoregressive factorization"/>
          <p:cNvPicPr>
            <a:picLocks noChangeAspect="1"/>
          </p:cNvPicPr>
          <p:nvPr/>
        </p:nvPicPr>
        <p:blipFill>
          <a:blip r:embed="rId4"/>
          <a:stretch>
            <a:fillRect/>
          </a:stretch>
        </p:blipFill>
        <p:spPr>
          <a:xfrm>
            <a:off x="7223760" y="1673352"/>
            <a:ext cx="4306824" cy="643128"/>
          </a:xfrm>
          <a:prstGeom prst="rect">
            <a:avLst/>
          </a:prstGeom>
        </p:spPr>
      </p:pic>
      <p:sp>
        <p:nvSpPr>
          <p:cNvPr id="5004" name="Text 5004"/>
          <p:cNvSpPr txBox="1"/>
          <p:nvPr/>
        </p:nvSpPr>
        <p:spPr>
          <a:xfrm>
            <a:off x="7223760" y="2545080"/>
            <a:ext cx="4526280" cy="27432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1" i="0" u="none" strike="noStrike" cap="none">
                <a:solidFill>
                  <a:srgbClr val="800000"/>
                </a:solidFill>
                <a:latin typeface="Arial"/>
                <a:ea typeface="Arial"/>
                <a:cs typeface="Arial"/>
                <a:sym typeface="Arial"/>
              </a:rPr>
              <a:t>Global descriptors: Gaussian mixture</a:t>
            </a:r>
          </a:p>
        </p:txBody>
      </p:sp>
      <p:pic>
        <p:nvPicPr>
          <p:cNvPr id="5005" name="eq_gmm.png" descr="Global descriptors: Gaussian mixture"/>
          <p:cNvPicPr>
            <a:picLocks noChangeAspect="1"/>
          </p:cNvPicPr>
          <p:nvPr/>
        </p:nvPicPr>
        <p:blipFill>
          <a:blip r:embed="rId5"/>
          <a:stretch>
            <a:fillRect/>
          </a:stretch>
        </p:blipFill>
        <p:spPr>
          <a:xfrm>
            <a:off x="7223760" y="2846832"/>
            <a:ext cx="4291584" cy="420624"/>
          </a:xfrm>
          <a:prstGeom prst="rect">
            <a:avLst/>
          </a:prstGeom>
        </p:spPr>
      </p:pic>
      <p:sp>
        <p:nvSpPr>
          <p:cNvPr id="5006" name="Text 5006"/>
          <p:cNvSpPr txBox="1"/>
          <p:nvPr/>
        </p:nvSpPr>
        <p:spPr>
          <a:xfrm>
            <a:off x="7223760" y="3496056"/>
            <a:ext cx="4526280" cy="27432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1" i="0" u="none" strike="noStrike" cap="none">
                <a:solidFill>
                  <a:srgbClr val="245D68"/>
                </a:solidFill>
                <a:latin typeface="Arial"/>
                <a:ea typeface="Arial"/>
                <a:cs typeface="Arial"/>
                <a:sym typeface="Arial"/>
              </a:rPr>
              <a:t>Torsions: von Mises mixture</a:t>
            </a:r>
          </a:p>
        </p:txBody>
      </p:sp>
      <p:pic>
        <p:nvPicPr>
          <p:cNvPr id="5007" name="eq_vm.png" descr="Torsions: von Mises mixture"/>
          <p:cNvPicPr>
            <a:picLocks noChangeAspect="1"/>
          </p:cNvPicPr>
          <p:nvPr/>
        </p:nvPicPr>
        <p:blipFill>
          <a:blip r:embed="rId6"/>
          <a:stretch>
            <a:fillRect/>
          </a:stretch>
        </p:blipFill>
        <p:spPr>
          <a:xfrm>
            <a:off x="7223760" y="3797808"/>
            <a:ext cx="4236720" cy="420624"/>
          </a:xfrm>
          <a:prstGeom prst="rect">
            <a:avLst/>
          </a:prstGeom>
        </p:spPr>
      </p:pic>
      <p:sp>
        <p:nvSpPr>
          <p:cNvPr id="5008" name="Text 5008"/>
          <p:cNvSpPr txBox="1"/>
          <p:nvPr/>
        </p:nvSpPr>
        <p:spPr>
          <a:xfrm>
            <a:off x="7223760" y="4447032"/>
            <a:ext cx="4526280" cy="27432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1" i="0" u="none" strike="noStrike" cap="none">
                <a:solidFill>
                  <a:srgbClr val="245D68"/>
                </a:solidFill>
                <a:latin typeface="Arial"/>
                <a:ea typeface="Arial"/>
                <a:cs typeface="Arial"/>
                <a:sym typeface="Arial"/>
              </a:rPr>
              <a:t>Exact log-likelihood</a:t>
            </a:r>
          </a:p>
        </p:txBody>
      </p:sp>
      <p:pic>
        <p:nvPicPr>
          <p:cNvPr id="5009" name="eq_ll.png" descr="Exact log-likelihood"/>
          <p:cNvPicPr>
            <a:picLocks noChangeAspect="1"/>
          </p:cNvPicPr>
          <p:nvPr/>
        </p:nvPicPr>
        <p:blipFill>
          <a:blip r:embed="rId7"/>
          <a:stretch>
            <a:fillRect/>
          </a:stretch>
        </p:blipFill>
        <p:spPr>
          <a:xfrm>
            <a:off x="7223760" y="4748784"/>
            <a:ext cx="4178808" cy="475488"/>
          </a:xfrm>
          <a:prstGeom prst="rect">
            <a:avLst/>
          </a:prstGeom>
        </p:spPr>
      </p:pic>
      <p:sp>
        <p:nvSpPr>
          <p:cNvPr id="5010" name="Shape 5010"/>
          <p:cNvSpPr/>
          <p:nvPr/>
        </p:nvSpPr>
        <p:spPr>
          <a:xfrm>
            <a:off x="502920" y="5971032"/>
            <a:ext cx="11155680" cy="356616"/>
          </a:xfrm>
          <a:prstGeom prst="rect">
            <a:avLst/>
          </a:prstGeom>
          <a:solidFill>
            <a:srgbClr val="EFF5F6"/>
          </a:solidFill>
          <a:ln>
            <a:noFill/>
          </a:ln>
        </p:spPr>
        <p:txBody>
          <a:bodyPr spcFirstLastPara="1" wrap="square" lIns="45720" tIns="0" rIns="45720" bIns="0" anchor="ctr" anchorCtr="0">
            <a:noAutofit/>
          </a:bodyPr>
          <a:lstStyle/>
          <a:p>
            <a:pPr marL="0" marR="0" lvl="0" indent="0" algn="l" rtl="0">
              <a:lnSpc>
                <a:spcPct val="108000"/>
              </a:lnSpc>
              <a:spcBef>
                <a:spcPts val="0"/>
              </a:spcBef>
              <a:spcAft>
                <a:spcPts val="0"/>
              </a:spcAft>
              <a:buNone/>
            </a:pPr>
            <a:r>
              <a:rPr lang="en-US" sz="1700" b="1" i="0" u="none" strike="noStrike" cap="none" dirty="0">
                <a:solidFill>
                  <a:srgbClr val="245D68"/>
                </a:solidFill>
                <a:latin typeface="Arial"/>
                <a:ea typeface="Arial"/>
                <a:cs typeface="Arial"/>
                <a:sym typeface="Arial"/>
              </a:rPr>
              <a:t>Every conditional is a normalized density, so log π</a:t>
            </a:r>
            <a:r>
              <a:rPr lang="en-US" sz="1700" b="1" i="0" baseline="-25000" dirty="0">
                <a:solidFill>
                  <a:srgbClr val="245D68"/>
                </a:solidFill>
                <a:latin typeface="Arial"/>
                <a:ea typeface="Arial"/>
                <a:cs typeface="Arial"/>
                <a:sym typeface="Arial"/>
              </a:rPr>
              <a:t>θ</a:t>
            </a:r>
            <a:r>
              <a:rPr lang="en-US" sz="1700" b="1" i="0" u="none" strike="noStrike" cap="none" dirty="0">
                <a:solidFill>
                  <a:srgbClr val="245D68"/>
                </a:solidFill>
                <a:latin typeface="Arial"/>
                <a:ea typeface="Arial"/>
                <a:cs typeface="Arial"/>
                <a:sym typeface="Arial"/>
              </a:rPr>
              <a:t>(y) is exact.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88"/>
        <p:cNvGrpSpPr/>
        <p:nvPr/>
      </p:nvGrpSpPr>
      <p:grpSpPr>
        <a:xfrm>
          <a:off x="0" y="0"/>
          <a:ext cx="0" cy="0"/>
          <a:chOff x="0" y="0"/>
          <a:chExt cx="0" cy="0"/>
        </a:xfrm>
      </p:grpSpPr>
      <p:sp>
        <p:nvSpPr>
          <p:cNvPr id="689" name="Google Shape;689;p37"/>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GESPO · WHERE GEOM2VEC ENTERS</a:t>
            </a:r>
            <a:endParaRPr/>
          </a:p>
        </p:txBody>
      </p:sp>
      <p:sp>
        <p:nvSpPr>
          <p:cNvPr id="690" name="Google Shape;690;p37"/>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Geom2Vec is the kinetic model inside GESPO</a:t>
            </a:r>
            <a:endParaRPr/>
          </a:p>
        </p:txBody>
      </p:sp>
      <p:cxnSp>
        <p:nvCxnSpPr>
          <p:cNvPr id="691" name="Google Shape;691;p37"/>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692" name="Google Shape;692;p37"/>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GESPO (manuscript, 2026), Methods and Appendix. Trypsin: TensorNet encoder on all heavy atoms, 224 tokens, token merging on.</a:t>
            </a:r>
          </a:p>
        </p:txBody>
      </p:sp>
      <p:sp>
        <p:nvSpPr>
          <p:cNvPr id="693" name="Google Shape;693;p37"/>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15 / 37</a:t>
            </a:r>
            <a:endParaRPr/>
          </a:p>
        </p:txBody>
      </p:sp>
      <p:sp>
        <p:nvSpPr>
          <p:cNvPr id="5001" name="Shape 5001"/>
          <p:cNvSpPr/>
          <p:nvPr/>
        </p:nvSpPr>
        <p:spPr>
          <a:xfrm>
            <a:off x="548640" y="2331720"/>
            <a:ext cx="3108960" cy="2011680"/>
          </a:xfrm>
          <a:prstGeom prst="roundRect">
            <a:avLst>
              <a:gd name="adj" fmla="val 5000"/>
            </a:avLst>
          </a:prstGeom>
          <a:solidFill>
            <a:srgbClr val="EFF5F6"/>
          </a:solidFill>
          <a:ln w="12700">
            <a:solidFill>
              <a:srgbClr val="245D68"/>
            </a:solidFill>
          </a:ln>
        </p:spPr>
        <p:txBody>
          <a:bodyPr spcFirstLastPara="1" wrap="square" lIns="45720" tIns="0" rIns="45720" bIns="0" anchor="ctr" anchorCtr="0">
            <a:noAutofit/>
          </a:bodyPr>
          <a:lstStyle/>
          <a:p>
            <a:endParaRPr lang="en-US"/>
          </a:p>
        </p:txBody>
      </p:sp>
      <p:sp>
        <p:nvSpPr>
          <p:cNvPr id="5002" name="Text 5002"/>
          <p:cNvSpPr txBox="1"/>
          <p:nvPr/>
        </p:nvSpPr>
        <p:spPr>
          <a:xfrm>
            <a:off x="731520" y="2468880"/>
            <a:ext cx="2743200" cy="173736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800" b="1" i="0" u="none" strike="noStrike" cap="none">
                <a:solidFill>
                  <a:srgbClr val="245D68"/>
                </a:solidFill>
                <a:latin typeface="Arial"/>
                <a:ea typeface="Arial"/>
                <a:cs typeface="Arial"/>
                <a:sym typeface="Arial"/>
              </a:rPr>
              <a:t>Geom2Vec</a:t>
            </a:r>
          </a:p>
          <a:p>
            <a:pPr marL="0" marR="0" lvl="0" indent="0" algn="l" rtl="0">
              <a:lnSpc>
                <a:spcPct val="108000"/>
              </a:lnSpc>
              <a:spcBef>
                <a:spcPts val="400"/>
              </a:spcBef>
              <a:spcAft>
                <a:spcPts val="0"/>
              </a:spcAft>
              <a:buNone/>
            </a:pPr>
            <a:r>
              <a:rPr lang="en-US" sz="1250" b="0" i="0" u="none" strike="noStrike" cap="none">
                <a:solidFill>
                  <a:srgbClr val="21252B"/>
                </a:solidFill>
                <a:latin typeface="Arial"/>
                <a:ea typeface="Arial"/>
                <a:cs typeface="Arial"/>
                <a:sym typeface="Arial"/>
              </a:rPr>
              <a:t>Frozen all-atom encoder</a:t>
            </a:r>
          </a:p>
          <a:p>
            <a:pPr marL="0" marR="0" lvl="0" indent="0" algn="l" rtl="0">
              <a:lnSpc>
                <a:spcPct val="108000"/>
              </a:lnSpc>
              <a:spcBef>
                <a:spcPts val="200"/>
              </a:spcBef>
              <a:spcAft>
                <a:spcPts val="0"/>
              </a:spcAft>
              <a:buNone/>
            </a:pPr>
            <a:r>
              <a:rPr lang="en-US" sz="1250" b="0" i="0" u="none" strike="noStrike" cap="none">
                <a:solidFill>
                  <a:srgbClr val="21252B"/>
                </a:solidFill>
                <a:latin typeface="Arial"/>
                <a:ea typeface="Arial"/>
                <a:cs typeface="Arial"/>
                <a:sym typeface="Arial"/>
              </a:rPr>
              <a:t>↓  residue (and ligand) tokens</a:t>
            </a:r>
          </a:p>
          <a:p>
            <a:pPr marL="0" marR="0" lvl="0" indent="0" algn="l" rtl="0">
              <a:lnSpc>
                <a:spcPct val="108000"/>
              </a:lnSpc>
              <a:spcBef>
                <a:spcPts val="200"/>
              </a:spcBef>
              <a:spcAft>
                <a:spcPts val="0"/>
              </a:spcAft>
              <a:buNone/>
            </a:pPr>
            <a:r>
              <a:rPr lang="en-US" sz="1250" b="0" i="0" u="none" strike="noStrike" cap="none">
                <a:solidFill>
                  <a:srgbClr val="21252B"/>
                </a:solidFill>
                <a:latin typeface="Arial"/>
                <a:ea typeface="Arial"/>
                <a:cs typeface="Arial"/>
                <a:sym typeface="Arial"/>
              </a:rPr>
              <a:t>↓  token merging (trypsin)</a:t>
            </a:r>
          </a:p>
          <a:p>
            <a:pPr marL="0" marR="0" lvl="0" indent="0" algn="l" rtl="0">
              <a:lnSpc>
                <a:spcPct val="108000"/>
              </a:lnSpc>
              <a:spcBef>
                <a:spcPts val="200"/>
              </a:spcBef>
              <a:spcAft>
                <a:spcPts val="0"/>
              </a:spcAft>
              <a:buNone/>
            </a:pPr>
            <a:r>
              <a:rPr lang="en-US" sz="1250" b="0" i="0" u="none" strike="noStrike" cap="none">
                <a:solidFill>
                  <a:srgbClr val="21252B"/>
                </a:solidFill>
                <a:latin typeface="Arial"/>
                <a:ea typeface="Arial"/>
                <a:cs typeface="Arial"/>
                <a:sym typeface="Arial"/>
              </a:rPr>
              <a:t>↓  VAMP projector χ, refit each epoch</a:t>
            </a:r>
          </a:p>
        </p:txBody>
      </p:sp>
      <p:sp>
        <p:nvSpPr>
          <p:cNvPr id="5003" name="Text 5003"/>
          <p:cNvSpPr txBox="1"/>
          <p:nvPr/>
        </p:nvSpPr>
        <p:spPr>
          <a:xfrm>
            <a:off x="4343400" y="1371600"/>
            <a:ext cx="3520440" cy="3200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450" b="1" i="0" u="none" strike="noStrike" cap="none">
                <a:solidFill>
                  <a:srgbClr val="800000"/>
                </a:solidFill>
                <a:latin typeface="Arial"/>
                <a:ea typeface="Arial"/>
                <a:cs typeface="Arial"/>
                <a:sym typeface="Arial"/>
              </a:rPr>
              <a:t>Reward: scores each trajectory</a:t>
            </a:r>
          </a:p>
        </p:txBody>
      </p:sp>
      <p:sp>
        <p:nvSpPr>
          <p:cNvPr id="5004" name="Text 5004"/>
          <p:cNvSpPr txBox="1"/>
          <p:nvPr/>
        </p:nvSpPr>
        <p:spPr>
          <a:xfrm>
            <a:off x="8229600" y="1371600"/>
            <a:ext cx="3474720" cy="3200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450" b="1" i="0" u="none" strike="noStrike" cap="none">
                <a:solidFill>
                  <a:srgbClr val="800000"/>
                </a:solidFill>
                <a:latin typeface="Arial"/>
                <a:ea typeface="Arial"/>
                <a:cs typeface="Arial"/>
                <a:sym typeface="Arial"/>
              </a:rPr>
              <a:t>Analysis: interprets the data</a:t>
            </a:r>
          </a:p>
        </p:txBody>
      </p:sp>
      <p:sp>
        <p:nvSpPr>
          <p:cNvPr id="5005" name="Shape 5005"/>
          <p:cNvSpPr/>
          <p:nvPr/>
        </p:nvSpPr>
        <p:spPr>
          <a:xfrm>
            <a:off x="4343400" y="1828800"/>
            <a:ext cx="3520440" cy="1097280"/>
          </a:xfrm>
          <a:prstGeom prst="roundRect">
            <a:avLst>
              <a:gd name="adj" fmla="val 6000"/>
            </a:avLst>
          </a:prstGeom>
          <a:solidFill>
            <a:srgbClr val="FFFFFF"/>
          </a:solidFill>
          <a:ln w="12700">
            <a:solidFill>
              <a:srgbClr val="D5DCE2"/>
            </a:solidFill>
          </a:ln>
        </p:spPr>
        <p:txBody>
          <a:bodyPr spcFirstLastPara="1" wrap="square" lIns="45720" tIns="0" rIns="45720" bIns="0" anchor="ctr" anchorCtr="0">
            <a:noAutofit/>
          </a:bodyPr>
          <a:lstStyle/>
          <a:p>
            <a:endParaRPr lang="en-US"/>
          </a:p>
        </p:txBody>
      </p:sp>
      <p:sp>
        <p:nvSpPr>
          <p:cNvPr id="5006" name="Text 5006"/>
          <p:cNvSpPr txBox="1"/>
          <p:nvPr/>
        </p:nvSpPr>
        <p:spPr>
          <a:xfrm>
            <a:off x="4480560" y="1920240"/>
            <a:ext cx="3246120" cy="96012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50" b="1" i="0" u="none" strike="noStrike" cap="none">
                <a:solidFill>
                  <a:srgbClr val="21252B"/>
                </a:solidFill>
                <a:latin typeface="Arial"/>
                <a:ea typeface="Arial"/>
                <a:cs typeface="Arial"/>
                <a:sym typeface="Arial"/>
              </a:rPr>
              <a:t>Leave-one-out VAMP-2 contribution</a:t>
            </a:r>
          </a:p>
          <a:p>
            <a:pPr marL="0" marR="0" lvl="0" indent="0" algn="l" rtl="0">
              <a:lnSpc>
                <a:spcPct val="108000"/>
              </a:lnSpc>
              <a:spcBef>
                <a:spcPts val="150"/>
              </a:spcBef>
              <a:spcAft>
                <a:spcPts val="0"/>
              </a:spcAft>
              <a:buNone/>
            </a:pPr>
            <a:r>
              <a:rPr lang="en-US" sz="1150" b="0" i="0" u="none" strike="noStrike" cap="none">
                <a:solidFill>
                  <a:srgbClr val="21252B"/>
                </a:solidFill>
                <a:latin typeface="Arial"/>
                <a:ea typeface="Arial"/>
                <a:cs typeface="Arial"/>
                <a:sym typeface="Arial"/>
              </a:rPr>
              <a:t>Change in S when trajectory i is removed</a:t>
            </a:r>
          </a:p>
        </p:txBody>
      </p:sp>
      <p:sp>
        <p:nvSpPr>
          <p:cNvPr id="5007" name="Shape 5007"/>
          <p:cNvSpPr/>
          <p:nvPr/>
        </p:nvSpPr>
        <p:spPr>
          <a:xfrm>
            <a:off x="4343400" y="3154680"/>
            <a:ext cx="3520440" cy="1097280"/>
          </a:xfrm>
          <a:prstGeom prst="roundRect">
            <a:avLst>
              <a:gd name="adj" fmla="val 6000"/>
            </a:avLst>
          </a:prstGeom>
          <a:solidFill>
            <a:srgbClr val="FFFFFF"/>
          </a:solidFill>
          <a:ln w="12700">
            <a:solidFill>
              <a:srgbClr val="D5DCE2"/>
            </a:solidFill>
          </a:ln>
        </p:spPr>
        <p:txBody>
          <a:bodyPr spcFirstLastPara="1" wrap="square" lIns="45720" tIns="0" rIns="45720" bIns="0" anchor="ctr" anchorCtr="0">
            <a:noAutofit/>
          </a:bodyPr>
          <a:lstStyle/>
          <a:p>
            <a:endParaRPr lang="en-US"/>
          </a:p>
        </p:txBody>
      </p:sp>
      <p:sp>
        <p:nvSpPr>
          <p:cNvPr id="5008" name="Text 5008"/>
          <p:cNvSpPr txBox="1"/>
          <p:nvPr/>
        </p:nvSpPr>
        <p:spPr>
          <a:xfrm>
            <a:off x="4480560" y="3246120"/>
            <a:ext cx="3246120" cy="96012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50" b="1" i="0" u="none" strike="noStrike" cap="none">
                <a:solidFill>
                  <a:srgbClr val="21252B"/>
                </a:solidFill>
                <a:latin typeface="Arial"/>
                <a:ea typeface="Arial"/>
                <a:cs typeface="Arial"/>
                <a:sym typeface="Arial"/>
              </a:rPr>
              <a:t>Coverage bonus</a:t>
            </a:r>
          </a:p>
          <a:p>
            <a:pPr marL="0" marR="0" lvl="0" indent="0" algn="l" rtl="0">
              <a:lnSpc>
                <a:spcPct val="108000"/>
              </a:lnSpc>
              <a:spcBef>
                <a:spcPts val="150"/>
              </a:spcBef>
              <a:spcAft>
                <a:spcPts val="0"/>
              </a:spcAft>
              <a:buNone/>
            </a:pPr>
            <a:r>
              <a:rPr lang="en-US" sz="1150" b="0" i="0" u="none" strike="noStrike" cap="none">
                <a:solidFill>
                  <a:srgbClr val="21252B"/>
                </a:solidFill>
                <a:latin typeface="Arial"/>
                <a:ea typeface="Arial"/>
                <a:cs typeface="Arial"/>
                <a:sym typeface="Arial"/>
              </a:rPr>
              <a:t>Visits to sparsely sampled bins in the first two slow coordinates</a:t>
            </a:r>
          </a:p>
        </p:txBody>
      </p:sp>
      <p:sp>
        <p:nvSpPr>
          <p:cNvPr id="5009" name="Shape 5009"/>
          <p:cNvSpPr/>
          <p:nvPr/>
        </p:nvSpPr>
        <p:spPr>
          <a:xfrm>
            <a:off x="4343400" y="4480560"/>
            <a:ext cx="3520440" cy="1097280"/>
          </a:xfrm>
          <a:prstGeom prst="roundRect">
            <a:avLst>
              <a:gd name="adj" fmla="val 6000"/>
            </a:avLst>
          </a:prstGeom>
          <a:solidFill>
            <a:srgbClr val="FFFFFF"/>
          </a:solidFill>
          <a:ln w="12700">
            <a:solidFill>
              <a:srgbClr val="D5DCE2"/>
            </a:solidFill>
          </a:ln>
        </p:spPr>
        <p:txBody>
          <a:bodyPr spcFirstLastPara="1" wrap="square" lIns="45720" tIns="0" rIns="45720" bIns="0" anchor="ctr" anchorCtr="0">
            <a:noAutofit/>
          </a:bodyPr>
          <a:lstStyle/>
          <a:p>
            <a:endParaRPr lang="en-US"/>
          </a:p>
        </p:txBody>
      </p:sp>
      <p:sp>
        <p:nvSpPr>
          <p:cNvPr id="5010" name="Text 5010"/>
          <p:cNvSpPr txBox="1"/>
          <p:nvPr/>
        </p:nvSpPr>
        <p:spPr>
          <a:xfrm>
            <a:off x="4480560" y="4572000"/>
            <a:ext cx="3246120" cy="96012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50" b="1" i="0" u="none" strike="noStrike" cap="none">
                <a:solidFill>
                  <a:srgbClr val="21252B"/>
                </a:solidFill>
                <a:latin typeface="Arial"/>
                <a:ea typeface="Arial"/>
                <a:cs typeface="Arial"/>
                <a:sym typeface="Arial"/>
              </a:rPr>
              <a:t>Transition information gain</a:t>
            </a:r>
          </a:p>
          <a:p>
            <a:pPr marL="0" marR="0" lvl="0" indent="0" algn="l" rtl="0">
              <a:lnSpc>
                <a:spcPct val="108000"/>
              </a:lnSpc>
              <a:spcBef>
                <a:spcPts val="150"/>
              </a:spcBef>
              <a:spcAft>
                <a:spcPts val="0"/>
              </a:spcAft>
              <a:buNone/>
            </a:pPr>
            <a:r>
              <a:rPr lang="en-US" sz="1150" b="0" i="0" u="none" strike="noStrike" cap="none">
                <a:solidFill>
                  <a:srgbClr val="21252B"/>
                </a:solidFill>
                <a:latin typeface="Arial"/>
                <a:ea typeface="Arial"/>
                <a:cs typeface="Arial"/>
                <a:sym typeface="Arial"/>
              </a:rPr>
              <a:t>New transitions among k-means states in the slow coordinates</a:t>
            </a:r>
          </a:p>
        </p:txBody>
      </p:sp>
      <p:sp>
        <p:nvSpPr>
          <p:cNvPr id="5011" name="Shape 5011"/>
          <p:cNvSpPr/>
          <p:nvPr/>
        </p:nvSpPr>
        <p:spPr>
          <a:xfrm>
            <a:off x="8229600" y="1828800"/>
            <a:ext cx="3474720" cy="1097280"/>
          </a:xfrm>
          <a:prstGeom prst="roundRect">
            <a:avLst>
              <a:gd name="adj" fmla="val 6000"/>
            </a:avLst>
          </a:prstGeom>
          <a:solidFill>
            <a:srgbClr val="FFFFFF"/>
          </a:solidFill>
          <a:ln w="12700">
            <a:solidFill>
              <a:srgbClr val="D5DCE2"/>
            </a:solidFill>
          </a:ln>
        </p:spPr>
        <p:txBody>
          <a:bodyPr spcFirstLastPara="1" wrap="square" lIns="45720" tIns="0" rIns="45720" bIns="0" anchor="ctr" anchorCtr="0">
            <a:noAutofit/>
          </a:bodyPr>
          <a:lstStyle/>
          <a:p>
            <a:endParaRPr lang="en-US"/>
          </a:p>
        </p:txBody>
      </p:sp>
      <p:sp>
        <p:nvSpPr>
          <p:cNvPr id="5012" name="Text 5012"/>
          <p:cNvSpPr txBox="1"/>
          <p:nvPr/>
        </p:nvSpPr>
        <p:spPr>
          <a:xfrm>
            <a:off x="8366760" y="1920240"/>
            <a:ext cx="3200400" cy="96012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50" b="1" i="0" u="none" strike="noStrike" cap="none">
                <a:solidFill>
                  <a:srgbClr val="21252B"/>
                </a:solidFill>
                <a:latin typeface="Arial"/>
                <a:ea typeface="Arial"/>
                <a:cs typeface="Arial"/>
                <a:sym typeface="Arial"/>
              </a:rPr>
              <a:t>SPIB metastable states</a:t>
            </a:r>
          </a:p>
          <a:p>
            <a:pPr marL="0" marR="0" lvl="0" indent="0" algn="l" rtl="0">
              <a:lnSpc>
                <a:spcPct val="108000"/>
              </a:lnSpc>
              <a:spcBef>
                <a:spcPts val="150"/>
              </a:spcBef>
              <a:spcAft>
                <a:spcPts val="0"/>
              </a:spcAft>
              <a:buNone/>
            </a:pPr>
            <a:r>
              <a:rPr lang="en-US" sz="1150" b="0" i="0" u="none" strike="noStrike" cap="none">
                <a:solidFill>
                  <a:srgbClr val="21252B"/>
                </a:solidFill>
                <a:latin typeface="Arial"/>
                <a:ea typeface="Arial"/>
                <a:cs typeface="Arial"/>
                <a:sym typeface="Arial"/>
              </a:rPr>
              <a:t>Trp-cage: 23 states. Trypsin: 7 receptor macrostates</a:t>
            </a:r>
          </a:p>
        </p:txBody>
      </p:sp>
      <p:sp>
        <p:nvSpPr>
          <p:cNvPr id="5013" name="Shape 5013"/>
          <p:cNvSpPr/>
          <p:nvPr/>
        </p:nvSpPr>
        <p:spPr>
          <a:xfrm>
            <a:off x="8229600" y="3154680"/>
            <a:ext cx="3474720" cy="1097280"/>
          </a:xfrm>
          <a:prstGeom prst="roundRect">
            <a:avLst>
              <a:gd name="adj" fmla="val 6000"/>
            </a:avLst>
          </a:prstGeom>
          <a:solidFill>
            <a:srgbClr val="FFFFFF"/>
          </a:solidFill>
          <a:ln w="12700">
            <a:solidFill>
              <a:srgbClr val="D5DCE2"/>
            </a:solidFill>
          </a:ln>
        </p:spPr>
        <p:txBody>
          <a:bodyPr spcFirstLastPara="1" wrap="square" lIns="45720" tIns="0" rIns="45720" bIns="0" anchor="ctr" anchorCtr="0">
            <a:noAutofit/>
          </a:bodyPr>
          <a:lstStyle/>
          <a:p>
            <a:endParaRPr lang="en-US"/>
          </a:p>
        </p:txBody>
      </p:sp>
      <p:sp>
        <p:nvSpPr>
          <p:cNvPr id="5014" name="Text 5014"/>
          <p:cNvSpPr txBox="1"/>
          <p:nvPr/>
        </p:nvSpPr>
        <p:spPr>
          <a:xfrm>
            <a:off x="8366760" y="3246120"/>
            <a:ext cx="3200400" cy="96012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50" b="1" i="0" u="none" strike="noStrike" cap="none">
                <a:solidFill>
                  <a:srgbClr val="21252B"/>
                </a:solidFill>
                <a:latin typeface="Arial"/>
                <a:ea typeface="Arial"/>
                <a:cs typeface="Arial"/>
                <a:sym typeface="Arial"/>
              </a:rPr>
              <a:t>DGA committors</a:t>
            </a:r>
          </a:p>
          <a:p>
            <a:pPr marL="0" marR="0" lvl="0" indent="0" algn="l" rtl="0">
              <a:lnSpc>
                <a:spcPct val="108000"/>
              </a:lnSpc>
              <a:spcBef>
                <a:spcPts val="150"/>
              </a:spcBef>
              <a:spcAft>
                <a:spcPts val="0"/>
              </a:spcAft>
              <a:buNone/>
            </a:pPr>
            <a:r>
              <a:rPr lang="en-US" sz="1150" b="0" i="0" u="none" strike="noStrike" cap="none">
                <a:solidFill>
                  <a:srgbClr val="21252B"/>
                </a:solidFill>
                <a:latin typeface="Arial"/>
                <a:ea typeface="Arial"/>
                <a:cs typeface="Arial"/>
                <a:sym typeface="Arial"/>
              </a:rPr>
              <a:t>Basis functions built on the SPIB states</a:t>
            </a:r>
          </a:p>
        </p:txBody>
      </p:sp>
      <p:sp>
        <p:nvSpPr>
          <p:cNvPr id="5015" name="Shape 5015"/>
          <p:cNvSpPr/>
          <p:nvPr/>
        </p:nvSpPr>
        <p:spPr>
          <a:xfrm>
            <a:off x="8229600" y="4480560"/>
            <a:ext cx="3474720" cy="1097280"/>
          </a:xfrm>
          <a:prstGeom prst="roundRect">
            <a:avLst>
              <a:gd name="adj" fmla="val 6000"/>
            </a:avLst>
          </a:prstGeom>
          <a:solidFill>
            <a:srgbClr val="FFFFFF"/>
          </a:solidFill>
          <a:ln w="12700">
            <a:solidFill>
              <a:srgbClr val="D5DCE2"/>
            </a:solidFill>
          </a:ln>
        </p:spPr>
        <p:txBody>
          <a:bodyPr spcFirstLastPara="1" wrap="square" lIns="45720" tIns="0" rIns="45720" bIns="0" anchor="ctr" anchorCtr="0">
            <a:noAutofit/>
          </a:bodyPr>
          <a:lstStyle/>
          <a:p>
            <a:endParaRPr lang="en-US"/>
          </a:p>
        </p:txBody>
      </p:sp>
      <p:sp>
        <p:nvSpPr>
          <p:cNvPr id="5016" name="Text 5016"/>
          <p:cNvSpPr txBox="1"/>
          <p:nvPr/>
        </p:nvSpPr>
        <p:spPr>
          <a:xfrm>
            <a:off x="8366760" y="4572000"/>
            <a:ext cx="3200400" cy="96012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50" b="1" i="0" u="none" strike="noStrike" cap="none">
                <a:solidFill>
                  <a:srgbClr val="21252B"/>
                </a:solidFill>
                <a:latin typeface="Arial"/>
                <a:ea typeface="Arial"/>
                <a:cs typeface="Arial"/>
                <a:sym typeface="Arial"/>
              </a:rPr>
              <a:t>Reactive flux and exchange</a:t>
            </a:r>
          </a:p>
          <a:p>
            <a:pPr marL="0" marR="0" lvl="0" indent="0" algn="l" rtl="0">
              <a:lnSpc>
                <a:spcPct val="108000"/>
              </a:lnSpc>
              <a:spcBef>
                <a:spcPts val="150"/>
              </a:spcBef>
              <a:spcAft>
                <a:spcPts val="0"/>
              </a:spcAft>
              <a:buNone/>
            </a:pPr>
            <a:r>
              <a:rPr lang="en-US" sz="1150" b="0" i="0" u="none" strike="noStrike" cap="none">
                <a:solidFill>
                  <a:srgbClr val="21252B"/>
                </a:solidFill>
                <a:latin typeface="Arial"/>
                <a:ea typeface="Arial"/>
                <a:cs typeface="Arial"/>
                <a:sym typeface="Arial"/>
              </a:rPr>
              <a:t>Networks over the SPIB macrostates</a:t>
            </a:r>
          </a:p>
        </p:txBody>
      </p:sp>
      <p:cxnSp>
        <p:nvCxnSpPr>
          <p:cNvPr id="5017" name="Arrow 5017"/>
          <p:cNvCxnSpPr/>
          <p:nvPr/>
        </p:nvCxnSpPr>
        <p:spPr>
          <a:xfrm flipV="1">
            <a:off x="3657600" y="2377440"/>
            <a:ext cx="640080" cy="960120"/>
          </a:xfrm>
          <a:prstGeom prst="straightConnector1">
            <a:avLst/>
          </a:prstGeom>
          <a:ln w="19050">
            <a:solidFill>
              <a:srgbClr val="245D68"/>
            </a:solidFill>
            <a:tailEnd type="triangle" w="med" len="med"/>
          </a:ln>
        </p:spPr>
      </p:cxnSp>
      <p:cxnSp>
        <p:nvCxnSpPr>
          <p:cNvPr id="5018" name="Arrow 5018"/>
          <p:cNvCxnSpPr/>
          <p:nvPr/>
        </p:nvCxnSpPr>
        <p:spPr>
          <a:xfrm>
            <a:off x="3657600" y="3337560"/>
            <a:ext cx="640080" cy="365760"/>
          </a:xfrm>
          <a:prstGeom prst="straightConnector1">
            <a:avLst/>
          </a:prstGeom>
          <a:ln w="19050">
            <a:solidFill>
              <a:srgbClr val="245D68"/>
            </a:solidFill>
            <a:tailEnd type="triangle" w="med" len="med"/>
          </a:ln>
        </p:spPr>
      </p:cxnSp>
      <p:cxnSp>
        <p:nvCxnSpPr>
          <p:cNvPr id="5019" name="Arrow 5019"/>
          <p:cNvCxnSpPr/>
          <p:nvPr/>
        </p:nvCxnSpPr>
        <p:spPr>
          <a:xfrm>
            <a:off x="3657600" y="3337560"/>
            <a:ext cx="640080" cy="1691640"/>
          </a:xfrm>
          <a:prstGeom prst="straightConnector1">
            <a:avLst/>
          </a:prstGeom>
          <a:ln w="19050">
            <a:solidFill>
              <a:srgbClr val="245D68"/>
            </a:solidFill>
            <a:tailEnd type="triangle" w="med" len="med"/>
          </a:ln>
        </p:spPr>
      </p:cxnSp>
      <p:cxnSp>
        <p:nvCxnSpPr>
          <p:cNvPr id="5020" name="Arrow 5020"/>
          <p:cNvCxnSpPr/>
          <p:nvPr/>
        </p:nvCxnSpPr>
        <p:spPr>
          <a:xfrm>
            <a:off x="9144000" y="1783080"/>
            <a:ext cx="0" cy="0"/>
          </a:xfrm>
          <a:prstGeom prst="straightConnector1">
            <a:avLst/>
          </a:prstGeom>
          <a:ln w="1">
            <a:solidFill>
              <a:srgbClr val="FFFFFF"/>
            </a:solidFill>
            <a:tailEnd type="triangle" w="med" len="med"/>
          </a:ln>
        </p:spPr>
      </p:cxnSp>
      <p:sp>
        <p:nvSpPr>
          <p:cNvPr id="5021" name="Text 5021"/>
          <p:cNvSpPr txBox="1"/>
          <p:nvPr/>
        </p:nvSpPr>
        <p:spPr>
          <a:xfrm>
            <a:off x="548640" y="5074920"/>
            <a:ext cx="3108960" cy="7772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050" b="0" i="0" u="none" strike="noStrike" cap="none">
                <a:solidFill>
                  <a:srgbClr val="59616B"/>
                </a:solidFill>
                <a:latin typeface="Arial"/>
                <a:ea typeface="Arial"/>
                <a:cs typeface="Arial"/>
                <a:sym typeface="Arial"/>
              </a:rPr>
              <a:t>Not Geom2Vec: the policy proposes torsions and global descriptors; realization matches frames by torsions; alanine dipeptide uses (φ, ψ) directly.</a:t>
            </a:r>
          </a:p>
        </p:txBody>
      </p:sp>
      <p:sp>
        <p:nvSpPr>
          <p:cNvPr id="5022" name="Shape 5022"/>
          <p:cNvSpPr/>
          <p:nvPr/>
        </p:nvSpPr>
        <p:spPr>
          <a:xfrm>
            <a:off x="502920" y="5971032"/>
            <a:ext cx="11155680" cy="356616"/>
          </a:xfrm>
          <a:prstGeom prst="rect">
            <a:avLst/>
          </a:prstGeom>
          <a:solidFill>
            <a:srgbClr val="EFF5F6"/>
          </a:solidFill>
          <a:ln>
            <a:noFill/>
          </a:ln>
        </p:spPr>
        <p:txBody>
          <a:bodyPr spcFirstLastPara="1" wrap="square" lIns="45720" tIns="0" rIns="45720" bIns="0" anchor="ctr" anchorCtr="0">
            <a:noAutofit/>
          </a:bodyPr>
          <a:lstStyle/>
          <a:p>
            <a:pPr marL="0" marR="0" lvl="0" indent="0" algn="l" rtl="0">
              <a:lnSpc>
                <a:spcPct val="108000"/>
              </a:lnSpc>
              <a:spcBef>
                <a:spcPts val="0"/>
              </a:spcBef>
              <a:spcAft>
                <a:spcPts val="0"/>
              </a:spcAft>
              <a:buNone/>
            </a:pPr>
            <a:r>
              <a:rPr lang="en-US" sz="1550" b="1" i="0" u="none" strike="noStrike" cap="none">
                <a:solidFill>
                  <a:srgbClr val="245D68"/>
                </a:solidFill>
                <a:latin typeface="Arial"/>
                <a:ea typeface="Arial"/>
                <a:cs typeface="Arial"/>
                <a:sym typeface="Arial"/>
              </a:rPr>
              <a:t>What counts as kinetic information, for the reward and for the analysis, is defined in Geom2Vec coordinates.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13"/>
        <p:cNvGrpSpPr/>
        <p:nvPr/>
      </p:nvGrpSpPr>
      <p:grpSpPr>
        <a:xfrm>
          <a:off x="0" y="0"/>
          <a:ext cx="0" cy="0"/>
          <a:chOff x="0" y="0"/>
          <a:chExt cx="0" cy="0"/>
        </a:xfrm>
      </p:grpSpPr>
      <p:sp>
        <p:nvSpPr>
          <p:cNvPr id="514" name="Google Shape;514;p17"/>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GESPO · KINETIC SCORE</a:t>
            </a:r>
            <a:endParaRPr/>
          </a:p>
        </p:txBody>
      </p:sp>
      <p:sp>
        <p:nvSpPr>
          <p:cNvPr id="515" name="Google Shape;515;p17"/>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VAMP-2 rewards features that remain correlated after a lag</a:t>
            </a:r>
            <a:endParaRPr/>
          </a:p>
        </p:txBody>
      </p:sp>
      <p:cxnSp>
        <p:nvCxnSpPr>
          <p:cNvPr id="516" name="Google Shape;516;p17"/>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517" name="Google Shape;517;p17"/>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Toy model from slide 3 (landscape 1), 24 trajectories, τ = 1. In GESPO, χ is learned from Geom2Vec features and scored the same way.</a:t>
            </a:r>
            <a:endParaRPr/>
          </a:p>
        </p:txBody>
      </p:sp>
      <p:sp>
        <p:nvSpPr>
          <p:cNvPr id="518" name="Google Shape;518;p17"/>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16 / 37</a:t>
            </a:r>
            <a:endParaRPr/>
          </a:p>
        </p:txBody>
      </p:sp>
      <p:sp>
        <p:nvSpPr>
          <p:cNvPr id="533" name="Google Shape;533;p17"/>
          <p:cNvSpPr/>
          <p:nvPr/>
        </p:nvSpPr>
        <p:spPr>
          <a:xfrm>
            <a:off x="502920" y="5971032"/>
            <a:ext cx="11155680" cy="356616"/>
          </a:xfrm>
          <a:prstGeom prst="rect">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4" name="Google Shape;534;p17"/>
          <p:cNvSpPr txBox="1"/>
          <p:nvPr/>
        </p:nvSpPr>
        <p:spPr>
          <a:xfrm>
            <a:off x="658368" y="6021324"/>
            <a:ext cx="10844784" cy="24688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800" b="1" i="0" u="none" strike="noStrike" cap="none">
                <a:solidFill>
                  <a:srgbClr val="245D68"/>
                </a:solidFill>
                <a:latin typeface="Arial"/>
                <a:ea typeface="Arial"/>
                <a:cs typeface="Arial"/>
                <a:sym typeface="Arial"/>
              </a:rPr>
              <a:t>The reward asks how much each trajectory contributes to this score.</a:t>
            </a:r>
            <a:endParaRPr/>
          </a:p>
        </p:txBody>
      </p:sp>
      <p:pic>
        <p:nvPicPr>
          <p:cNvPr id="5001" name="vamp_panel.png" descr="Toy landscape with a slow angular feature and a fast radial feature; their time series and lagged scatter plots with VAMP-2 scores 0.84 and 0.00"/>
          <p:cNvPicPr>
            <a:picLocks noChangeAspect="1"/>
          </p:cNvPicPr>
          <p:nvPr/>
        </p:nvPicPr>
        <p:blipFill>
          <a:blip r:embed="rId3"/>
          <a:stretch>
            <a:fillRect/>
          </a:stretch>
        </p:blipFill>
        <p:spPr>
          <a:xfrm>
            <a:off x="502920" y="1325880"/>
            <a:ext cx="11155680" cy="3931920"/>
          </a:xfrm>
          <a:prstGeom prst="rect">
            <a:avLst/>
          </a:prstGeom>
        </p:spPr>
      </p:pic>
      <p:sp>
        <p:nvSpPr>
          <p:cNvPr id="5002" name="Text 5002"/>
          <p:cNvSpPr txBox="1"/>
          <p:nvPr/>
        </p:nvSpPr>
        <p:spPr>
          <a:xfrm>
            <a:off x="685800" y="5330952"/>
            <a:ext cx="5852160" cy="4572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None/>
            </a:pPr>
            <a:r>
              <a:rPr lang="en-US" sz="2000" b="0" i="0">
                <a:solidFill>
                  <a:srgbClr val="21252B"/>
                </a:solidFill>
                <a:latin typeface="Cambria Math"/>
                <a:ea typeface="Cambria Math"/>
                <a:cs typeface="Cambria Math"/>
                <a:sym typeface="Cambria Math"/>
              </a:rPr>
              <a:t>S(𝒟) = ‖ C</a:t>
            </a:r>
            <a:r>
              <a:rPr lang="en-US" sz="2000" b="0" i="0" baseline="-25000">
                <a:solidFill>
                  <a:srgbClr val="21252B"/>
                </a:solidFill>
                <a:latin typeface="Cambria Math"/>
                <a:ea typeface="Cambria Math"/>
                <a:cs typeface="Cambria Math"/>
                <a:sym typeface="Cambria Math"/>
              </a:rPr>
              <a:t>00</a:t>
            </a:r>
            <a:r>
              <a:rPr lang="en-US" sz="2000" b="0" i="0" baseline="30000">
                <a:solidFill>
                  <a:srgbClr val="21252B"/>
                </a:solidFill>
                <a:latin typeface="Cambria Math"/>
                <a:ea typeface="Cambria Math"/>
                <a:cs typeface="Cambria Math"/>
                <a:sym typeface="Cambria Math"/>
              </a:rPr>
              <a:t>−1/2</a:t>
            </a:r>
            <a:r>
              <a:rPr lang="en-US" sz="2000" b="0" i="0">
                <a:solidFill>
                  <a:srgbClr val="21252B"/>
                </a:solidFill>
                <a:latin typeface="Cambria Math"/>
                <a:ea typeface="Cambria Math"/>
                <a:cs typeface="Cambria Math"/>
                <a:sym typeface="Cambria Math"/>
              </a:rPr>
              <a:t> C</a:t>
            </a:r>
            <a:r>
              <a:rPr lang="en-US" sz="2000" b="0" i="0" baseline="-25000">
                <a:solidFill>
                  <a:srgbClr val="21252B"/>
                </a:solidFill>
                <a:latin typeface="Cambria Math"/>
                <a:ea typeface="Cambria Math"/>
                <a:cs typeface="Cambria Math"/>
                <a:sym typeface="Cambria Math"/>
              </a:rPr>
              <a:t>0τ</a:t>
            </a:r>
            <a:r>
              <a:rPr lang="en-US" sz="2000" b="0" i="0">
                <a:solidFill>
                  <a:srgbClr val="21252B"/>
                </a:solidFill>
                <a:latin typeface="Cambria Math"/>
                <a:ea typeface="Cambria Math"/>
                <a:cs typeface="Cambria Math"/>
                <a:sym typeface="Cambria Math"/>
              </a:rPr>
              <a:t> C</a:t>
            </a:r>
            <a:r>
              <a:rPr lang="en-US" sz="2000" b="0" i="0" baseline="-25000">
                <a:solidFill>
                  <a:srgbClr val="21252B"/>
                </a:solidFill>
                <a:latin typeface="Cambria Math"/>
                <a:ea typeface="Cambria Math"/>
                <a:cs typeface="Cambria Math"/>
                <a:sym typeface="Cambria Math"/>
              </a:rPr>
              <a:t>ττ</a:t>
            </a:r>
            <a:r>
              <a:rPr lang="en-US" sz="2000" b="0" i="0" baseline="30000">
                <a:solidFill>
                  <a:srgbClr val="21252B"/>
                </a:solidFill>
                <a:latin typeface="Cambria Math"/>
                <a:ea typeface="Cambria Math"/>
                <a:cs typeface="Cambria Math"/>
                <a:sym typeface="Cambria Math"/>
              </a:rPr>
              <a:t>−1/2</a:t>
            </a:r>
            <a:r>
              <a:rPr lang="en-US" sz="2000" b="0" i="0">
                <a:solidFill>
                  <a:srgbClr val="21252B"/>
                </a:solidFill>
                <a:latin typeface="Cambria Math"/>
                <a:ea typeface="Cambria Math"/>
                <a:cs typeface="Cambria Math"/>
                <a:sym typeface="Cambria Math"/>
              </a:rPr>
              <a:t> ‖</a:t>
            </a:r>
            <a:r>
              <a:rPr lang="en-US" sz="2000" b="0" i="0" baseline="-25000">
                <a:solidFill>
                  <a:srgbClr val="21252B"/>
                </a:solidFill>
                <a:latin typeface="Cambria Math"/>
                <a:ea typeface="Cambria Math"/>
                <a:cs typeface="Cambria Math"/>
                <a:sym typeface="Cambria Math"/>
              </a:rPr>
              <a:t>F</a:t>
            </a:r>
            <a:r>
              <a:rPr lang="en-US" sz="2000" b="0" i="0" baseline="30000">
                <a:solidFill>
                  <a:srgbClr val="21252B"/>
                </a:solidFill>
                <a:latin typeface="Cambria Math"/>
                <a:ea typeface="Cambria Math"/>
                <a:cs typeface="Cambria Math"/>
                <a:sym typeface="Cambria Math"/>
              </a:rPr>
              <a:t>2</a:t>
            </a:r>
            <a:r>
              <a:rPr lang="en-US" sz="2000" b="0" i="0">
                <a:solidFill>
                  <a:srgbClr val="21252B"/>
                </a:solidFill>
                <a:latin typeface="Cambria Math"/>
                <a:ea typeface="Cambria Math"/>
                <a:cs typeface="Cambria Math"/>
                <a:sym typeface="Cambria Math"/>
              </a:rPr>
              <a:t>  =  Σ</a:t>
            </a:r>
            <a:r>
              <a:rPr lang="en-US" sz="2000" b="0" i="0" baseline="-25000">
                <a:solidFill>
                  <a:srgbClr val="21252B"/>
                </a:solidFill>
                <a:latin typeface="Cambria Math"/>
                <a:ea typeface="Cambria Math"/>
                <a:cs typeface="Cambria Math"/>
                <a:sym typeface="Cambria Math"/>
              </a:rPr>
              <a:t>k</a:t>
            </a:r>
            <a:r>
              <a:rPr lang="en-US" sz="2000" b="0" i="0">
                <a:solidFill>
                  <a:srgbClr val="21252B"/>
                </a:solidFill>
                <a:latin typeface="Cambria Math"/>
                <a:ea typeface="Cambria Math"/>
                <a:cs typeface="Cambria Math"/>
                <a:sym typeface="Cambria Math"/>
              </a:rPr>
              <a:t> σ</a:t>
            </a:r>
            <a:r>
              <a:rPr lang="en-US" sz="2000" b="0" i="0" baseline="-25000">
                <a:solidFill>
                  <a:srgbClr val="21252B"/>
                </a:solidFill>
                <a:latin typeface="Cambria Math"/>
                <a:ea typeface="Cambria Math"/>
                <a:cs typeface="Cambria Math"/>
                <a:sym typeface="Cambria Math"/>
              </a:rPr>
              <a:t>k</a:t>
            </a:r>
            <a:r>
              <a:rPr lang="en-US" sz="2000" b="0" i="0" baseline="30000">
                <a:solidFill>
                  <a:srgbClr val="21252B"/>
                </a:solidFill>
                <a:latin typeface="Cambria Math"/>
                <a:ea typeface="Cambria Math"/>
                <a:cs typeface="Cambria Math"/>
                <a:sym typeface="Cambria Math"/>
              </a:rPr>
              <a:t>2</a:t>
            </a:r>
          </a:p>
        </p:txBody>
      </p:sp>
      <p:sp>
        <p:nvSpPr>
          <p:cNvPr id="5003" name="Text 5003"/>
          <p:cNvSpPr txBox="1"/>
          <p:nvPr/>
        </p:nvSpPr>
        <p:spPr>
          <a:xfrm>
            <a:off x="6583680" y="5303520"/>
            <a:ext cx="5074920" cy="5486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200" b="0" i="0" u="none" strike="noStrike" cap="none">
                <a:solidFill>
                  <a:srgbClr val="59616B"/>
                </a:solidFill>
                <a:latin typeface="Arial"/>
                <a:ea typeface="Arial"/>
                <a:cs typeface="Arial"/>
                <a:sym typeface="Arial"/>
              </a:rPr>
              <a:t>C₀₀, Cττ: instantaneous covariances; C₀τ: lagged covariance, from pairs within each trajectory. For one feature, S is the squared lag correlation.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8"/>
        <p:cNvGrpSpPr/>
        <p:nvPr/>
      </p:nvGrpSpPr>
      <p:grpSpPr>
        <a:xfrm>
          <a:off x="0" y="0"/>
          <a:ext cx="0" cy="0"/>
          <a:chOff x="0" y="0"/>
          <a:chExt cx="0" cy="0"/>
        </a:xfrm>
      </p:grpSpPr>
      <p:sp>
        <p:nvSpPr>
          <p:cNvPr id="429" name="Google Shape;429;p18"/>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GESPO · TRAJECTORY CREDIT</a:t>
            </a:r>
            <a:endParaRPr/>
          </a:p>
        </p:txBody>
      </p:sp>
      <p:sp>
        <p:nvSpPr>
          <p:cNvPr id="430" name="Google Shape;430;p18"/>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Leave-one-out credit, compared within a batch</a:t>
            </a:r>
            <a:endParaRPr/>
          </a:p>
        </p:txBody>
      </p:sp>
      <p:cxnSp>
        <p:nvCxnSpPr>
          <p:cNvPr id="431" name="Google Shape;431;p18"/>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432" name="Google Shape;432;p18"/>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Three-state toy model; χ = (cos θ, sin θ) held fixed; 𝒟 = 40 prior trajectories (A, B only) plus the batch; T = 10, τ = 1. Here Rᵢ = Δᵢ; GESPO adds coverage and transition terms.</a:t>
            </a:r>
            <a:endParaRPr/>
          </a:p>
        </p:txBody>
      </p:sp>
      <p:sp>
        <p:nvSpPr>
          <p:cNvPr id="433" name="Google Shape;433;p18"/>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17 / 37</a:t>
            </a:r>
            <a:endParaRPr/>
          </a:p>
        </p:txBody>
      </p:sp>
      <p:sp>
        <p:nvSpPr>
          <p:cNvPr id="449" name="Google Shape;449;p18"/>
          <p:cNvSpPr/>
          <p:nvPr/>
        </p:nvSpPr>
        <p:spPr>
          <a:xfrm>
            <a:off x="502920" y="5971032"/>
            <a:ext cx="11155680" cy="356616"/>
          </a:xfrm>
          <a:prstGeom prst="rect">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0" name="Google Shape;450;p18"/>
          <p:cNvSpPr txBox="1"/>
          <p:nvPr/>
        </p:nvSpPr>
        <p:spPr>
          <a:xfrm>
            <a:off x="658368" y="6021324"/>
            <a:ext cx="10844784" cy="24688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750" b="1" i="0" u="none" strike="noStrike" cap="none">
                <a:solidFill>
                  <a:srgbClr val="245D68"/>
                </a:solidFill>
                <a:latin typeface="Arial"/>
                <a:ea typeface="Arial"/>
                <a:cs typeface="Arial"/>
                <a:sym typeface="Arial"/>
              </a:rPr>
              <a:t>The trajectory that settles in the new state C earns the largest advantage.</a:t>
            </a:r>
            <a:endParaRPr/>
          </a:p>
        </p:txBody>
      </p:sp>
      <p:sp>
        <p:nvSpPr>
          <p:cNvPr id="5001" name="Text 5001"/>
          <p:cNvSpPr txBox="1"/>
          <p:nvPr/>
        </p:nvSpPr>
        <p:spPr>
          <a:xfrm>
            <a:off x="685800" y="1371600"/>
            <a:ext cx="4206240" cy="4114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None/>
            </a:pPr>
            <a:r>
              <a:rPr lang="en-US" sz="1900" b="0" i="0">
                <a:solidFill>
                  <a:srgbClr val="21252B"/>
                </a:solidFill>
                <a:latin typeface="Cambria Math"/>
                <a:ea typeface="Cambria Math"/>
                <a:cs typeface="Cambria Math"/>
                <a:sym typeface="Cambria Math"/>
              </a:rPr>
              <a:t>Δ</a:t>
            </a:r>
            <a:r>
              <a:rPr lang="en-US" sz="1900" b="0" i="0" baseline="-25000">
                <a:solidFill>
                  <a:srgbClr val="21252B"/>
                </a:solidFill>
                <a:latin typeface="Cambria Math"/>
                <a:ea typeface="Cambria Math"/>
                <a:cs typeface="Cambria Math"/>
                <a:sym typeface="Cambria Math"/>
              </a:rPr>
              <a:t>i</a:t>
            </a:r>
            <a:r>
              <a:rPr lang="en-US" sz="1900" b="0" i="0">
                <a:solidFill>
                  <a:srgbClr val="21252B"/>
                </a:solidFill>
                <a:latin typeface="Cambria Math"/>
                <a:ea typeface="Cambria Math"/>
                <a:cs typeface="Cambria Math"/>
                <a:sym typeface="Cambria Math"/>
              </a:rPr>
              <a:t> = S(𝒟) − S(𝒟 ∖ {𝒯</a:t>
            </a:r>
            <a:r>
              <a:rPr lang="en-US" sz="1900" b="0" i="0" baseline="-25000">
                <a:solidFill>
                  <a:srgbClr val="21252B"/>
                </a:solidFill>
                <a:latin typeface="Cambria Math"/>
                <a:ea typeface="Cambria Math"/>
                <a:cs typeface="Cambria Math"/>
                <a:sym typeface="Cambria Math"/>
              </a:rPr>
              <a:t>i</a:t>
            </a:r>
            <a:r>
              <a:rPr lang="en-US" sz="1900" b="0" i="0">
                <a:solidFill>
                  <a:srgbClr val="21252B"/>
                </a:solidFill>
                <a:latin typeface="Cambria Math"/>
                <a:ea typeface="Cambria Math"/>
                <a:cs typeface="Cambria Math"/>
                <a:sym typeface="Cambria Math"/>
              </a:rPr>
              <a:t>})</a:t>
            </a:r>
          </a:p>
        </p:txBody>
      </p:sp>
      <p:sp>
        <p:nvSpPr>
          <p:cNvPr id="5002" name="Text 5002"/>
          <p:cNvSpPr txBox="1"/>
          <p:nvPr/>
        </p:nvSpPr>
        <p:spPr>
          <a:xfrm>
            <a:off x="4983480" y="1371600"/>
            <a:ext cx="3017520" cy="4114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None/>
            </a:pPr>
            <a:r>
              <a:rPr lang="en-US" sz="1900" b="0" i="0">
                <a:solidFill>
                  <a:srgbClr val="21252B"/>
                </a:solidFill>
                <a:latin typeface="Cambria Math"/>
                <a:ea typeface="Cambria Math"/>
                <a:cs typeface="Cambria Math"/>
                <a:sym typeface="Cambria Math"/>
              </a:rPr>
              <a:t>A</a:t>
            </a:r>
            <a:r>
              <a:rPr lang="en-US" sz="1900" b="0" i="0" baseline="-25000">
                <a:solidFill>
                  <a:srgbClr val="21252B"/>
                </a:solidFill>
                <a:latin typeface="Cambria Math"/>
                <a:ea typeface="Cambria Math"/>
                <a:cs typeface="Cambria Math"/>
                <a:sym typeface="Cambria Math"/>
              </a:rPr>
              <a:t>i</a:t>
            </a:r>
            <a:r>
              <a:rPr lang="en-US" sz="1900" b="0" i="0">
                <a:solidFill>
                  <a:srgbClr val="21252B"/>
                </a:solidFill>
                <a:latin typeface="Cambria Math"/>
                <a:ea typeface="Cambria Math"/>
                <a:cs typeface="Cambria Math"/>
                <a:sym typeface="Cambria Math"/>
              </a:rPr>
              <a:t> = (R</a:t>
            </a:r>
            <a:r>
              <a:rPr lang="en-US" sz="1900" b="0" i="0" baseline="-25000">
                <a:solidFill>
                  <a:srgbClr val="21252B"/>
                </a:solidFill>
                <a:latin typeface="Cambria Math"/>
                <a:ea typeface="Cambria Math"/>
                <a:cs typeface="Cambria Math"/>
                <a:sym typeface="Cambria Math"/>
              </a:rPr>
              <a:t>i</a:t>
            </a:r>
            <a:r>
              <a:rPr lang="en-US" sz="1900" b="0" i="0">
                <a:solidFill>
                  <a:srgbClr val="21252B"/>
                </a:solidFill>
                <a:latin typeface="Cambria Math"/>
                <a:ea typeface="Cambria Math"/>
                <a:cs typeface="Cambria Math"/>
                <a:sym typeface="Cambria Math"/>
              </a:rPr>
              <a:t> − ⟨R⟩) / s</a:t>
            </a:r>
            <a:r>
              <a:rPr lang="en-US" sz="1900" b="0" i="0" baseline="-25000">
                <a:solidFill>
                  <a:srgbClr val="21252B"/>
                </a:solidFill>
                <a:latin typeface="Cambria Math"/>
                <a:ea typeface="Cambria Math"/>
                <a:cs typeface="Cambria Math"/>
                <a:sym typeface="Cambria Math"/>
              </a:rPr>
              <a:t>R</a:t>
            </a:r>
          </a:p>
        </p:txBody>
      </p:sp>
      <p:sp>
        <p:nvSpPr>
          <p:cNvPr id="5003" name="Text 5003"/>
          <p:cNvSpPr txBox="1"/>
          <p:nvPr/>
        </p:nvSpPr>
        <p:spPr>
          <a:xfrm>
            <a:off x="8092440" y="1371600"/>
            <a:ext cx="3566160" cy="41148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None/>
            </a:pPr>
            <a:r>
              <a:rPr lang="en-US" sz="1150" b="0" i="0" u="none" strike="noStrike" cap="none">
                <a:solidFill>
                  <a:srgbClr val="59616B"/>
                </a:solidFill>
                <a:latin typeface="Arial"/>
                <a:ea typeface="Arial"/>
                <a:cs typeface="Arial"/>
                <a:sym typeface="Arial"/>
              </a:rPr>
              <a:t>χ held fixed; means and covariances recomputed. Advantages standardize within the batch.</a:t>
            </a:r>
          </a:p>
        </p:txBody>
      </p:sp>
      <p:pic>
        <p:nvPicPr>
          <p:cNvPr id="5004" name="loo_panel.png" descr="Three-state toy landscape with prior data in A and B; one batch of eight trajectories shown as state strips; leave-one-out contributions and group-relative advantages, largest for the trajectory that settles in C"/>
          <p:cNvPicPr>
            <a:picLocks noChangeAspect="1"/>
          </p:cNvPicPr>
          <p:nvPr/>
        </p:nvPicPr>
        <p:blipFill>
          <a:blip r:embed="rId3"/>
          <a:stretch>
            <a:fillRect/>
          </a:stretch>
        </p:blipFill>
        <p:spPr>
          <a:xfrm>
            <a:off x="502920" y="1938528"/>
            <a:ext cx="11155680" cy="37947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55"/>
        <p:cNvGrpSpPr/>
        <p:nvPr/>
      </p:nvGrpSpPr>
      <p:grpSpPr>
        <a:xfrm>
          <a:off x="0" y="0"/>
          <a:ext cx="0" cy="0"/>
          <a:chOff x="0" y="0"/>
          <a:chExt cx="0" cy="0"/>
        </a:xfrm>
      </p:grpSpPr>
      <p:sp>
        <p:nvSpPr>
          <p:cNvPr id="456" name="Google Shape;456;g40a1acaee85_0_29"/>
          <p:cNvSpPr txBox="1"/>
          <p:nvPr/>
        </p:nvSpPr>
        <p:spPr>
          <a:xfrm>
            <a:off x="521207" y="292608"/>
            <a:ext cx="10058400" cy="1692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GESPO · POLICY UPDATE</a:t>
            </a:r>
            <a:endParaRPr/>
          </a:p>
        </p:txBody>
      </p:sp>
      <p:sp>
        <p:nvSpPr>
          <p:cNvPr id="457" name="Google Shape;457;g40a1acaee85_0_29"/>
          <p:cNvSpPr txBox="1"/>
          <p:nvPr/>
        </p:nvSpPr>
        <p:spPr>
          <a:xfrm>
            <a:off x="502920" y="658368"/>
            <a:ext cx="11119200" cy="4542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a:solidFill>
                  <a:srgbClr val="21252B"/>
                </a:solidFill>
              </a:rPr>
              <a:t>A coverage-preserving KL term regularizes the update</a:t>
            </a:r>
            <a:endParaRPr/>
          </a:p>
        </p:txBody>
      </p:sp>
      <p:cxnSp>
        <p:nvCxnSpPr>
          <p:cNvPr id="458" name="Google Shape;458;g40a1acaee85_0_29"/>
          <p:cNvCxnSpPr/>
          <p:nvPr/>
        </p:nvCxnSpPr>
        <p:spPr>
          <a:xfrm>
            <a:off x="502920" y="6473952"/>
            <a:ext cx="11183100" cy="0"/>
          </a:xfrm>
          <a:prstGeom prst="straightConnector1">
            <a:avLst/>
          </a:prstGeom>
          <a:noFill/>
          <a:ln w="9525" cap="flat" cmpd="sng">
            <a:solidFill>
              <a:srgbClr val="CFD5DC"/>
            </a:solidFill>
            <a:prstDash val="solid"/>
            <a:round/>
            <a:headEnd type="none" w="sm" len="sm"/>
            <a:tailEnd type="none" w="sm" len="sm"/>
          </a:ln>
        </p:spPr>
      </p:cxnSp>
      <p:sp>
        <p:nvSpPr>
          <p:cNvPr id="459" name="Google Shape;459;g40a1acaee85_0_29"/>
          <p:cNvSpPr txBox="1"/>
          <p:nvPr/>
        </p:nvSpPr>
        <p:spPr>
          <a:xfrm>
            <a:off x="530352" y="6519672"/>
            <a:ext cx="9692700" cy="1260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Toy example: exact optimum of the regularized objective for a fixed reference (λ</a:t>
            </a:r>
            <a:r>
              <a:rPr lang="en-US" sz="819" b="0" i="0" baseline="-25000">
                <a:solidFill>
                  <a:srgbClr val="59616B"/>
                </a:solidFill>
                <a:latin typeface="Arial"/>
                <a:ea typeface="Arial"/>
                <a:cs typeface="Arial"/>
                <a:sym typeface="Arial"/>
              </a:rPr>
              <a:t>KL</a:t>
            </a:r>
            <a:r>
              <a:rPr lang="en-US" sz="819" b="0" i="0" u="none" strike="noStrike" cap="none">
                <a:solidFill>
                  <a:srgbClr val="59616B"/>
                </a:solidFill>
                <a:latin typeface="Arial"/>
                <a:ea typeface="Arial"/>
                <a:cs typeface="Arial"/>
                <a:sym typeface="Arial"/>
              </a:rPr>
              <a:t> = 0.1 in the left panels). GRPO: Shao et al. (2024); GESPO: Pengmei et al. (manuscript, 2026).</a:t>
            </a:r>
          </a:p>
        </p:txBody>
      </p:sp>
      <p:sp>
        <p:nvSpPr>
          <p:cNvPr id="460" name="Google Shape;460;g40a1acaee85_0_29"/>
          <p:cNvSpPr txBox="1"/>
          <p:nvPr/>
        </p:nvSpPr>
        <p:spPr>
          <a:xfrm>
            <a:off x="10424160" y="6510528"/>
            <a:ext cx="1216200" cy="14610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18 / 37</a:t>
            </a:r>
            <a:endParaRPr/>
          </a:p>
        </p:txBody>
      </p:sp>
      <p:sp>
        <p:nvSpPr>
          <p:cNvPr id="461" name="Google Shape;461;g40a1acaee85_0_29"/>
          <p:cNvSpPr/>
          <p:nvPr/>
        </p:nvSpPr>
        <p:spPr>
          <a:xfrm>
            <a:off x="502920" y="5971032"/>
            <a:ext cx="11155800" cy="356700"/>
          </a:xfrm>
          <a:prstGeom prst="rect">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62" name="Google Shape;462;g40a1acaee85_0_29"/>
          <p:cNvSpPr txBox="1"/>
          <p:nvPr/>
        </p:nvSpPr>
        <p:spPr>
          <a:xfrm>
            <a:off x="658368" y="6021324"/>
            <a:ext cx="10844700" cy="2772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750" b="1" i="0" u="none" strike="noStrike" cap="none">
                <a:solidFill>
                  <a:srgbClr val="245D68"/>
                </a:solidFill>
                <a:latin typeface="Arial"/>
                <a:ea typeface="Arial"/>
                <a:cs typeface="Arial"/>
                <a:sym typeface="Arial"/>
              </a:rPr>
              <a:t>Taken under π</a:t>
            </a:r>
            <a:r>
              <a:rPr lang="en-US" sz="1750" b="1" i="0" baseline="-25000">
                <a:solidFill>
                  <a:srgbClr val="245D68"/>
                </a:solidFill>
                <a:latin typeface="Arial"/>
                <a:ea typeface="Arial"/>
                <a:cs typeface="Arial"/>
                <a:sym typeface="Arial"/>
              </a:rPr>
              <a:t>ref</a:t>
            </a:r>
            <a:r>
              <a:rPr lang="en-US" sz="1750" b="1" i="0" u="none" strike="noStrike" cap="none">
                <a:solidFill>
                  <a:srgbClr val="245D68"/>
                </a:solidFill>
                <a:latin typeface="Arial"/>
                <a:ea typeface="Arial"/>
                <a:cs typeface="Arial"/>
                <a:sym typeface="Arial"/>
              </a:rPr>
              <a:t>, the KL term keeps weight on every basin the reference samples.</a:t>
            </a:r>
          </a:p>
        </p:txBody>
      </p:sp>
      <p:sp>
        <p:nvSpPr>
          <p:cNvPr id="5001" name="Text 5001"/>
          <p:cNvSpPr txBox="1"/>
          <p:nvPr/>
        </p:nvSpPr>
        <p:spPr>
          <a:xfrm>
            <a:off x="685800" y="1371600"/>
            <a:ext cx="6949440" cy="4572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None/>
            </a:pPr>
            <a:r>
              <a:rPr lang="en-US" sz="1900" b="0" i="0">
                <a:solidFill>
                  <a:srgbClr val="21252B"/>
                </a:solidFill>
                <a:latin typeface="Cambria Math"/>
                <a:ea typeface="Cambria Math"/>
                <a:cs typeface="Cambria Math"/>
                <a:sym typeface="Cambria Math"/>
              </a:rPr>
              <a:t>max</a:t>
            </a:r>
            <a:r>
              <a:rPr lang="en-US" sz="1900" b="0" i="0" baseline="-25000">
                <a:solidFill>
                  <a:srgbClr val="21252B"/>
                </a:solidFill>
                <a:latin typeface="Cambria Math"/>
                <a:ea typeface="Cambria Math"/>
                <a:cs typeface="Cambria Math"/>
                <a:sym typeface="Cambria Math"/>
              </a:rPr>
              <a:t>θ</a:t>
            </a:r>
            <a:r>
              <a:rPr lang="en-US" sz="1900" b="0" i="0">
                <a:solidFill>
                  <a:srgbClr val="21252B"/>
                </a:solidFill>
                <a:latin typeface="Cambria Math"/>
                <a:ea typeface="Cambria Math"/>
                <a:cs typeface="Cambria Math"/>
                <a:sym typeface="Cambria Math"/>
              </a:rPr>
              <a:t>  𝔼</a:t>
            </a:r>
            <a:r>
              <a:rPr lang="en-US" sz="1900" b="0" i="0" baseline="-25000">
                <a:solidFill>
                  <a:srgbClr val="21252B"/>
                </a:solidFill>
                <a:latin typeface="Cambria Math"/>
                <a:ea typeface="Cambria Math"/>
                <a:cs typeface="Cambria Math"/>
                <a:sym typeface="Cambria Math"/>
              </a:rPr>
              <a:t>y∼πθ</a:t>
            </a:r>
            <a:r>
              <a:rPr lang="en-US" sz="1900" b="0" i="0">
                <a:solidFill>
                  <a:srgbClr val="21252B"/>
                </a:solidFill>
                <a:latin typeface="Cambria Math"/>
                <a:ea typeface="Cambria Math"/>
                <a:cs typeface="Cambria Math"/>
                <a:sym typeface="Cambria Math"/>
              </a:rPr>
              <a:t>[R(y)]  −  λ</a:t>
            </a:r>
            <a:r>
              <a:rPr lang="en-US" sz="1900" b="0" i="0" baseline="-25000">
                <a:solidFill>
                  <a:srgbClr val="21252B"/>
                </a:solidFill>
                <a:latin typeface="Cambria Math"/>
                <a:ea typeface="Cambria Math"/>
                <a:cs typeface="Cambria Math"/>
                <a:sym typeface="Cambria Math"/>
              </a:rPr>
              <a:t>KL</a:t>
            </a:r>
            <a:r>
              <a:rPr lang="en-US" sz="1900" b="0" i="0">
                <a:solidFill>
                  <a:srgbClr val="21252B"/>
                </a:solidFill>
                <a:latin typeface="Cambria Math"/>
                <a:ea typeface="Cambria Math"/>
                <a:cs typeface="Cambria Math"/>
                <a:sym typeface="Cambria Math"/>
              </a:rPr>
              <a:t> D</a:t>
            </a:r>
            <a:r>
              <a:rPr lang="en-US" sz="1900" b="0" i="0" baseline="-25000">
                <a:solidFill>
                  <a:srgbClr val="21252B"/>
                </a:solidFill>
                <a:latin typeface="Cambria Math"/>
                <a:ea typeface="Cambria Math"/>
                <a:cs typeface="Cambria Math"/>
                <a:sym typeface="Cambria Math"/>
              </a:rPr>
              <a:t>KL</a:t>
            </a:r>
            <a:r>
              <a:rPr lang="en-US" sz="1900" b="0" i="0">
                <a:solidFill>
                  <a:srgbClr val="21252B"/>
                </a:solidFill>
                <a:latin typeface="Cambria Math"/>
                <a:ea typeface="Cambria Math"/>
                <a:cs typeface="Cambria Math"/>
                <a:sym typeface="Cambria Math"/>
              </a:rPr>
              <a:t>(π</a:t>
            </a:r>
            <a:r>
              <a:rPr lang="en-US" sz="1900" b="0" i="0" baseline="-25000">
                <a:solidFill>
                  <a:srgbClr val="21252B"/>
                </a:solidFill>
                <a:latin typeface="Cambria Math"/>
                <a:ea typeface="Cambria Math"/>
                <a:cs typeface="Cambria Math"/>
                <a:sym typeface="Cambria Math"/>
              </a:rPr>
              <a:t>ref</a:t>
            </a:r>
            <a:r>
              <a:rPr lang="en-US" sz="1900" b="0" i="0">
                <a:solidFill>
                  <a:srgbClr val="21252B"/>
                </a:solidFill>
                <a:latin typeface="Cambria Math"/>
                <a:ea typeface="Cambria Math"/>
                <a:cs typeface="Cambria Math"/>
                <a:sym typeface="Cambria Math"/>
              </a:rPr>
              <a:t> ‖ π</a:t>
            </a:r>
            <a:r>
              <a:rPr lang="en-US" sz="1900" b="0" i="0" baseline="-25000">
                <a:solidFill>
                  <a:srgbClr val="21252B"/>
                </a:solidFill>
                <a:latin typeface="Cambria Math"/>
                <a:ea typeface="Cambria Math"/>
                <a:cs typeface="Cambria Math"/>
                <a:sym typeface="Cambria Math"/>
              </a:rPr>
              <a:t>θ</a:t>
            </a:r>
            <a:r>
              <a:rPr lang="en-US" sz="1900" b="0" i="0">
                <a:solidFill>
                  <a:srgbClr val="21252B"/>
                </a:solidFill>
                <a:latin typeface="Cambria Math"/>
                <a:ea typeface="Cambria Math"/>
                <a:cs typeface="Cambria Math"/>
                <a:sym typeface="Cambria Math"/>
              </a:rPr>
              <a:t>)  +  λ</a:t>
            </a:r>
            <a:r>
              <a:rPr lang="en-US" sz="1900" b="0" i="0" baseline="-25000">
                <a:solidFill>
                  <a:srgbClr val="21252B"/>
                </a:solidFill>
                <a:latin typeface="Cambria Math"/>
                <a:ea typeface="Cambria Math"/>
                <a:cs typeface="Cambria Math"/>
                <a:sym typeface="Cambria Math"/>
              </a:rPr>
              <a:t>H</a:t>
            </a:r>
            <a:r>
              <a:rPr lang="en-US" sz="1900" b="0" i="0">
                <a:solidFill>
                  <a:srgbClr val="21252B"/>
                </a:solidFill>
                <a:latin typeface="Cambria Math"/>
                <a:ea typeface="Cambria Math"/>
                <a:cs typeface="Cambria Math"/>
                <a:sym typeface="Cambria Math"/>
              </a:rPr>
              <a:t> H(π</a:t>
            </a:r>
            <a:r>
              <a:rPr lang="en-US" sz="1900" b="0" i="0" baseline="-25000">
                <a:solidFill>
                  <a:srgbClr val="21252B"/>
                </a:solidFill>
                <a:latin typeface="Cambria Math"/>
                <a:ea typeface="Cambria Math"/>
                <a:cs typeface="Cambria Math"/>
                <a:sym typeface="Cambria Math"/>
              </a:rPr>
              <a:t>θ</a:t>
            </a:r>
            <a:r>
              <a:rPr lang="en-US" sz="1900" b="0" i="0">
                <a:solidFill>
                  <a:srgbClr val="21252B"/>
                </a:solidFill>
                <a:latin typeface="Cambria Math"/>
                <a:ea typeface="Cambria Math"/>
                <a:cs typeface="Cambria Math"/>
                <a:sym typeface="Cambria Math"/>
              </a:rPr>
              <a:t>)</a:t>
            </a:r>
          </a:p>
        </p:txBody>
      </p:sp>
      <p:sp>
        <p:nvSpPr>
          <p:cNvPr id="5002" name="Text 5002"/>
          <p:cNvSpPr txBox="1"/>
          <p:nvPr/>
        </p:nvSpPr>
        <p:spPr>
          <a:xfrm>
            <a:off x="7772400" y="1344168"/>
            <a:ext cx="3886200" cy="54864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None/>
            </a:pPr>
            <a:r>
              <a:rPr lang="en-US" sz="1100" b="0" i="0" u="none" strike="noStrike" cap="none">
                <a:solidFill>
                  <a:srgbClr val="59616B"/>
                </a:solidFill>
                <a:latin typeface="Arial"/>
                <a:ea typeface="Arial"/>
                <a:cs typeface="Arial"/>
                <a:sym typeface="Arial"/>
              </a:rPr>
              <a:t>Optimized with the GRPO clipped surrogate on ρ</a:t>
            </a:r>
            <a:r>
              <a:rPr lang="en-US" sz="1100" b="0" i="0" baseline="-25000">
                <a:solidFill>
                  <a:srgbClr val="59616B"/>
                </a:solidFill>
                <a:latin typeface="Arial"/>
                <a:ea typeface="Arial"/>
                <a:cs typeface="Arial"/>
                <a:sym typeface="Arial"/>
              </a:rPr>
              <a:t>i</a:t>
            </a:r>
            <a:r>
              <a:rPr lang="en-US" sz="1100" b="0" i="0" u="none" strike="noStrike" cap="none">
                <a:solidFill>
                  <a:srgbClr val="59616B"/>
                </a:solidFill>
                <a:latin typeface="Arial"/>
                <a:ea typeface="Arial"/>
                <a:cs typeface="Arial"/>
                <a:sym typeface="Arial"/>
              </a:rPr>
              <a:t> = π</a:t>
            </a:r>
            <a:r>
              <a:rPr lang="en-US" sz="1100" b="0" i="0" baseline="-25000">
                <a:solidFill>
                  <a:srgbClr val="59616B"/>
                </a:solidFill>
                <a:latin typeface="Arial"/>
                <a:ea typeface="Arial"/>
                <a:cs typeface="Arial"/>
                <a:sym typeface="Arial"/>
              </a:rPr>
              <a:t>θ</a:t>
            </a:r>
            <a:r>
              <a:rPr lang="en-US" sz="1100" b="0" i="0" u="none" strike="noStrike" cap="none">
                <a:solidFill>
                  <a:srgbClr val="59616B"/>
                </a:solidFill>
                <a:latin typeface="Arial"/>
                <a:ea typeface="Arial"/>
                <a:cs typeface="Arial"/>
                <a:sym typeface="Arial"/>
              </a:rPr>
              <a:t>(y</a:t>
            </a:r>
            <a:r>
              <a:rPr lang="en-US" sz="1100" b="0" i="0" baseline="-25000">
                <a:solidFill>
                  <a:srgbClr val="59616B"/>
                </a:solidFill>
                <a:latin typeface="Arial"/>
                <a:ea typeface="Arial"/>
                <a:cs typeface="Arial"/>
                <a:sym typeface="Arial"/>
              </a:rPr>
              <a:t>i</a:t>
            </a:r>
            <a:r>
              <a:rPr lang="en-US" sz="1100" b="0" i="0" u="none" strike="noStrike" cap="none">
                <a:solidFill>
                  <a:srgbClr val="59616B"/>
                </a:solidFill>
                <a:latin typeface="Arial"/>
                <a:ea typeface="Arial"/>
                <a:cs typeface="Arial"/>
                <a:sym typeface="Arial"/>
              </a:rPr>
              <a:t>) / π</a:t>
            </a:r>
            <a:r>
              <a:rPr lang="en-US" sz="1100" b="0" i="0" baseline="-25000">
                <a:solidFill>
                  <a:srgbClr val="59616B"/>
                </a:solidFill>
                <a:latin typeface="Arial"/>
                <a:ea typeface="Arial"/>
                <a:cs typeface="Arial"/>
                <a:sym typeface="Arial"/>
              </a:rPr>
              <a:t>old</a:t>
            </a:r>
            <a:r>
              <a:rPr lang="en-US" sz="1100" b="0" i="0" u="none" strike="noStrike" cap="none">
                <a:solidFill>
                  <a:srgbClr val="59616B"/>
                </a:solidFill>
                <a:latin typeface="Arial"/>
                <a:ea typeface="Arial"/>
                <a:cs typeface="Arial"/>
                <a:sym typeface="Arial"/>
              </a:rPr>
              <a:t>(y</a:t>
            </a:r>
            <a:r>
              <a:rPr lang="en-US" sz="1100" b="0" i="0" baseline="-25000">
                <a:solidFill>
                  <a:srgbClr val="59616B"/>
                </a:solidFill>
                <a:latin typeface="Arial"/>
                <a:ea typeface="Arial"/>
                <a:cs typeface="Arial"/>
                <a:sym typeface="Arial"/>
              </a:rPr>
              <a:t>i</a:t>
            </a:r>
            <a:r>
              <a:rPr lang="en-US" sz="1100" b="0" i="0" u="none" strike="noStrike" cap="none">
                <a:solidFill>
                  <a:srgbClr val="59616B"/>
                </a:solidFill>
                <a:latin typeface="Arial"/>
                <a:ea typeface="Arial"/>
                <a:cs typeface="Arial"/>
                <a:sym typeface="Arial"/>
              </a:rPr>
              <a:t>) and group advantages A</a:t>
            </a:r>
            <a:r>
              <a:rPr lang="en-US" sz="1100" b="0" i="0" baseline="-25000">
                <a:solidFill>
                  <a:srgbClr val="59616B"/>
                </a:solidFill>
                <a:latin typeface="Arial"/>
                <a:ea typeface="Arial"/>
                <a:cs typeface="Arial"/>
                <a:sym typeface="Arial"/>
              </a:rPr>
              <a:t>i</a:t>
            </a:r>
            <a:r>
              <a:rPr lang="en-US" sz="1100" b="0" i="0" u="none" strike="noStrike" cap="none">
                <a:solidFill>
                  <a:srgbClr val="59616B"/>
                </a:solidFill>
                <a:latin typeface="Arial"/>
                <a:ea typeface="Arial"/>
                <a:cs typeface="Arial"/>
                <a:sym typeface="Arial"/>
              </a:rPr>
              <a:t>; π</a:t>
            </a:r>
            <a:r>
              <a:rPr lang="en-US" sz="1100" b="0" i="0" baseline="-25000">
                <a:solidFill>
                  <a:srgbClr val="59616B"/>
                </a:solidFill>
                <a:latin typeface="Arial"/>
                <a:ea typeface="Arial"/>
                <a:cs typeface="Arial"/>
                <a:sym typeface="Arial"/>
              </a:rPr>
              <a:t>ref</a:t>
            </a:r>
            <a:r>
              <a:rPr lang="en-US" sz="1100" b="0" i="0" u="none" strike="noStrike" cap="none">
                <a:solidFill>
                  <a:srgbClr val="59616B"/>
                </a:solidFill>
                <a:latin typeface="Arial"/>
                <a:ea typeface="Arial"/>
                <a:cs typeface="Arial"/>
                <a:sym typeface="Arial"/>
              </a:rPr>
              <a:t> = π</a:t>
            </a:r>
            <a:r>
              <a:rPr lang="en-US" sz="1100" b="0" i="0" baseline="-25000">
                <a:solidFill>
                  <a:srgbClr val="59616B"/>
                </a:solidFill>
                <a:latin typeface="Arial"/>
                <a:ea typeface="Arial"/>
                <a:cs typeface="Arial"/>
                <a:sym typeface="Arial"/>
              </a:rPr>
              <a:t>old</a:t>
            </a:r>
            <a:r>
              <a:rPr lang="en-US" sz="1100" b="0" i="0" u="none" strike="noStrike" cap="none">
                <a:solidFill>
                  <a:srgbClr val="59616B"/>
                </a:solidFill>
                <a:latin typeface="Arial"/>
                <a:ea typeface="Arial"/>
                <a:cs typeface="Arial"/>
                <a:sym typeface="Arial"/>
              </a:rPr>
              <a:t>, resynchronized each epoch.</a:t>
            </a:r>
          </a:p>
        </p:txBody>
      </p:sp>
      <p:pic>
        <p:nvPicPr>
          <p:cNvPr id="5003" name="kl_panel.png" descr="Two-basin launch distribution after one regularized update: with the KL taken under the policy, basin B keeps 0.007 of the weight; taken under the reference, B keeps 0.071. Right: weight kept in B versus update strength, exponential versus algebraic decay."/>
          <p:cNvPicPr>
            <a:picLocks noChangeAspect="1"/>
          </p:cNvPicPr>
          <p:nvPr/>
        </p:nvPicPr>
        <p:blipFill>
          <a:blip r:embed="rId3"/>
          <a:stretch>
            <a:fillRect/>
          </a:stretch>
        </p:blipFill>
        <p:spPr>
          <a:xfrm>
            <a:off x="502920" y="2011680"/>
            <a:ext cx="11155680" cy="2880360"/>
          </a:xfrm>
          <a:prstGeom prst="rect">
            <a:avLst/>
          </a:prstGeom>
        </p:spPr>
      </p:pic>
      <p:sp>
        <p:nvSpPr>
          <p:cNvPr id="5004" name="Text 5004"/>
          <p:cNvSpPr txBox="1"/>
          <p:nvPr/>
        </p:nvSpPr>
        <p:spPr>
          <a:xfrm>
            <a:off x="731520" y="5029200"/>
            <a:ext cx="6675120" cy="73152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1" i="0" u="none" strike="noStrike" cap="none">
                <a:solidFill>
                  <a:srgbClr val="21252B"/>
                </a:solidFill>
                <a:latin typeface="Arial"/>
                <a:ea typeface="Arial"/>
                <a:cs typeface="Arial"/>
                <a:sym typeface="Arial"/>
              </a:rPr>
              <a:t>Under π</a:t>
            </a:r>
            <a:r>
              <a:rPr lang="en-US" sz="1300" b="1" i="0" baseline="-25000">
                <a:solidFill>
                  <a:srgbClr val="21252B"/>
                </a:solidFill>
                <a:latin typeface="Arial"/>
                <a:ea typeface="Arial"/>
                <a:cs typeface="Arial"/>
                <a:sym typeface="Arial"/>
              </a:rPr>
              <a:t>θ</a:t>
            </a:r>
            <a:r>
              <a:rPr lang="en-US" sz="1300" b="1" i="0" u="none" strike="noStrike" cap="none">
                <a:solidFill>
                  <a:srgbClr val="21252B"/>
                </a:solidFill>
                <a:latin typeface="Arial"/>
                <a:ea typeface="Arial"/>
                <a:cs typeface="Arial"/>
                <a:sym typeface="Arial"/>
              </a:rPr>
              <a:t>, </a:t>
            </a:r>
            <a:r>
              <a:rPr lang="en-US" sz="1300" b="0" i="0" u="none" strike="noStrike" cap="none">
                <a:solidFill>
                  <a:srgbClr val="21252B"/>
                </a:solidFill>
                <a:latin typeface="Arial"/>
                <a:ea typeface="Arial"/>
                <a:cs typeface="Arial"/>
                <a:sym typeface="Arial"/>
              </a:rPr>
              <a:t>leaving B costs almost nothing: its weight decays as e</a:t>
            </a:r>
            <a:r>
              <a:rPr lang="en-US" sz="1300" b="0" i="0" baseline="30000">
                <a:solidFill>
                  <a:srgbClr val="21252B"/>
                </a:solidFill>
                <a:latin typeface="Arial"/>
                <a:ea typeface="Arial"/>
                <a:cs typeface="Arial"/>
                <a:sym typeface="Arial"/>
              </a:rPr>
              <a:t>−ΔR/λ</a:t>
            </a:r>
            <a:r>
              <a:rPr lang="en-US" sz="1300" b="0" i="0" u="none" strike="noStrike" cap="none">
                <a:solidFill>
                  <a:srgbClr val="21252B"/>
                </a:solidFill>
                <a:latin typeface="Arial"/>
                <a:ea typeface="Arial"/>
                <a:cs typeface="Arial"/>
                <a:sym typeface="Arial"/>
              </a:rPr>
              <a:t>.</a:t>
            </a:r>
          </a:p>
          <a:p>
            <a:pPr marL="0" marR="0" lvl="0" indent="0" algn="l" rtl="0">
              <a:lnSpc>
                <a:spcPct val="108000"/>
              </a:lnSpc>
              <a:spcBef>
                <a:spcPts val="300"/>
              </a:spcBef>
              <a:spcAft>
                <a:spcPts val="0"/>
              </a:spcAft>
              <a:buNone/>
            </a:pPr>
            <a:r>
              <a:rPr lang="en-US" sz="1300" b="1" i="0" u="none" strike="noStrike" cap="none">
                <a:solidFill>
                  <a:srgbClr val="245D68"/>
                </a:solidFill>
                <a:latin typeface="Arial"/>
                <a:ea typeface="Arial"/>
                <a:cs typeface="Arial"/>
                <a:sym typeface="Arial"/>
              </a:rPr>
              <a:t>Under π</a:t>
            </a:r>
            <a:r>
              <a:rPr lang="en-US" sz="1300" b="1" i="0" baseline="-25000">
                <a:solidFill>
                  <a:srgbClr val="245D68"/>
                </a:solidFill>
                <a:latin typeface="Arial"/>
                <a:ea typeface="Arial"/>
                <a:cs typeface="Arial"/>
                <a:sym typeface="Arial"/>
              </a:rPr>
              <a:t>ref</a:t>
            </a:r>
            <a:r>
              <a:rPr lang="en-US" sz="1300" b="1" i="0" u="none" strike="noStrike" cap="none">
                <a:solidFill>
                  <a:srgbClr val="245D68"/>
                </a:solidFill>
                <a:latin typeface="Arial"/>
                <a:ea typeface="Arial"/>
                <a:cs typeface="Arial"/>
                <a:sym typeface="Arial"/>
              </a:rPr>
              <a:t>, </a:t>
            </a:r>
            <a:r>
              <a:rPr lang="en-US" sz="1300" b="0" i="0" u="none" strike="noStrike" cap="none">
                <a:solidFill>
                  <a:srgbClr val="21252B"/>
                </a:solidFill>
                <a:latin typeface="Arial"/>
                <a:ea typeface="Arial"/>
                <a:cs typeface="Arial"/>
                <a:sym typeface="Arial"/>
              </a:rPr>
              <a:t>leaving B is penalized: its weight decays only in proportion to λ.</a:t>
            </a:r>
          </a:p>
        </p:txBody>
      </p:sp>
      <p:sp>
        <p:nvSpPr>
          <p:cNvPr id="5005" name="Text 5005"/>
          <p:cNvSpPr txBox="1"/>
          <p:nvPr/>
        </p:nvSpPr>
        <p:spPr>
          <a:xfrm>
            <a:off x="7818120" y="5029200"/>
            <a:ext cx="3840480" cy="73152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200" b="0" i="0" u="none" strike="noStrike" cap="none">
                <a:solidFill>
                  <a:srgbClr val="59616B"/>
                </a:solidFill>
                <a:latin typeface="Arial"/>
                <a:ea typeface="Arial"/>
                <a:cs typeface="Arial"/>
                <a:sym typeface="Arial"/>
              </a:rPr>
              <a:t>The ordering matters: a sampling distribution that contracts each epoch eventually concentrates on a single basin.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39"/>
        <p:cNvGrpSpPr/>
        <p:nvPr/>
      </p:nvGrpSpPr>
      <p:grpSpPr>
        <a:xfrm>
          <a:off x="0" y="0"/>
          <a:ext cx="0" cy="0"/>
          <a:chOff x="0" y="0"/>
          <a:chExt cx="0" cy="0"/>
        </a:xfrm>
      </p:grpSpPr>
      <p:sp>
        <p:nvSpPr>
          <p:cNvPr id="540" name="Google Shape;540;p21"/>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GESPO · TRAINING DIAGNOSTICS</a:t>
            </a:r>
            <a:endParaRPr/>
          </a:p>
        </p:txBody>
      </p:sp>
      <p:sp>
        <p:nvSpPr>
          <p:cNvPr id="541" name="Google Shape;541;p21"/>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Diagnostics: the kinetic model converges within each round</a:t>
            </a:r>
            <a:endParaRPr/>
          </a:p>
        </p:txBody>
      </p:sp>
      <p:cxnSp>
        <p:nvCxnSpPr>
          <p:cNvPr id="542" name="Google Shape;542;p21"/>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543" name="Google Shape;543;p21"/>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GESPO (manuscript, 2026); benzamidine-bound trypsin, two independently initialized rounds, 12 trajectories per epoch; reward values are relative to each round’s model</a:t>
            </a:r>
            <a:endParaRPr/>
          </a:p>
        </p:txBody>
      </p:sp>
      <p:sp>
        <p:nvSpPr>
          <p:cNvPr id="544" name="Google Shape;544;p21"/>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19 / 37</a:t>
            </a:r>
            <a:endParaRPr/>
          </a:p>
        </p:txBody>
      </p:sp>
      <p:sp>
        <p:nvSpPr>
          <p:cNvPr id="545" name="Google Shape;545;p21"/>
          <p:cNvSpPr txBox="1"/>
          <p:nvPr/>
        </p:nvSpPr>
        <p:spPr>
          <a:xfrm>
            <a:off x="6035040" y="1554480"/>
            <a:ext cx="5577840" cy="32918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000" b="1" i="0" u="none" strike="noStrike" cap="none">
                <a:solidFill>
                  <a:srgbClr val="245D68"/>
                </a:solidFill>
                <a:latin typeface="Arial"/>
                <a:ea typeface="Arial"/>
                <a:cs typeface="Arial"/>
                <a:sym typeface="Arial"/>
              </a:rPr>
              <a:t>(a) Combined reward</a:t>
            </a:r>
            <a:endParaRPr/>
          </a:p>
        </p:txBody>
      </p:sp>
      <p:sp>
        <p:nvSpPr>
          <p:cNvPr id="546" name="Google Shape;546;p21"/>
          <p:cNvSpPr txBox="1"/>
          <p:nvPr/>
        </p:nvSpPr>
        <p:spPr>
          <a:xfrm>
            <a:off x="6035040" y="1920240"/>
            <a:ext cx="5577840" cy="100584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900" b="0" i="0" u="none" strike="noStrike" cap="none">
                <a:solidFill>
                  <a:srgbClr val="21252B"/>
                </a:solidFill>
                <a:latin typeface="Arial"/>
                <a:ea typeface="Arial"/>
                <a:cs typeface="Arial"/>
                <a:sym typeface="Arial"/>
              </a:rPr>
              <a:t>Epoch mean over 12 trajectories: the leave-one-out contribution plus coverage and transition terms.</a:t>
            </a:r>
            <a:endParaRPr/>
          </a:p>
        </p:txBody>
      </p:sp>
      <p:sp>
        <p:nvSpPr>
          <p:cNvPr id="547" name="Google Shape;547;p21"/>
          <p:cNvSpPr txBox="1"/>
          <p:nvPr/>
        </p:nvSpPr>
        <p:spPr>
          <a:xfrm>
            <a:off x="6035040" y="2971800"/>
            <a:ext cx="5577840" cy="32918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000" b="1" i="0" u="none" strike="noStrike" cap="none">
                <a:solidFill>
                  <a:srgbClr val="245D68"/>
                </a:solidFill>
                <a:latin typeface="Arial"/>
                <a:ea typeface="Arial"/>
                <a:cs typeface="Arial"/>
                <a:sym typeface="Arial"/>
              </a:rPr>
              <a:t>(b) VAMP-2 score of the refitted model</a:t>
            </a:r>
            <a:endParaRPr/>
          </a:p>
        </p:txBody>
      </p:sp>
      <p:sp>
        <p:nvSpPr>
          <p:cNvPr id="548" name="Google Shape;548;p21"/>
          <p:cNvSpPr txBox="1"/>
          <p:nvPr/>
        </p:nvSpPr>
        <p:spPr>
          <a:xfrm>
            <a:off x="6035040" y="3337560"/>
            <a:ext cx="5577840" cy="100584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900" b="0" i="0" u="none" strike="noStrike" cap="none">
                <a:solidFill>
                  <a:srgbClr val="21252B"/>
                </a:solidFill>
                <a:latin typeface="Arial"/>
                <a:ea typeface="Arial"/>
                <a:cs typeface="Arial"/>
                <a:sym typeface="Arial"/>
              </a:rPr>
              <a:t>Refitted before every epoch; rises and plateaus within each round.</a:t>
            </a:r>
            <a:endParaRPr/>
          </a:p>
        </p:txBody>
      </p:sp>
      <p:sp>
        <p:nvSpPr>
          <p:cNvPr id="549" name="Google Shape;549;p21"/>
          <p:cNvSpPr txBox="1"/>
          <p:nvPr/>
        </p:nvSpPr>
        <p:spPr>
          <a:xfrm>
            <a:off x="6035040" y="4251960"/>
            <a:ext cx="5577840" cy="32918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000" b="1" i="0" u="none" strike="noStrike" cap="none">
                <a:solidFill>
                  <a:srgbClr val="245D68"/>
                </a:solidFill>
                <a:latin typeface="Arial"/>
                <a:ea typeface="Arial"/>
                <a:cs typeface="Arial"/>
                <a:sym typeface="Arial"/>
              </a:rPr>
              <a:t>(c) Leave-one-out contribution Δᵢ</a:t>
            </a:r>
            <a:endParaRPr/>
          </a:p>
        </p:txBody>
      </p:sp>
      <p:sp>
        <p:nvSpPr>
          <p:cNvPr id="550" name="Google Shape;550;p21"/>
          <p:cNvSpPr txBox="1"/>
          <p:nvPr/>
        </p:nvSpPr>
        <p:spPr>
          <a:xfrm>
            <a:off x="6035040" y="4617720"/>
            <a:ext cx="5577840" cy="100584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900" b="0" i="0" u="none" strike="noStrike" cap="none">
                <a:solidFill>
                  <a:srgbClr val="21252B"/>
                </a:solidFill>
                <a:latin typeface="Arial"/>
                <a:ea typeface="Arial"/>
                <a:cs typeface="Arial"/>
                <a:sym typeface="Arial"/>
              </a:rPr>
              <a:t>Mean near zero with a wide spread across trajectories, as in the toy example: credit is relative within each batch.</a:t>
            </a:r>
            <a:endParaRPr/>
          </a:p>
        </p:txBody>
      </p:sp>
      <p:pic>
        <p:nvPicPr>
          <p:cNvPr id="5004" name="gespo_reward_trajectory.png" descr="Reward, VAMP-2 score and leave-one-out credit per epoch for two rounds of the trypsin campaign"/>
          <p:cNvPicPr>
            <a:picLocks noChangeAspect="1"/>
          </p:cNvPicPr>
          <p:nvPr/>
        </p:nvPicPr>
        <p:blipFill>
          <a:blip r:embed="rId3"/>
          <a:stretch>
            <a:fillRect/>
          </a:stretch>
        </p:blipFill>
        <p:spPr>
          <a:xfrm>
            <a:off x="566928" y="1325880"/>
            <a:ext cx="4811919" cy="4526280"/>
          </a:xfrm>
          <a:prstGeom prst="rect">
            <a:avLst/>
          </a:prstGeom>
        </p:spPr>
      </p:pic>
      <p:sp>
        <p:nvSpPr>
          <p:cNvPr id="5001" name="Shape 5001"/>
          <p:cNvSpPr/>
          <p:nvPr/>
        </p:nvSpPr>
        <p:spPr>
          <a:xfrm>
            <a:off x="502920" y="5971032"/>
            <a:ext cx="11155680" cy="356616"/>
          </a:xfrm>
          <a:prstGeom prst="rect">
            <a:avLst/>
          </a:prstGeom>
          <a:solidFill>
            <a:srgbClr val="EFF5F6"/>
          </a:solidFill>
          <a:ln>
            <a:noFill/>
          </a:ln>
        </p:spPr>
        <p:txBody>
          <a:bodyPr spcFirstLastPara="1" wrap="square" lIns="45720" tIns="0" rIns="45720" bIns="0" anchor="ctr" anchorCtr="0">
            <a:noAutofit/>
          </a:bodyPr>
          <a:lstStyle/>
          <a:p>
            <a:pPr marL="0" marR="0" lvl="0" indent="0" algn="l" rtl="0">
              <a:lnSpc>
                <a:spcPct val="108000"/>
              </a:lnSpc>
              <a:spcBef>
                <a:spcPts val="0"/>
              </a:spcBef>
              <a:spcAft>
                <a:spcPts val="0"/>
              </a:spcAft>
              <a:buNone/>
            </a:pPr>
            <a:r>
              <a:rPr lang="en-US" sz="1750" b="1" i="0" u="none" strike="noStrike" cap="none">
                <a:solidFill>
                  <a:srgbClr val="245D68"/>
                </a:solidFill>
                <a:latin typeface="Arial"/>
                <a:ea typeface="Arial"/>
                <a:cs typeface="Arial"/>
                <a:sym typeface="Arial"/>
              </a:rPr>
              <a:t>The reward ranks trajectories within a batch; the kinetic model improves across epochs.</a:t>
            </a:r>
          </a:p>
        </p:txBody>
      </p:sp>
      <p:sp>
        <p:nvSpPr>
          <p:cNvPr id="5023" name="Shape 5023"/>
          <p:cNvSpPr/>
          <p:nvPr/>
        </p:nvSpPr>
        <p:spPr>
          <a:xfrm>
            <a:off x="10378440" y="246888"/>
            <a:ext cx="1280160" cy="274320"/>
          </a:xfrm>
          <a:prstGeom prst="roundRect">
            <a:avLst>
              <a:gd name="adj" fmla="val 50000"/>
            </a:avLst>
          </a:prstGeom>
          <a:solidFill>
            <a:srgbClr val="EFF5F6"/>
          </a:solidFill>
          <a:ln w="12700">
            <a:solidFill>
              <a:srgbClr val="9FC1C7"/>
            </a:solid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000" b="1" i="0" u="none" strike="noStrike" cap="none">
                <a:solidFill>
                  <a:srgbClr val="245D68"/>
                </a:solidFill>
                <a:latin typeface="Arial"/>
                <a:ea typeface="Arial"/>
                <a:cs typeface="Arial"/>
                <a:sym typeface="Arial"/>
              </a:rPr>
              <a:t>Geom2Vec reward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55"/>
        <p:cNvGrpSpPr/>
        <p:nvPr/>
      </p:nvGrpSpPr>
      <p:grpSpPr>
        <a:xfrm>
          <a:off x="0" y="0"/>
          <a:ext cx="0" cy="0"/>
          <a:chOff x="0" y="0"/>
          <a:chExt cx="0" cy="0"/>
        </a:xfrm>
      </p:grpSpPr>
      <p:sp>
        <p:nvSpPr>
          <p:cNvPr id="556" name="Google Shape;556;p23"/>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TEST 2 · TRP-CAGE</a:t>
            </a:r>
            <a:endParaRPr/>
          </a:p>
        </p:txBody>
      </p:sp>
      <p:sp>
        <p:nvSpPr>
          <p:cNvPr id="557" name="Google Shape;557;p23"/>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Trp-cage: sampled area grows 52-fold beyond the initial data</a:t>
            </a:r>
            <a:endParaRPr/>
          </a:p>
        </p:txBody>
      </p:sp>
      <p:cxnSp>
        <p:nvCxnSpPr>
          <p:cNvPr id="558" name="Google Shape;558;p23"/>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559" name="Google Shape;559;p23"/>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GESPO (manuscript, 2026). Color: relative sampling density, −ln(p/p</a:t>
            </a:r>
            <a:r>
              <a:rPr lang="en-US" sz="819" b="0" i="0" baseline="-25000">
                <a:solidFill>
                  <a:srgbClr val="59616B"/>
                </a:solidFill>
                <a:latin typeface="Arial"/>
                <a:ea typeface="Arial"/>
                <a:cs typeface="Arial"/>
                <a:sym typeface="Arial"/>
              </a:rPr>
              <a:t>max</a:t>
            </a:r>
            <a:r>
              <a:rPr lang="en-US" sz="819" b="0" i="0" u="none" strike="noStrike" cap="none">
                <a:solidFill>
                  <a:srgbClr val="59616B"/>
                </a:solidFill>
                <a:latin typeface="Arial"/>
                <a:ea typeface="Arial"/>
                <a:cs typeface="Arial"/>
                <a:sym typeface="Arial"/>
              </a:rPr>
              <a:t>), not a free energy. Dashed contour: extent of the round-0 data.</a:t>
            </a:r>
          </a:p>
        </p:txBody>
      </p:sp>
      <p:sp>
        <p:nvSpPr>
          <p:cNvPr id="560" name="Google Shape;560;p23"/>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20 / 37</a:t>
            </a:r>
            <a:endParaRPr/>
          </a:p>
        </p:txBody>
      </p:sp>
      <p:pic>
        <p:nvPicPr>
          <p:cNvPr id="561" name="Google Shape;561;p23" descr="Source trpcage_round0_vs_all_cvs.png; crop left/top/right/bottom (0.904, 0.125, 1, 0.855). Original scientific plot, not redrawn."/>
          <p:cNvPicPr preferRelativeResize="0"/>
          <p:nvPr/>
        </p:nvPicPr>
        <p:blipFill rotWithShape="1">
          <a:blip r:embed="rId3">
            <a:alphaModFix/>
          </a:blip>
          <a:srcRect l="90400" t="12500" b="14500"/>
          <a:stretch/>
        </p:blipFill>
        <p:spPr>
          <a:xfrm>
            <a:off x="8670151" y="2186663"/>
            <a:ext cx="525844" cy="3204125"/>
          </a:xfrm>
          <a:prstGeom prst="rect">
            <a:avLst/>
          </a:prstGeom>
          <a:noFill/>
          <a:ln>
            <a:noFill/>
          </a:ln>
        </p:spPr>
      </p:pic>
      <p:sp>
        <p:nvSpPr>
          <p:cNvPr id="562" name="Google Shape;562;p23"/>
          <p:cNvSpPr txBox="1"/>
          <p:nvPr/>
        </p:nvSpPr>
        <p:spPr>
          <a:xfrm>
            <a:off x="9646920" y="1965960"/>
            <a:ext cx="2148840" cy="49377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00" b="1" i="0" u="none" strike="noStrike" cap="none">
                <a:solidFill>
                  <a:srgbClr val="800000"/>
                </a:solidFill>
                <a:latin typeface="Arial"/>
                <a:ea typeface="Arial"/>
                <a:cs typeface="Arial"/>
                <a:sym typeface="Arial"/>
              </a:rPr>
              <a:t>51.8×</a:t>
            </a:r>
            <a:endParaRPr/>
          </a:p>
        </p:txBody>
      </p:sp>
      <p:sp>
        <p:nvSpPr>
          <p:cNvPr id="563" name="Google Shape;563;p23"/>
          <p:cNvSpPr txBox="1"/>
          <p:nvPr/>
        </p:nvSpPr>
        <p:spPr>
          <a:xfrm>
            <a:off x="9656064" y="2468880"/>
            <a:ext cx="2148840" cy="4114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500" b="0" i="0" u="none" strike="noStrike" cap="none">
                <a:solidFill>
                  <a:srgbClr val="59616B"/>
                </a:solidFill>
                <a:latin typeface="Arial"/>
                <a:ea typeface="Arial"/>
                <a:cs typeface="Arial"/>
                <a:sym typeface="Arial"/>
              </a:rPr>
              <a:t>area of the sampled region vs. the initial data (99% contour)</a:t>
            </a:r>
            <a:endParaRPr/>
          </a:p>
        </p:txBody>
      </p:sp>
      <p:sp>
        <p:nvSpPr>
          <p:cNvPr id="564" name="Google Shape;564;p23"/>
          <p:cNvSpPr txBox="1"/>
          <p:nvPr/>
        </p:nvSpPr>
        <p:spPr>
          <a:xfrm>
            <a:off x="9619488" y="3429000"/>
            <a:ext cx="2148840" cy="49377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00" b="1" i="0" u="none" strike="noStrike" cap="none">
                <a:solidFill>
                  <a:srgbClr val="245D68"/>
                </a:solidFill>
                <a:latin typeface="Arial"/>
                <a:ea typeface="Arial"/>
                <a:cs typeface="Arial"/>
                <a:sym typeface="Arial"/>
              </a:rPr>
              <a:t>115.2 ns</a:t>
            </a:r>
            <a:endParaRPr/>
          </a:p>
        </p:txBody>
      </p:sp>
      <p:sp>
        <p:nvSpPr>
          <p:cNvPr id="565" name="Google Shape;565;p23"/>
          <p:cNvSpPr txBox="1"/>
          <p:nvPr/>
        </p:nvSpPr>
        <p:spPr>
          <a:xfrm>
            <a:off x="9646920" y="3931920"/>
            <a:ext cx="2148840" cy="57607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500" b="0" i="0" u="none" strike="noStrike" cap="none">
                <a:solidFill>
                  <a:srgbClr val="59616B"/>
                </a:solidFill>
                <a:latin typeface="Arial"/>
                <a:ea typeface="Arial"/>
                <a:cs typeface="Arial"/>
                <a:sym typeface="Arial"/>
              </a:rPr>
              <a:t>cumulative production</a:t>
            </a:r>
            <a:endParaRPr/>
          </a:p>
        </p:txBody>
      </p:sp>
      <p:sp>
        <p:nvSpPr>
          <p:cNvPr id="566" name="Google Shape;566;p23"/>
          <p:cNvSpPr txBox="1"/>
          <p:nvPr/>
        </p:nvSpPr>
        <p:spPr>
          <a:xfrm>
            <a:off x="9628632" y="4526280"/>
            <a:ext cx="2148840" cy="813816"/>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200" b="1" i="0" u="none" strike="noStrike" cap="none">
                <a:solidFill>
                  <a:srgbClr val="245D68"/>
                </a:solidFill>
                <a:latin typeface="Arial"/>
                <a:ea typeface="Arial"/>
                <a:cs typeface="Arial"/>
                <a:sym typeface="Arial"/>
              </a:rPr>
              <a:t>12 × 200 ps</a:t>
            </a:r>
          </a:p>
          <a:p>
            <a:pPr marL="0" marR="0" lvl="0" indent="0" algn="l" rtl="0">
              <a:lnSpc>
                <a:spcPct val="108000"/>
              </a:lnSpc>
              <a:spcBef>
                <a:spcPts val="200"/>
              </a:spcBef>
              <a:spcAft>
                <a:spcPts val="0"/>
              </a:spcAft>
              <a:buNone/>
            </a:pPr>
            <a:r>
              <a:rPr lang="en-US" sz="1500" b="0" i="0" u="none" strike="noStrike" cap="none">
                <a:solidFill>
                  <a:srgbClr val="59616B"/>
                </a:solidFill>
                <a:latin typeface="Arial"/>
                <a:ea typeface="Arial"/>
                <a:cs typeface="Arial"/>
                <a:sym typeface="Arial"/>
              </a:rPr>
              <a:t>trajectories per epoch</a:t>
            </a:r>
          </a:p>
        </p:txBody>
      </p:sp>
      <p:pic>
        <p:nvPicPr>
          <p:cNvPr id="569" name="Google Shape;569;p23"/>
          <p:cNvPicPr preferRelativeResize="0"/>
          <p:nvPr/>
        </p:nvPicPr>
        <p:blipFill>
          <a:blip r:embed="rId4">
            <a:alphaModFix/>
          </a:blip>
          <a:stretch>
            <a:fillRect/>
          </a:stretch>
        </p:blipFill>
        <p:spPr>
          <a:xfrm>
            <a:off x="347950" y="2060112"/>
            <a:ext cx="8224126" cy="3457250"/>
          </a:xfrm>
          <a:prstGeom prst="rect">
            <a:avLst/>
          </a:prstGeom>
          <a:noFill/>
          <a:ln>
            <a:noFill/>
          </a:ln>
        </p:spPr>
      </p:pic>
      <p:sp>
        <p:nvSpPr>
          <p:cNvPr id="5001" name="Text 5001"/>
          <p:cNvSpPr txBox="1"/>
          <p:nvPr/>
        </p:nvSpPr>
        <p:spPr>
          <a:xfrm>
            <a:off x="941832" y="1783080"/>
            <a:ext cx="3685032" cy="32004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500" b="1" i="0" u="none" strike="noStrike" cap="none">
                <a:solidFill>
                  <a:srgbClr val="800000"/>
                </a:solidFill>
                <a:latin typeface="Arial"/>
                <a:ea typeface="Arial"/>
                <a:cs typeface="Arial"/>
                <a:sym typeface="Arial"/>
              </a:rPr>
              <a:t>Initial data (round 0): 4.8 ns</a:t>
            </a:r>
          </a:p>
        </p:txBody>
      </p:sp>
      <p:sp>
        <p:nvSpPr>
          <p:cNvPr id="5002" name="Text 5002"/>
          <p:cNvSpPr txBox="1"/>
          <p:nvPr/>
        </p:nvSpPr>
        <p:spPr>
          <a:xfrm>
            <a:off x="4818888" y="1783080"/>
            <a:ext cx="3685032" cy="32004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500" b="1" i="0" u="none" strike="noStrike" cap="none">
                <a:solidFill>
                  <a:srgbClr val="245D68"/>
                </a:solidFill>
                <a:latin typeface="Arial"/>
                <a:ea typeface="Arial"/>
                <a:cs typeface="Arial"/>
                <a:sym typeface="Arial"/>
              </a:rPr>
              <a:t>All rounds: 115.2 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74"/>
        <p:cNvGrpSpPr/>
        <p:nvPr/>
      </p:nvGrpSpPr>
      <p:grpSpPr>
        <a:xfrm>
          <a:off x="0" y="0"/>
          <a:ext cx="0" cy="0"/>
          <a:chOff x="0" y="0"/>
          <a:chExt cx="0" cy="0"/>
        </a:xfrm>
      </p:grpSpPr>
      <p:sp>
        <p:nvSpPr>
          <p:cNvPr id="575" name="Google Shape;575;p45"/>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TEST 2 · STATE DISCOVERY</a:t>
            </a:r>
            <a:endParaRPr/>
          </a:p>
        </p:txBody>
      </p:sp>
      <p:sp>
        <p:nvSpPr>
          <p:cNvPr id="576" name="Google Shape;576;p45"/>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All 23 states in ~50 ns; unbiased MD reaches 12 in 1.3 μs</a:t>
            </a:r>
            <a:endParaRPr/>
          </a:p>
        </p:txBody>
      </p:sp>
      <p:cxnSp>
        <p:nvCxnSpPr>
          <p:cNvPr id="577" name="Google Shape;577;p45"/>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578" name="Google Shape;578;p45"/>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GESPO (manuscript, 2026). States ordered by DGA committor q⁺ (unfolded → folded); node sizes in (d) require validation.</a:t>
            </a:r>
            <a:endParaRPr/>
          </a:p>
        </p:txBody>
      </p:sp>
      <p:sp>
        <p:nvSpPr>
          <p:cNvPr id="579" name="Google Shape;579;p45"/>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21 / 37</a:t>
            </a:r>
            <a:endParaRPr/>
          </a:p>
        </p:txBody>
      </p:sp>
      <p:pic>
        <p:nvPicPr>
          <p:cNvPr id="580" name="Google Shape;580;p45"/>
          <p:cNvPicPr preferRelativeResize="0"/>
          <p:nvPr/>
        </p:nvPicPr>
        <p:blipFill>
          <a:blip r:embed="rId3">
            <a:alphaModFix/>
          </a:blip>
          <a:stretch>
            <a:fillRect/>
          </a:stretch>
        </p:blipFill>
        <p:spPr>
          <a:xfrm>
            <a:off x="449728" y="1602708"/>
            <a:ext cx="11225487" cy="4343400"/>
          </a:xfrm>
          <a:prstGeom prst="rect">
            <a:avLst/>
          </a:prstGeom>
          <a:noFill/>
          <a:ln>
            <a:noFill/>
          </a:ln>
        </p:spPr>
      </p:pic>
      <p:sp>
        <p:nvSpPr>
          <p:cNvPr id="5024" name="Shape 5024"/>
          <p:cNvSpPr/>
          <p:nvPr/>
        </p:nvSpPr>
        <p:spPr>
          <a:xfrm>
            <a:off x="10378440" y="246888"/>
            <a:ext cx="1280160" cy="274320"/>
          </a:xfrm>
          <a:prstGeom prst="roundRect">
            <a:avLst>
              <a:gd name="adj" fmla="val 50000"/>
            </a:avLst>
          </a:prstGeom>
          <a:solidFill>
            <a:srgbClr val="EFF5F6"/>
          </a:solidFill>
          <a:ln w="12700">
            <a:solidFill>
              <a:srgbClr val="9FC1C7"/>
            </a:solid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000" b="1" i="0" u="none" strike="noStrike" cap="none">
                <a:solidFill>
                  <a:srgbClr val="245D68"/>
                </a:solidFill>
                <a:latin typeface="Arial"/>
                <a:ea typeface="Arial"/>
                <a:cs typeface="Arial"/>
                <a:sym typeface="Arial"/>
              </a:rPr>
              <a:t>Geom2Vec · SPIB</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72"/>
        <p:cNvGrpSpPr/>
        <p:nvPr/>
      </p:nvGrpSpPr>
      <p:grpSpPr>
        <a:xfrm>
          <a:off x="0" y="0"/>
          <a:ext cx="0" cy="0"/>
          <a:chOff x="0" y="0"/>
          <a:chExt cx="0" cy="0"/>
        </a:xfrm>
      </p:grpSpPr>
      <p:sp>
        <p:nvSpPr>
          <p:cNvPr id="473" name="Google Shape;473;p22"/>
          <p:cNvSpPr txBox="1"/>
          <p:nvPr/>
        </p:nvSpPr>
        <p:spPr>
          <a:xfrm>
            <a:off x="521207" y="292608"/>
            <a:ext cx="10058400" cy="1692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a:solidFill>
                  <a:srgbClr val="245D68"/>
                </a:solidFill>
              </a:rPr>
              <a:t>TEST 2 · POLICY DIAGNOSTICS</a:t>
            </a:r>
            <a:endParaRPr/>
          </a:p>
        </p:txBody>
      </p:sp>
      <p:sp>
        <p:nvSpPr>
          <p:cNvPr id="474" name="Google Shape;474;p22"/>
          <p:cNvSpPr txBox="1"/>
          <p:nvPr/>
        </p:nvSpPr>
        <p:spPr>
          <a:xfrm>
            <a:off x="502920" y="658368"/>
            <a:ext cx="11119200" cy="4542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a:solidFill>
                  <a:srgbClr val="21252B"/>
                </a:solidFill>
              </a:rPr>
              <a:t>The sampling distribution broadens rather than collapsing</a:t>
            </a:r>
            <a:endParaRPr/>
          </a:p>
        </p:txBody>
      </p:sp>
      <p:cxnSp>
        <p:nvCxnSpPr>
          <p:cNvPr id="475" name="Google Shape;475;p22"/>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476" name="Google Shape;476;p22"/>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GESPO (manuscript, 2026). Policy torsion marginals for Trp-cage residues 11 and 13; all ten residues in backup.</a:t>
            </a:r>
            <a:endParaRPr/>
          </a:p>
        </p:txBody>
      </p:sp>
      <p:sp>
        <p:nvSpPr>
          <p:cNvPr id="477" name="Google Shape;477;p22"/>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22 / 37</a:t>
            </a:r>
            <a:endParaRPr/>
          </a:p>
        </p:txBody>
      </p:sp>
      <p:sp>
        <p:nvSpPr>
          <p:cNvPr id="478" name="Google Shape;478;p22"/>
          <p:cNvSpPr txBox="1"/>
          <p:nvPr/>
        </p:nvSpPr>
        <p:spPr>
          <a:xfrm>
            <a:off x="8321040" y="2103120"/>
            <a:ext cx="3337560" cy="36576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100" b="1" i="0" u="none" strike="noStrike" cap="none">
                <a:solidFill>
                  <a:srgbClr val="245D68"/>
                </a:solidFill>
                <a:latin typeface="Arial"/>
                <a:ea typeface="Arial"/>
                <a:cs typeface="Arial"/>
                <a:sym typeface="Arial"/>
              </a:rPr>
              <a:t>Epochs 0 → 3 → 6</a:t>
            </a:r>
            <a:endParaRPr/>
          </a:p>
        </p:txBody>
      </p:sp>
      <p:sp>
        <p:nvSpPr>
          <p:cNvPr id="479" name="Google Shape;479;p22"/>
          <p:cNvSpPr txBox="1"/>
          <p:nvPr/>
        </p:nvSpPr>
        <p:spPr>
          <a:xfrm>
            <a:off x="8321040" y="2514600"/>
            <a:ext cx="3337560" cy="118872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500" b="0" i="0" u="none" strike="noStrike" cap="none">
                <a:solidFill>
                  <a:srgbClr val="21252B"/>
                </a:solidFill>
                <a:latin typeface="Arial"/>
                <a:ea typeface="Arial"/>
                <a:cs typeface="Arial"/>
                <a:sym typeface="Arial"/>
              </a:rPr>
              <a:t>The torsion marginals widen into φ &gt; 0 and toward ψ = ±π, regions the initial policy did not populate.</a:t>
            </a:r>
            <a:endParaRPr/>
          </a:p>
        </p:txBody>
      </p:sp>
      <p:sp>
        <p:nvSpPr>
          <p:cNvPr id="480" name="Google Shape;480;p22"/>
          <p:cNvSpPr txBox="1"/>
          <p:nvPr/>
        </p:nvSpPr>
        <p:spPr>
          <a:xfrm>
            <a:off x="8321040" y="4846320"/>
            <a:ext cx="3337560" cy="6400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300" b="0" i="0" u="none" strike="noStrike" cap="none">
                <a:solidFill>
                  <a:srgbClr val="59616B"/>
                </a:solidFill>
                <a:latin typeface="Arial"/>
                <a:ea typeface="Arial"/>
                <a:cs typeface="Arial"/>
                <a:sym typeface="Arial"/>
              </a:rPr>
              <a:t>Marginals do not show the joint distribution over all residues.</a:t>
            </a:r>
            <a:endParaRPr/>
          </a:p>
        </p:txBody>
      </p:sp>
      <p:pic>
        <p:nvPicPr>
          <p:cNvPr id="481" name="Google Shape;481;p22" title="截屏2026-09-21 下午11.44.55.png"/>
          <p:cNvPicPr preferRelativeResize="0"/>
          <p:nvPr/>
        </p:nvPicPr>
        <p:blipFill>
          <a:blip r:embed="rId3">
            <a:alphaModFix/>
          </a:blip>
          <a:stretch>
            <a:fillRect/>
          </a:stretch>
        </p:blipFill>
        <p:spPr>
          <a:xfrm>
            <a:off x="605199" y="1901952"/>
            <a:ext cx="7115798" cy="3636332"/>
          </a:xfrm>
          <a:prstGeom prst="rect">
            <a:avLst/>
          </a:prstGeom>
          <a:noFill/>
          <a:ln>
            <a:noFill/>
          </a:ln>
        </p:spPr>
      </p:pic>
      <p:pic>
        <p:nvPicPr>
          <p:cNvPr id="482" name="Google Shape;482;p22" title="截屏2026-09-21 下午11.46.03.png"/>
          <p:cNvPicPr preferRelativeResize="0"/>
          <p:nvPr/>
        </p:nvPicPr>
        <p:blipFill>
          <a:blip r:embed="rId4">
            <a:alphaModFix/>
          </a:blip>
          <a:stretch>
            <a:fillRect/>
          </a:stretch>
        </p:blipFill>
        <p:spPr>
          <a:xfrm>
            <a:off x="1695850" y="1463040"/>
            <a:ext cx="5602602" cy="287825"/>
          </a:xfrm>
          <a:prstGeom prst="rect">
            <a:avLst/>
          </a:prstGeom>
          <a:noFill/>
          <a:ln>
            <a:noFill/>
          </a:ln>
        </p:spPr>
      </p:pic>
      <p:sp>
        <p:nvSpPr>
          <p:cNvPr id="5001" name="Text 5001"/>
          <p:cNvSpPr txBox="1"/>
          <p:nvPr/>
        </p:nvSpPr>
        <p:spPr>
          <a:xfrm>
            <a:off x="8321040" y="3703320"/>
            <a:ext cx="3337560" cy="109728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500" b="1" i="0" u="none" strike="noStrike" cap="none">
                <a:solidFill>
                  <a:srgbClr val="245D68"/>
                </a:solidFill>
                <a:latin typeface="Arial"/>
                <a:ea typeface="Arial"/>
                <a:cs typeface="Arial"/>
                <a:sym typeface="Arial"/>
              </a:rPr>
              <a:t>Consistent with the KL ordering</a:t>
            </a:r>
          </a:p>
          <a:p>
            <a:pPr marL="0" marR="0" lvl="0" indent="0" algn="l" rtl="0">
              <a:lnSpc>
                <a:spcPct val="108000"/>
              </a:lnSpc>
              <a:spcBef>
                <a:spcPts val="300"/>
              </a:spcBef>
              <a:spcAft>
                <a:spcPts val="0"/>
              </a:spcAft>
              <a:buNone/>
            </a:pPr>
            <a:r>
              <a:rPr lang="en-US" sz="1500" b="0" i="0" u="none" strike="noStrike" cap="none">
                <a:solidFill>
                  <a:srgbClr val="21252B"/>
                </a:solidFill>
                <a:latin typeface="Arial"/>
                <a:ea typeface="Arial"/>
                <a:cs typeface="Arial"/>
                <a:sym typeface="Arial"/>
              </a:rPr>
              <a:t>No contraction onto a subset of the initial distribution (slide 15).</a:t>
            </a:r>
          </a:p>
        </p:txBody>
      </p:sp>
      <p:sp>
        <p:nvSpPr>
          <p:cNvPr id="5002" name="Shape 5002"/>
          <p:cNvSpPr/>
          <p:nvPr/>
        </p:nvSpPr>
        <p:spPr>
          <a:xfrm>
            <a:off x="502920" y="5971032"/>
            <a:ext cx="11155680" cy="356616"/>
          </a:xfrm>
          <a:prstGeom prst="rect">
            <a:avLst/>
          </a:prstGeom>
          <a:solidFill>
            <a:srgbClr val="EFF5F6"/>
          </a:solidFill>
          <a:ln>
            <a:noFill/>
          </a:ln>
        </p:spPr>
        <p:txBody>
          <a:bodyPr spcFirstLastPara="1" wrap="square" lIns="45720" tIns="0" rIns="45720" bIns="0" anchor="ctr" anchorCtr="0">
            <a:noAutofit/>
          </a:bodyPr>
          <a:lstStyle/>
          <a:p>
            <a:pPr marL="0" marR="0" lvl="0" indent="0" algn="l" rtl="0">
              <a:lnSpc>
                <a:spcPct val="108000"/>
              </a:lnSpc>
              <a:spcBef>
                <a:spcPts val="0"/>
              </a:spcBef>
              <a:spcAft>
                <a:spcPts val="0"/>
              </a:spcAft>
              <a:buNone/>
            </a:pPr>
            <a:r>
              <a:rPr lang="en-US" sz="1750" b="1" i="0" u="none" strike="noStrike" cap="none" dirty="0">
                <a:solidFill>
                  <a:srgbClr val="245D68"/>
                </a:solidFill>
                <a:latin typeface="Arial"/>
                <a:ea typeface="Arial"/>
                <a:cs typeface="Arial"/>
                <a:sym typeface="Arial"/>
              </a:rPr>
              <a:t>The update adds new torsion regions.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85"/>
        <p:cNvGrpSpPr/>
        <p:nvPr/>
      </p:nvGrpSpPr>
      <p:grpSpPr>
        <a:xfrm>
          <a:off x="0" y="0"/>
          <a:ext cx="0" cy="0"/>
          <a:chOff x="0" y="0"/>
          <a:chExt cx="0" cy="0"/>
        </a:xfrm>
      </p:grpSpPr>
      <p:sp>
        <p:nvSpPr>
          <p:cNvPr id="586" name="Google Shape;586;p26"/>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TEST 2 · BASELINE METHODS</a:t>
            </a:r>
            <a:endParaRPr/>
          </a:p>
        </p:txBody>
      </p:sp>
      <p:sp>
        <p:nvSpPr>
          <p:cNvPr id="587" name="Google Shape;587;p26"/>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Established adaptive samplers rank candidates by novelty</a:t>
            </a:r>
            <a:endParaRPr/>
          </a:p>
        </p:txBody>
      </p:sp>
      <p:cxnSp>
        <p:nvCxnSpPr>
          <p:cNvPr id="588" name="Google Shape;588;p26"/>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589" name="Google Shape;589;p26"/>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Toy illustration on the three-state ring: 40 short trajectories from A; clustering and REAP reward computed on these data; the DeepDriveMD latent space is drawn in the toy coordinates.</a:t>
            </a:r>
            <a:endParaRPr/>
          </a:p>
        </p:txBody>
      </p:sp>
      <p:sp>
        <p:nvSpPr>
          <p:cNvPr id="590" name="Google Shape;590;p26"/>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23 / 37</a:t>
            </a:r>
            <a:endParaRPr/>
          </a:p>
        </p:txBody>
      </p:sp>
      <p:pic>
        <p:nvPicPr>
          <p:cNvPr id="5001" name="baselines_a.png" descr="Toy three-state landscape explored from A. REAP restarts from least-populated clusters farthest along weighted CVs; MA-REAP agents with different weights choose different frontier clusters; DeepDriveMD restarts from outliers."/>
          <p:cNvPicPr>
            <a:picLocks noChangeAspect="1"/>
          </p:cNvPicPr>
          <p:nvPr/>
        </p:nvPicPr>
        <p:blipFill>
          <a:blip r:embed="rId3"/>
          <a:stretch>
            <a:fillRect/>
          </a:stretch>
        </p:blipFill>
        <p:spPr>
          <a:xfrm>
            <a:off x="883768" y="1188720"/>
            <a:ext cx="10424160" cy="3674089"/>
          </a:xfrm>
          <a:prstGeom prst="rect">
            <a:avLst/>
          </a:prstGeom>
        </p:spPr>
      </p:pic>
      <p:sp>
        <p:nvSpPr>
          <p:cNvPr id="5002" name="Text 5002"/>
          <p:cNvSpPr txBox="1"/>
          <p:nvPr/>
        </p:nvSpPr>
        <p:spPr>
          <a:xfrm>
            <a:off x="685800" y="4846320"/>
            <a:ext cx="3429000" cy="105156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1" i="0" u="none" strike="noStrike" cap="none">
                <a:solidFill>
                  <a:srgbClr val="245D68"/>
                </a:solidFill>
                <a:latin typeface="Arial"/>
                <a:ea typeface="Arial"/>
                <a:cs typeface="Arial"/>
                <a:sym typeface="Arial"/>
              </a:rPr>
              <a:t>REAP</a:t>
            </a:r>
            <a:r>
              <a:rPr lang="en-US" sz="1050" b="0" i="0" u="none" strike="noStrike" cap="none">
                <a:solidFill>
                  <a:srgbClr val="59616B"/>
                </a:solidFill>
                <a:latin typeface="Arial"/>
                <a:ea typeface="Arial"/>
                <a:cs typeface="Arial"/>
                <a:sym typeface="Arial"/>
              </a:rPr>
              <a:t>  Shamsi et al., 2018</a:t>
            </a:r>
          </a:p>
          <a:p>
            <a:pPr marL="0" marR="0" lvl="0" indent="0" algn="l" rtl="0">
              <a:lnSpc>
                <a:spcPct val="108000"/>
              </a:lnSpc>
              <a:spcBef>
                <a:spcPts val="200"/>
              </a:spcBef>
              <a:spcAft>
                <a:spcPts val="0"/>
              </a:spcAft>
              <a:buNone/>
            </a:pPr>
            <a:r>
              <a:rPr lang="en-US" sz="1150" b="0" i="0" u="none" strike="noStrike" cap="none">
                <a:solidFill>
                  <a:srgbClr val="21252B"/>
                </a:solidFill>
                <a:latin typeface="Arial"/>
                <a:ea typeface="Arial"/>
                <a:cs typeface="Arial"/>
                <a:sym typeface="Arial"/>
              </a:rPr>
              <a:t>Cluster the data; among the least-populated clusters, restart from those farthest along weighted CVs. The weights are refit each round.</a:t>
            </a:r>
          </a:p>
        </p:txBody>
      </p:sp>
      <p:sp>
        <p:nvSpPr>
          <p:cNvPr id="5003" name="Text 5003"/>
          <p:cNvSpPr txBox="1"/>
          <p:nvPr/>
        </p:nvSpPr>
        <p:spPr>
          <a:xfrm>
            <a:off x="4434840" y="4846320"/>
            <a:ext cx="3429000" cy="105156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1" i="0" u="none" strike="noStrike" cap="none">
                <a:solidFill>
                  <a:srgbClr val="245D68"/>
                </a:solidFill>
                <a:latin typeface="Arial"/>
                <a:ea typeface="Arial"/>
                <a:cs typeface="Arial"/>
                <a:sym typeface="Arial"/>
              </a:rPr>
              <a:t>MA-REAP</a:t>
            </a:r>
            <a:r>
              <a:rPr lang="en-US" sz="1050" b="0" i="0" u="none" strike="noStrike" cap="none">
                <a:solidFill>
                  <a:srgbClr val="59616B"/>
                </a:solidFill>
                <a:latin typeface="Arial"/>
                <a:ea typeface="Arial"/>
                <a:cs typeface="Arial"/>
                <a:sym typeface="Arial"/>
              </a:rPr>
              <a:t>  Kleiman &amp; Shukla, 2022</a:t>
            </a:r>
          </a:p>
          <a:p>
            <a:pPr marL="0" marR="0" lvl="0" indent="0" algn="l" rtl="0">
              <a:lnSpc>
                <a:spcPct val="108000"/>
              </a:lnSpc>
              <a:spcBef>
                <a:spcPts val="200"/>
              </a:spcBef>
              <a:spcAft>
                <a:spcPts val="0"/>
              </a:spcAft>
              <a:buNone/>
            </a:pPr>
            <a:r>
              <a:rPr lang="en-US" sz="1150" b="0" i="0" u="none" strike="noStrike" cap="none">
                <a:solidFill>
                  <a:srgbClr val="21252B"/>
                </a:solidFill>
                <a:latin typeface="Arial"/>
                <a:ea typeface="Arial"/>
                <a:cs typeface="Arial"/>
                <a:sym typeface="Arial"/>
              </a:rPr>
              <a:t>Several REAP agents, each with its own CV weights, share the sampled data and choose restarts jointly.</a:t>
            </a:r>
          </a:p>
        </p:txBody>
      </p:sp>
      <p:sp>
        <p:nvSpPr>
          <p:cNvPr id="5004" name="Text 5004"/>
          <p:cNvSpPr txBox="1"/>
          <p:nvPr/>
        </p:nvSpPr>
        <p:spPr>
          <a:xfrm>
            <a:off x="8183880" y="4846320"/>
            <a:ext cx="3429000" cy="105156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1" i="0" u="none" strike="noStrike" cap="none">
                <a:solidFill>
                  <a:srgbClr val="245D68"/>
                </a:solidFill>
                <a:latin typeface="Arial"/>
                <a:ea typeface="Arial"/>
                <a:cs typeface="Arial"/>
                <a:sym typeface="Arial"/>
              </a:rPr>
              <a:t>DeepDriveMD</a:t>
            </a:r>
            <a:r>
              <a:rPr lang="en-US" sz="1050" b="0" i="0" u="none" strike="noStrike" cap="none">
                <a:solidFill>
                  <a:srgbClr val="59616B"/>
                </a:solidFill>
                <a:latin typeface="Arial"/>
                <a:ea typeface="Arial"/>
                <a:cs typeface="Arial"/>
                <a:sym typeface="Arial"/>
              </a:rPr>
              <a:t>  Lee et al., 2019</a:t>
            </a:r>
          </a:p>
          <a:p>
            <a:pPr marL="0" marR="0" lvl="0" indent="0" algn="l" rtl="0">
              <a:lnSpc>
                <a:spcPct val="108000"/>
              </a:lnSpc>
              <a:spcBef>
                <a:spcPts val="200"/>
              </a:spcBef>
              <a:spcAft>
                <a:spcPts val="0"/>
              </a:spcAft>
              <a:buNone/>
            </a:pPr>
            <a:r>
              <a:rPr lang="en-US" sz="1150" b="0" i="0" u="none" strike="noStrike" cap="none">
                <a:solidFill>
                  <a:srgbClr val="21252B"/>
                </a:solidFill>
                <a:latin typeface="Arial"/>
                <a:ea typeface="Arial"/>
                <a:cs typeface="Arial"/>
                <a:sym typeface="Arial"/>
              </a:rPr>
              <a:t>An autoencoder embeds the structures; restarts come from outliers in its latent space.</a:t>
            </a:r>
          </a:p>
        </p:txBody>
      </p:sp>
      <p:sp>
        <p:nvSpPr>
          <p:cNvPr id="5005" name="Shape 5005"/>
          <p:cNvSpPr/>
          <p:nvPr/>
        </p:nvSpPr>
        <p:spPr>
          <a:xfrm>
            <a:off x="502920" y="5971032"/>
            <a:ext cx="11155680" cy="356616"/>
          </a:xfrm>
          <a:prstGeom prst="rect">
            <a:avLst/>
          </a:prstGeom>
          <a:solidFill>
            <a:srgbClr val="EFF5F6"/>
          </a:solidFill>
          <a:ln>
            <a:noFill/>
          </a:ln>
        </p:spPr>
        <p:txBody>
          <a:bodyPr spcFirstLastPara="1" wrap="square" lIns="45720" tIns="0" rIns="45720" bIns="0" anchor="ctr" anchorCtr="0">
            <a:noAutofit/>
          </a:bodyPr>
          <a:lstStyle/>
          <a:p>
            <a:pPr marL="0" marR="0" lvl="0" indent="0" algn="l" rtl="0">
              <a:lnSpc>
                <a:spcPct val="108000"/>
              </a:lnSpc>
              <a:spcBef>
                <a:spcPts val="0"/>
              </a:spcBef>
              <a:spcAft>
                <a:spcPts val="0"/>
              </a:spcAft>
              <a:buNone/>
            </a:pPr>
            <a:r>
              <a:rPr lang="en-US" sz="1650" b="1" i="0" u="none" strike="noStrike" cap="none" dirty="0">
                <a:solidFill>
                  <a:srgbClr val="245D68"/>
                </a:solidFill>
                <a:latin typeface="Arial"/>
                <a:ea typeface="Arial"/>
                <a:cs typeface="Arial"/>
                <a:sym typeface="Arial"/>
              </a:rPr>
              <a:t>Each rule scores candidates from structures alone, before any trajectory is run.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85"/>
        <p:cNvGrpSpPr/>
        <p:nvPr/>
      </p:nvGrpSpPr>
      <p:grpSpPr>
        <a:xfrm>
          <a:off x="0" y="0"/>
          <a:ext cx="0" cy="0"/>
          <a:chOff x="0" y="0"/>
          <a:chExt cx="0" cy="0"/>
        </a:xfrm>
      </p:grpSpPr>
      <p:sp>
        <p:nvSpPr>
          <p:cNvPr id="586" name="Google Shape;586;p26"/>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TEST 2 · BASELINE METHODS</a:t>
            </a:r>
            <a:endParaRPr/>
          </a:p>
        </p:txBody>
      </p:sp>
      <p:sp>
        <p:nvSpPr>
          <p:cNvPr id="587" name="Google Shape;587;p26"/>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Gen-COMPAS shoots trajectories from the separatrix</a:t>
            </a:r>
            <a:endParaRPr/>
          </a:p>
        </p:txBody>
      </p:sp>
      <p:cxnSp>
        <p:nvCxnSpPr>
          <p:cNvPr id="588" name="Google Shape;588;p26"/>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589" name="Google Shape;589;p26"/>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Gen-COMPAS: Tang et al., arXiv:2510.24979 (2025). Toy illustration on the slide 3 landscape; generated structures and committor are schematic (1D angular committor).</a:t>
            </a:r>
            <a:endParaRPr/>
          </a:p>
        </p:txBody>
      </p:sp>
      <p:sp>
        <p:nvSpPr>
          <p:cNvPr id="590" name="Google Shape;590;p26"/>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24 / 37</a:t>
            </a:r>
            <a:endParaRPr/>
          </a:p>
        </p:txBody>
      </p:sp>
      <p:pic>
        <p:nvPicPr>
          <p:cNvPr id="5006" name="baselines_b.png" descr="Two-state ring: data near A and B, generated intermediates, the committor 0.5 separatrix on both routes, and trajectories shot from selected points that commit to A or B."/>
          <p:cNvPicPr>
            <a:picLocks noChangeAspect="1"/>
          </p:cNvPicPr>
          <p:nvPr/>
        </p:nvPicPr>
        <p:blipFill>
          <a:blip r:embed="rId3"/>
          <a:stretch>
            <a:fillRect/>
          </a:stretch>
        </p:blipFill>
        <p:spPr>
          <a:xfrm>
            <a:off x="411480" y="1280160"/>
            <a:ext cx="4160520" cy="3889182"/>
          </a:xfrm>
          <a:prstGeom prst="rect">
            <a:avLst/>
          </a:prstGeom>
        </p:spPr>
      </p:pic>
      <p:sp>
        <p:nvSpPr>
          <p:cNvPr id="5007" name="Shape 5007"/>
          <p:cNvSpPr/>
          <p:nvPr/>
        </p:nvSpPr>
        <p:spPr>
          <a:xfrm>
            <a:off x="4892040" y="1353312"/>
            <a:ext cx="274320" cy="274320"/>
          </a:xfrm>
          <a:prstGeom prst="ellipse">
            <a:avLst/>
          </a:prstGeom>
          <a:solidFill>
            <a:srgbClr val="245D68"/>
          </a:solidFill>
          <a:ln>
            <a:no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100" b="1" i="0" u="none" strike="noStrike" cap="none">
                <a:solidFill>
                  <a:srgbClr val="FFFFFF"/>
                </a:solidFill>
                <a:latin typeface="Arial"/>
                <a:ea typeface="Arial"/>
                <a:cs typeface="Arial"/>
                <a:sym typeface="Arial"/>
              </a:rPr>
              <a:t>1</a:t>
            </a:r>
          </a:p>
        </p:txBody>
      </p:sp>
      <p:sp>
        <p:nvSpPr>
          <p:cNvPr id="5008" name="Text 5008"/>
          <p:cNvSpPr txBox="1"/>
          <p:nvPr/>
        </p:nvSpPr>
        <p:spPr>
          <a:xfrm>
            <a:off x="5303520" y="1325880"/>
            <a:ext cx="635508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0" i="0" u="none" strike="noStrike" cap="none">
                <a:solidFill>
                  <a:srgbClr val="21252B"/>
                </a:solidFill>
                <a:latin typeface="Arial"/>
                <a:ea typeface="Arial"/>
                <a:cs typeface="Arial"/>
                <a:sym typeface="Arial"/>
              </a:rPr>
              <a:t>Train a diffusion model on short unbiased trajectories from reactant A and product B.</a:t>
            </a:r>
          </a:p>
        </p:txBody>
      </p:sp>
      <p:sp>
        <p:nvSpPr>
          <p:cNvPr id="5009" name="Shape 5009"/>
          <p:cNvSpPr/>
          <p:nvPr/>
        </p:nvSpPr>
        <p:spPr>
          <a:xfrm>
            <a:off x="4892040" y="1828800"/>
            <a:ext cx="274320" cy="274320"/>
          </a:xfrm>
          <a:prstGeom prst="ellipse">
            <a:avLst/>
          </a:prstGeom>
          <a:solidFill>
            <a:srgbClr val="245D68"/>
          </a:solidFill>
          <a:ln>
            <a:no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100" b="1" i="0" u="none" strike="noStrike" cap="none">
                <a:solidFill>
                  <a:srgbClr val="FFFFFF"/>
                </a:solidFill>
                <a:latin typeface="Arial"/>
                <a:ea typeface="Arial"/>
                <a:cs typeface="Arial"/>
                <a:sym typeface="Arial"/>
              </a:rPr>
              <a:t>2</a:t>
            </a:r>
          </a:p>
        </p:txBody>
      </p:sp>
      <p:sp>
        <p:nvSpPr>
          <p:cNvPr id="5010" name="Text 5010"/>
          <p:cNvSpPr txBox="1"/>
          <p:nvPr/>
        </p:nvSpPr>
        <p:spPr>
          <a:xfrm>
            <a:off x="5303520" y="1801368"/>
            <a:ext cx="635508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0" i="0" u="none" strike="noStrike" cap="none">
                <a:solidFill>
                  <a:srgbClr val="21252B"/>
                </a:solidFill>
                <a:latin typeface="Arial"/>
                <a:ea typeface="Arial"/>
                <a:cs typeface="Arial"/>
                <a:sym typeface="Arial"/>
              </a:rPr>
              <a:t>Generate intermediates; keep those with a learned committor q⁺ ≈ 0.5 (stars).</a:t>
            </a:r>
          </a:p>
        </p:txBody>
      </p:sp>
      <p:sp>
        <p:nvSpPr>
          <p:cNvPr id="5011" name="Shape 5011"/>
          <p:cNvSpPr/>
          <p:nvPr/>
        </p:nvSpPr>
        <p:spPr>
          <a:xfrm>
            <a:off x="4892040" y="2304288"/>
            <a:ext cx="274320" cy="274320"/>
          </a:xfrm>
          <a:prstGeom prst="ellipse">
            <a:avLst/>
          </a:prstGeom>
          <a:solidFill>
            <a:srgbClr val="245D68"/>
          </a:solidFill>
          <a:ln>
            <a:no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100" b="1" i="0" u="none" strike="noStrike" cap="none">
                <a:solidFill>
                  <a:srgbClr val="FFFFFF"/>
                </a:solidFill>
                <a:latin typeface="Arial"/>
                <a:ea typeface="Arial"/>
                <a:cs typeface="Arial"/>
                <a:sym typeface="Arial"/>
              </a:rPr>
              <a:t>3</a:t>
            </a:r>
          </a:p>
        </p:txBody>
      </p:sp>
      <p:sp>
        <p:nvSpPr>
          <p:cNvPr id="5012" name="Text 5012"/>
          <p:cNvSpPr txBox="1"/>
          <p:nvPr/>
        </p:nvSpPr>
        <p:spPr>
          <a:xfrm>
            <a:off x="5303520" y="2276856"/>
            <a:ext cx="635508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0" i="0" u="none" strike="noStrike" cap="none">
                <a:solidFill>
                  <a:srgbClr val="21252B"/>
                </a:solidFill>
                <a:latin typeface="Arial"/>
                <a:ea typeface="Arial"/>
                <a:cs typeface="Arial"/>
                <a:sym typeface="Arial"/>
              </a:rPr>
              <a:t>Shoot unbiased trajectories from them; refit both models each round.</a:t>
            </a:r>
          </a:p>
        </p:txBody>
      </p:sp>
      <p:sp>
        <p:nvSpPr>
          <p:cNvPr id="5013" name="Shape 5013"/>
          <p:cNvSpPr/>
          <p:nvPr/>
        </p:nvSpPr>
        <p:spPr>
          <a:xfrm>
            <a:off x="4892040" y="2926080"/>
            <a:ext cx="6766560" cy="384048"/>
          </a:xfrm>
          <a:prstGeom prst="rect">
            <a:avLst/>
          </a:prstGeom>
          <a:solidFill>
            <a:srgbClr val="E9EDF1"/>
          </a:solidFill>
          <a:ln w="12700">
            <a:solidFill>
              <a:srgbClr val="D5DCE2"/>
            </a:solidFill>
          </a:ln>
        </p:spPr>
        <p:txBody>
          <a:bodyPr spcFirstLastPara="1" wrap="square" lIns="45720" tIns="0" rIns="45720" bIns="0" anchor="ctr" anchorCtr="0">
            <a:noAutofit/>
          </a:bodyPr>
          <a:lstStyle/>
          <a:p>
            <a:endParaRPr lang="en-US"/>
          </a:p>
        </p:txBody>
      </p:sp>
      <p:sp>
        <p:nvSpPr>
          <p:cNvPr id="5014" name="Text 5014"/>
          <p:cNvSpPr txBox="1"/>
          <p:nvPr/>
        </p:nvSpPr>
        <p:spPr>
          <a:xfrm>
            <a:off x="4983480" y="2990088"/>
            <a:ext cx="1554480" cy="384048"/>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00" b="1" i="0" u="none" strike="noStrike" cap="none">
                <a:solidFill>
                  <a:srgbClr val="59616B"/>
                </a:solidFill>
                <a:latin typeface="Arial"/>
                <a:ea typeface="Arial"/>
                <a:cs typeface="Arial"/>
                <a:sym typeface="Arial"/>
              </a:rPr>
              <a:t>Method</a:t>
            </a:r>
          </a:p>
        </p:txBody>
      </p:sp>
      <p:sp>
        <p:nvSpPr>
          <p:cNvPr id="5015" name="Text 5015"/>
          <p:cNvSpPr txBox="1"/>
          <p:nvPr/>
        </p:nvSpPr>
        <p:spPr>
          <a:xfrm>
            <a:off x="6629400" y="2990088"/>
            <a:ext cx="2834640" cy="384048"/>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00" b="1" i="0" u="none" strike="noStrike" cap="none">
                <a:solidFill>
                  <a:srgbClr val="59616B"/>
                </a:solidFill>
                <a:latin typeface="Arial"/>
                <a:ea typeface="Arial"/>
                <a:cs typeface="Arial"/>
                <a:sym typeface="Arial"/>
              </a:rPr>
              <a:t>Chooses where to sample by</a:t>
            </a:r>
          </a:p>
        </p:txBody>
      </p:sp>
      <p:sp>
        <p:nvSpPr>
          <p:cNvPr id="5016" name="Text 5016"/>
          <p:cNvSpPr txBox="1"/>
          <p:nvPr/>
        </p:nvSpPr>
        <p:spPr>
          <a:xfrm>
            <a:off x="9555480" y="2990088"/>
            <a:ext cx="2057400" cy="384048"/>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00" b="1" i="0" u="none" strike="noStrike" cap="none">
                <a:solidFill>
                  <a:srgbClr val="59616B"/>
                </a:solidFill>
                <a:latin typeface="Arial"/>
                <a:ea typeface="Arial"/>
                <a:cs typeface="Arial"/>
                <a:sym typeface="Arial"/>
              </a:rPr>
              <a:t>Requires</a:t>
            </a:r>
          </a:p>
        </p:txBody>
      </p:sp>
      <p:sp>
        <p:nvSpPr>
          <p:cNvPr id="5017" name="Shape 5017"/>
          <p:cNvSpPr/>
          <p:nvPr/>
        </p:nvSpPr>
        <p:spPr>
          <a:xfrm>
            <a:off x="4892040" y="3310128"/>
            <a:ext cx="6766560" cy="475488"/>
          </a:xfrm>
          <a:prstGeom prst="rect">
            <a:avLst/>
          </a:prstGeom>
          <a:solidFill>
            <a:srgbClr val="FFFFFF"/>
          </a:solidFill>
          <a:ln w="12700">
            <a:solidFill>
              <a:srgbClr val="D5DCE2"/>
            </a:solidFill>
          </a:ln>
        </p:spPr>
        <p:txBody>
          <a:bodyPr spcFirstLastPara="1" wrap="square" lIns="45720" tIns="0" rIns="45720" bIns="0" anchor="ctr" anchorCtr="0">
            <a:noAutofit/>
          </a:bodyPr>
          <a:lstStyle/>
          <a:p>
            <a:endParaRPr lang="en-US"/>
          </a:p>
        </p:txBody>
      </p:sp>
      <p:sp>
        <p:nvSpPr>
          <p:cNvPr id="5018" name="Text 5018"/>
          <p:cNvSpPr txBox="1"/>
          <p:nvPr/>
        </p:nvSpPr>
        <p:spPr>
          <a:xfrm>
            <a:off x="4983480" y="3374136"/>
            <a:ext cx="1554480" cy="384048"/>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1" i="0" u="none" strike="noStrike" cap="none">
                <a:solidFill>
                  <a:srgbClr val="21252B"/>
                </a:solidFill>
                <a:latin typeface="Arial"/>
                <a:ea typeface="Arial"/>
                <a:cs typeface="Arial"/>
                <a:sym typeface="Arial"/>
              </a:rPr>
              <a:t>REAP, MA-REAP</a:t>
            </a:r>
          </a:p>
        </p:txBody>
      </p:sp>
      <p:sp>
        <p:nvSpPr>
          <p:cNvPr id="5019" name="Text 5019"/>
          <p:cNvSpPr txBox="1"/>
          <p:nvPr/>
        </p:nvSpPr>
        <p:spPr>
          <a:xfrm>
            <a:off x="6629400" y="3374136"/>
            <a:ext cx="2834640" cy="384048"/>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Novelty along weighted CVs</a:t>
            </a:r>
          </a:p>
        </p:txBody>
      </p:sp>
      <p:sp>
        <p:nvSpPr>
          <p:cNvPr id="5020" name="Text 5020"/>
          <p:cNvSpPr txBox="1"/>
          <p:nvPr/>
        </p:nvSpPr>
        <p:spPr>
          <a:xfrm>
            <a:off x="9555480" y="3374136"/>
            <a:ext cx="2057400" cy="384048"/>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Collective variables</a:t>
            </a:r>
          </a:p>
        </p:txBody>
      </p:sp>
      <p:sp>
        <p:nvSpPr>
          <p:cNvPr id="5021" name="Shape 5021"/>
          <p:cNvSpPr/>
          <p:nvPr/>
        </p:nvSpPr>
        <p:spPr>
          <a:xfrm>
            <a:off x="4892040" y="3785616"/>
            <a:ext cx="6766560" cy="475488"/>
          </a:xfrm>
          <a:prstGeom prst="rect">
            <a:avLst/>
          </a:prstGeom>
          <a:solidFill>
            <a:srgbClr val="FFFFFF"/>
          </a:solidFill>
          <a:ln w="12700">
            <a:solidFill>
              <a:srgbClr val="D5DCE2"/>
            </a:solidFill>
          </a:ln>
        </p:spPr>
        <p:txBody>
          <a:bodyPr spcFirstLastPara="1" wrap="square" lIns="45720" tIns="0" rIns="45720" bIns="0" anchor="ctr" anchorCtr="0">
            <a:noAutofit/>
          </a:bodyPr>
          <a:lstStyle/>
          <a:p>
            <a:endParaRPr lang="en-US"/>
          </a:p>
        </p:txBody>
      </p:sp>
      <p:sp>
        <p:nvSpPr>
          <p:cNvPr id="5022" name="Text 5022"/>
          <p:cNvSpPr txBox="1"/>
          <p:nvPr/>
        </p:nvSpPr>
        <p:spPr>
          <a:xfrm>
            <a:off x="4983480" y="3849624"/>
            <a:ext cx="1554480" cy="384048"/>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1" i="0" u="none" strike="noStrike" cap="none">
                <a:solidFill>
                  <a:srgbClr val="21252B"/>
                </a:solidFill>
                <a:latin typeface="Arial"/>
                <a:ea typeface="Arial"/>
                <a:cs typeface="Arial"/>
                <a:sym typeface="Arial"/>
              </a:rPr>
              <a:t>DeepDriveMD</a:t>
            </a:r>
          </a:p>
        </p:txBody>
      </p:sp>
      <p:sp>
        <p:nvSpPr>
          <p:cNvPr id="5023" name="Text 5023"/>
          <p:cNvSpPr txBox="1"/>
          <p:nvPr/>
        </p:nvSpPr>
        <p:spPr>
          <a:xfrm>
            <a:off x="6629400" y="3849624"/>
            <a:ext cx="2834640" cy="384048"/>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Outliers in a learned latent space</a:t>
            </a:r>
          </a:p>
        </p:txBody>
      </p:sp>
      <p:sp>
        <p:nvSpPr>
          <p:cNvPr id="5024" name="Text 5024"/>
          <p:cNvSpPr txBox="1"/>
          <p:nvPr/>
        </p:nvSpPr>
        <p:spPr>
          <a:xfrm>
            <a:off x="9555480" y="3849624"/>
            <a:ext cx="2057400" cy="384048"/>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An autoencoder</a:t>
            </a:r>
          </a:p>
        </p:txBody>
      </p:sp>
      <p:sp>
        <p:nvSpPr>
          <p:cNvPr id="5025" name="Shape 5025"/>
          <p:cNvSpPr/>
          <p:nvPr/>
        </p:nvSpPr>
        <p:spPr>
          <a:xfrm>
            <a:off x="4892040" y="4261104"/>
            <a:ext cx="6766560" cy="475488"/>
          </a:xfrm>
          <a:prstGeom prst="rect">
            <a:avLst/>
          </a:prstGeom>
          <a:solidFill>
            <a:srgbClr val="FFFFFF"/>
          </a:solidFill>
          <a:ln w="12700">
            <a:solidFill>
              <a:srgbClr val="D5DCE2"/>
            </a:solidFill>
          </a:ln>
        </p:spPr>
        <p:txBody>
          <a:bodyPr spcFirstLastPara="1" wrap="square" lIns="45720" tIns="0" rIns="45720" bIns="0" anchor="ctr" anchorCtr="0">
            <a:noAutofit/>
          </a:bodyPr>
          <a:lstStyle/>
          <a:p>
            <a:endParaRPr lang="en-US"/>
          </a:p>
        </p:txBody>
      </p:sp>
      <p:sp>
        <p:nvSpPr>
          <p:cNvPr id="5026" name="Text 5026"/>
          <p:cNvSpPr txBox="1"/>
          <p:nvPr/>
        </p:nvSpPr>
        <p:spPr>
          <a:xfrm>
            <a:off x="4983480" y="4325112"/>
            <a:ext cx="1554480" cy="384048"/>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1" i="0" u="none" strike="noStrike" cap="none">
                <a:solidFill>
                  <a:srgbClr val="21252B"/>
                </a:solidFill>
                <a:latin typeface="Arial"/>
                <a:ea typeface="Arial"/>
                <a:cs typeface="Arial"/>
                <a:sym typeface="Arial"/>
              </a:rPr>
              <a:t>Gen-COMPAS</a:t>
            </a:r>
          </a:p>
        </p:txBody>
      </p:sp>
      <p:sp>
        <p:nvSpPr>
          <p:cNvPr id="5027" name="Text 5027"/>
          <p:cNvSpPr txBox="1"/>
          <p:nvPr/>
        </p:nvSpPr>
        <p:spPr>
          <a:xfrm>
            <a:off x="6629400" y="4325112"/>
            <a:ext cx="2834640" cy="384048"/>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Generated structures near q⁺ = 0.5</a:t>
            </a:r>
          </a:p>
        </p:txBody>
      </p:sp>
      <p:sp>
        <p:nvSpPr>
          <p:cNvPr id="5028" name="Text 5028"/>
          <p:cNvSpPr txBox="1"/>
          <p:nvPr/>
        </p:nvSpPr>
        <p:spPr>
          <a:xfrm>
            <a:off x="9555480" y="4325112"/>
            <a:ext cx="2057400" cy="384048"/>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Reactant and product states</a:t>
            </a:r>
          </a:p>
        </p:txBody>
      </p:sp>
      <p:sp>
        <p:nvSpPr>
          <p:cNvPr id="5029" name="Shape 5029"/>
          <p:cNvSpPr/>
          <p:nvPr/>
        </p:nvSpPr>
        <p:spPr>
          <a:xfrm>
            <a:off x="4892040" y="4736592"/>
            <a:ext cx="6766560" cy="475488"/>
          </a:xfrm>
          <a:prstGeom prst="rect">
            <a:avLst/>
          </a:prstGeom>
          <a:solidFill>
            <a:srgbClr val="EFF5F6"/>
          </a:solidFill>
          <a:ln w="12700">
            <a:solidFill>
              <a:srgbClr val="D5DCE2"/>
            </a:solidFill>
          </a:ln>
        </p:spPr>
        <p:txBody>
          <a:bodyPr spcFirstLastPara="1" wrap="square" lIns="45720" tIns="0" rIns="45720" bIns="0" anchor="ctr" anchorCtr="0">
            <a:noAutofit/>
          </a:bodyPr>
          <a:lstStyle/>
          <a:p>
            <a:endParaRPr lang="en-US"/>
          </a:p>
        </p:txBody>
      </p:sp>
      <p:sp>
        <p:nvSpPr>
          <p:cNvPr id="5030" name="Text 5030"/>
          <p:cNvSpPr txBox="1"/>
          <p:nvPr/>
        </p:nvSpPr>
        <p:spPr>
          <a:xfrm>
            <a:off x="4983480" y="4800600"/>
            <a:ext cx="1554480" cy="384048"/>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1" i="0" u="none" strike="noStrike" cap="none">
                <a:solidFill>
                  <a:srgbClr val="245D68"/>
                </a:solidFill>
                <a:latin typeface="Arial"/>
                <a:ea typeface="Arial"/>
                <a:cs typeface="Arial"/>
                <a:sym typeface="Arial"/>
              </a:rPr>
              <a:t>GESPO</a:t>
            </a:r>
          </a:p>
        </p:txBody>
      </p:sp>
      <p:sp>
        <p:nvSpPr>
          <p:cNvPr id="5031" name="Text 5031"/>
          <p:cNvSpPr txBox="1"/>
          <p:nvPr/>
        </p:nvSpPr>
        <p:spPr>
          <a:xfrm>
            <a:off x="6629400" y="4800600"/>
            <a:ext cx="2834640" cy="384048"/>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1" i="0" u="none" strike="noStrike" cap="none">
                <a:solidFill>
                  <a:srgbClr val="245D68"/>
                </a:solidFill>
                <a:latin typeface="Arial"/>
                <a:ea typeface="Arial"/>
                <a:cs typeface="Arial"/>
                <a:sym typeface="Arial"/>
              </a:rPr>
              <a:t>A policy trained on trajectory-level rewards</a:t>
            </a:r>
          </a:p>
        </p:txBody>
      </p:sp>
      <p:sp>
        <p:nvSpPr>
          <p:cNvPr id="5032" name="Text 5032"/>
          <p:cNvSpPr txBox="1"/>
          <p:nvPr/>
        </p:nvSpPr>
        <p:spPr>
          <a:xfrm>
            <a:off x="9555480" y="4800600"/>
            <a:ext cx="2057400" cy="384048"/>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1" i="0" u="none" strike="noStrike" cap="none">
                <a:solidFill>
                  <a:srgbClr val="245D68"/>
                </a:solidFill>
                <a:latin typeface="Arial"/>
                <a:ea typeface="Arial"/>
                <a:cs typeface="Arial"/>
                <a:sym typeface="Arial"/>
              </a:rPr>
              <a:t>No predefined end states</a:t>
            </a:r>
          </a:p>
        </p:txBody>
      </p:sp>
      <p:sp>
        <p:nvSpPr>
          <p:cNvPr id="5033" name="Shape 5033"/>
          <p:cNvSpPr/>
          <p:nvPr/>
        </p:nvSpPr>
        <p:spPr>
          <a:xfrm>
            <a:off x="502920" y="5971032"/>
            <a:ext cx="11155680" cy="356616"/>
          </a:xfrm>
          <a:prstGeom prst="rect">
            <a:avLst/>
          </a:prstGeom>
          <a:solidFill>
            <a:srgbClr val="EFF5F6"/>
          </a:solidFill>
          <a:ln>
            <a:noFill/>
          </a:ln>
        </p:spPr>
        <p:txBody>
          <a:bodyPr spcFirstLastPara="1" wrap="square" lIns="45720" tIns="0" rIns="45720" bIns="0" anchor="ctr" anchorCtr="0">
            <a:noAutofit/>
          </a:bodyPr>
          <a:lstStyle/>
          <a:p>
            <a:pPr marL="0" marR="0" lvl="0" indent="0" algn="l" rtl="0">
              <a:lnSpc>
                <a:spcPct val="108000"/>
              </a:lnSpc>
              <a:spcBef>
                <a:spcPts val="0"/>
              </a:spcBef>
              <a:spcAft>
                <a:spcPts val="0"/>
              </a:spcAft>
              <a:buNone/>
            </a:pPr>
            <a:r>
              <a:rPr lang="en-US" sz="1650" b="1" i="0" u="none" strike="noStrike" cap="none">
                <a:solidFill>
                  <a:srgbClr val="245D68"/>
                </a:solidFill>
                <a:latin typeface="Arial"/>
                <a:ea typeface="Arial"/>
                <a:cs typeface="Arial"/>
                <a:sym typeface="Arial"/>
              </a:rPr>
              <a:t>GESPO trains a generative policy on trajectory outcomes; the others rank existing structures.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85"/>
        <p:cNvGrpSpPr/>
        <p:nvPr/>
      </p:nvGrpSpPr>
      <p:grpSpPr>
        <a:xfrm>
          <a:off x="0" y="0"/>
          <a:ext cx="0" cy="0"/>
          <a:chOff x="0" y="0"/>
          <a:chExt cx="0" cy="0"/>
        </a:xfrm>
      </p:grpSpPr>
      <p:sp>
        <p:nvSpPr>
          <p:cNvPr id="586" name="Google Shape;586;p26"/>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TEST 2 · BASELINES</a:t>
            </a:r>
            <a:endParaRPr/>
          </a:p>
        </p:txBody>
      </p:sp>
      <p:sp>
        <p:nvSpPr>
          <p:cNvPr id="587" name="Google Shape;587;p26"/>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At equal budget, GESPO covers the widest region</a:t>
            </a:r>
            <a:endParaRPr/>
          </a:p>
        </p:txBody>
      </p:sp>
      <p:cxnSp>
        <p:nvCxnSpPr>
          <p:cNvPr id="588" name="Google Shape;588;p26"/>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589" name="Google Shape;589;p26"/>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GESPO (manuscript, 2026). 115.2 ns per method; same engine, force field and prepared system. Color: budget at first discovery; triangles: initial conformations.</a:t>
            </a:r>
            <a:endParaRPr/>
          </a:p>
        </p:txBody>
      </p:sp>
      <p:sp>
        <p:nvSpPr>
          <p:cNvPr id="590" name="Google Shape;590;p26"/>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25 / 37</a:t>
            </a:r>
            <a:endParaRPr/>
          </a:p>
        </p:txBody>
      </p:sp>
      <p:pic>
        <p:nvPicPr>
          <p:cNvPr id="591" name="Google Shape;591;p26"/>
          <p:cNvPicPr preferRelativeResize="0"/>
          <p:nvPr/>
        </p:nvPicPr>
        <p:blipFill>
          <a:blip r:embed="rId3">
            <a:alphaModFix/>
          </a:blip>
          <a:stretch>
            <a:fillRect/>
          </a:stretch>
        </p:blipFill>
        <p:spPr>
          <a:xfrm>
            <a:off x="320040" y="1298448"/>
            <a:ext cx="8321040" cy="4545503"/>
          </a:xfrm>
          <a:prstGeom prst="rect">
            <a:avLst/>
          </a:prstGeom>
          <a:noFill/>
          <a:ln>
            <a:noFill/>
          </a:ln>
        </p:spPr>
      </p:pic>
      <p:sp>
        <p:nvSpPr>
          <p:cNvPr id="5001" name="Text 5001"/>
          <p:cNvSpPr txBox="1"/>
          <p:nvPr/>
        </p:nvSpPr>
        <p:spPr>
          <a:xfrm>
            <a:off x="8869680" y="1609344"/>
            <a:ext cx="2834640" cy="10058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400" b="1" i="0" u="none" strike="noStrike" cap="none" dirty="0">
                <a:solidFill>
                  <a:srgbClr val="245D68"/>
                </a:solidFill>
                <a:latin typeface="Arial"/>
                <a:ea typeface="Arial"/>
                <a:cs typeface="Arial"/>
                <a:sym typeface="Arial"/>
              </a:rPr>
              <a:t>GESPO</a:t>
            </a:r>
          </a:p>
          <a:p>
            <a:pPr marL="0" marR="0" lvl="0" indent="0" algn="l" rtl="0">
              <a:lnSpc>
                <a:spcPct val="108000"/>
              </a:lnSpc>
              <a:spcBef>
                <a:spcPts val="250"/>
              </a:spcBef>
              <a:spcAft>
                <a:spcPts val="0"/>
              </a:spcAft>
              <a:buNone/>
            </a:pPr>
            <a:r>
              <a:rPr lang="en-US" sz="1250" b="0" i="0" u="none" strike="noStrike" cap="none" dirty="0">
                <a:solidFill>
                  <a:srgbClr val="21252B"/>
                </a:solidFill>
                <a:latin typeface="Arial"/>
                <a:ea typeface="Arial"/>
                <a:cs typeface="Arial"/>
                <a:sym typeface="Arial"/>
              </a:rPr>
              <a:t>Reaches Cα RMSD 12 Å and end-to-end distances near 50 Å; still discovering late in the budget.</a:t>
            </a:r>
          </a:p>
        </p:txBody>
      </p:sp>
      <p:sp>
        <p:nvSpPr>
          <p:cNvPr id="5002" name="Text 5002"/>
          <p:cNvSpPr txBox="1"/>
          <p:nvPr/>
        </p:nvSpPr>
        <p:spPr>
          <a:xfrm>
            <a:off x="8869680" y="2747772"/>
            <a:ext cx="2834640" cy="10058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400" b="1" i="0" u="none" strike="noStrike" cap="none" dirty="0">
                <a:solidFill>
                  <a:srgbClr val="21252B"/>
                </a:solidFill>
                <a:latin typeface="Arial"/>
                <a:ea typeface="Arial"/>
                <a:cs typeface="Arial"/>
                <a:sym typeface="Arial"/>
              </a:rPr>
              <a:t>REAP, MA-REAP</a:t>
            </a:r>
          </a:p>
          <a:p>
            <a:pPr marL="0" marR="0" lvl="0" indent="0" algn="l" rtl="0">
              <a:lnSpc>
                <a:spcPct val="108000"/>
              </a:lnSpc>
              <a:spcBef>
                <a:spcPts val="250"/>
              </a:spcBef>
              <a:spcAft>
                <a:spcPts val="0"/>
              </a:spcAft>
              <a:buNone/>
            </a:pPr>
            <a:r>
              <a:rPr lang="en-US" sz="1250" b="0" i="0" u="none" strike="noStrike" cap="none" dirty="0">
                <a:solidFill>
                  <a:srgbClr val="21252B"/>
                </a:solidFill>
                <a:latin typeface="Arial"/>
                <a:ea typeface="Arial"/>
                <a:cs typeface="Arial"/>
                <a:sym typeface="Arial"/>
              </a:rPr>
              <a:t>Stop near 8–9 Å RMSD and 30 Å end-to-end distance.</a:t>
            </a:r>
          </a:p>
        </p:txBody>
      </p:sp>
      <p:sp>
        <p:nvSpPr>
          <p:cNvPr id="5003" name="Text 5003"/>
          <p:cNvSpPr txBox="1"/>
          <p:nvPr/>
        </p:nvSpPr>
        <p:spPr>
          <a:xfrm>
            <a:off x="8869680" y="3803904"/>
            <a:ext cx="2834640" cy="10058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400" b="1" i="0" u="none" strike="noStrike" cap="none">
                <a:solidFill>
                  <a:srgbClr val="21252B"/>
                </a:solidFill>
                <a:latin typeface="Arial"/>
                <a:ea typeface="Arial"/>
                <a:cs typeface="Arial"/>
                <a:sym typeface="Arial"/>
              </a:rPr>
              <a:t>DeepDriveMD</a:t>
            </a:r>
          </a:p>
          <a:p>
            <a:pPr marL="0" marR="0" lvl="0" indent="0" algn="l" rtl="0">
              <a:lnSpc>
                <a:spcPct val="108000"/>
              </a:lnSpc>
              <a:spcBef>
                <a:spcPts val="250"/>
              </a:spcBef>
              <a:spcAft>
                <a:spcPts val="0"/>
              </a:spcAft>
              <a:buNone/>
            </a:pPr>
            <a:r>
              <a:rPr lang="en-US" sz="1250" b="0" i="0" u="none" strike="noStrike" cap="none">
                <a:solidFill>
                  <a:srgbClr val="21252B"/>
                </a:solidFill>
                <a:latin typeface="Arial"/>
                <a:ea typeface="Arial"/>
                <a:cs typeface="Arial"/>
                <a:sym typeface="Arial"/>
              </a:rPr>
              <a:t>Stays within 3 Å of the folded state.</a:t>
            </a:r>
          </a:p>
        </p:txBody>
      </p:sp>
      <p:sp>
        <p:nvSpPr>
          <p:cNvPr id="5004" name="Text 5004"/>
          <p:cNvSpPr txBox="1"/>
          <p:nvPr/>
        </p:nvSpPr>
        <p:spPr>
          <a:xfrm>
            <a:off x="8869680" y="4617720"/>
            <a:ext cx="2834640" cy="10058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400" b="1" i="0" u="none" strike="noStrike" cap="none" dirty="0">
                <a:solidFill>
                  <a:srgbClr val="21252B"/>
                </a:solidFill>
                <a:latin typeface="Arial"/>
                <a:ea typeface="Arial"/>
                <a:cs typeface="Arial"/>
                <a:sym typeface="Arial"/>
              </a:rPr>
              <a:t>Gen-COMPAS</a:t>
            </a:r>
          </a:p>
          <a:p>
            <a:pPr marL="0" marR="0" lvl="0" indent="0" algn="l" rtl="0">
              <a:lnSpc>
                <a:spcPct val="108000"/>
              </a:lnSpc>
              <a:spcBef>
                <a:spcPts val="250"/>
              </a:spcBef>
              <a:spcAft>
                <a:spcPts val="0"/>
              </a:spcAft>
              <a:buNone/>
            </a:pPr>
            <a:r>
              <a:rPr lang="en-US" sz="1250" b="0" i="0" u="none" strike="noStrike" cap="none" dirty="0">
                <a:solidFill>
                  <a:srgbClr val="21252B"/>
                </a:solidFill>
                <a:latin typeface="Arial"/>
                <a:ea typeface="Arial"/>
                <a:cs typeface="Arial"/>
                <a:sym typeface="Arial"/>
              </a:rPr>
              <a:t>Extends to ~10 Å, but along one narrow band, reached early.</a:t>
            </a:r>
          </a:p>
        </p:txBody>
      </p:sp>
      <p:sp>
        <p:nvSpPr>
          <p:cNvPr id="5005" name="Shape 5005"/>
          <p:cNvSpPr/>
          <p:nvPr/>
        </p:nvSpPr>
        <p:spPr>
          <a:xfrm>
            <a:off x="502920" y="5971032"/>
            <a:ext cx="11155680" cy="356616"/>
          </a:xfrm>
          <a:prstGeom prst="rect">
            <a:avLst/>
          </a:prstGeom>
          <a:solidFill>
            <a:srgbClr val="EFF5F6"/>
          </a:solidFill>
          <a:ln>
            <a:noFill/>
          </a:ln>
        </p:spPr>
        <p:txBody>
          <a:bodyPr spcFirstLastPara="1" wrap="square" lIns="45720" tIns="0" rIns="45720" bIns="0" anchor="ctr" anchorCtr="0">
            <a:noAutofit/>
          </a:bodyPr>
          <a:lstStyle/>
          <a:p>
            <a:pPr marL="0" marR="0" lvl="0" indent="0" algn="l" rtl="0">
              <a:lnSpc>
                <a:spcPct val="108000"/>
              </a:lnSpc>
              <a:spcBef>
                <a:spcPts val="0"/>
              </a:spcBef>
              <a:spcAft>
                <a:spcPts val="0"/>
              </a:spcAft>
              <a:buNone/>
            </a:pPr>
            <a:r>
              <a:rPr lang="en-US" sz="1700" b="1" i="0" u="none" strike="noStrike" cap="none" dirty="0">
                <a:solidFill>
                  <a:srgbClr val="245D68"/>
                </a:solidFill>
                <a:latin typeface="Arial"/>
                <a:ea typeface="Arial"/>
                <a:cs typeface="Arial"/>
                <a:sym typeface="Arial"/>
              </a:rPr>
              <a:t>Same system and budget: only the choice of where to sample differs.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6"/>
        <p:cNvGrpSpPr/>
        <p:nvPr/>
      </p:nvGrpSpPr>
      <p:grpSpPr>
        <a:xfrm>
          <a:off x="0" y="0"/>
          <a:ext cx="0" cy="0"/>
          <a:chOff x="0" y="0"/>
          <a:chExt cx="0" cy="0"/>
        </a:xfrm>
      </p:grpSpPr>
      <p:sp>
        <p:nvSpPr>
          <p:cNvPr id="597" name="Google Shape;597;g40a1acaee85_0_408"/>
          <p:cNvSpPr txBox="1"/>
          <p:nvPr/>
        </p:nvSpPr>
        <p:spPr>
          <a:xfrm>
            <a:off x="521207" y="292608"/>
            <a:ext cx="10058400" cy="1692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BASELINES · COVERAGE OVER TIME</a:t>
            </a:r>
            <a:endParaRPr/>
          </a:p>
        </p:txBody>
      </p:sp>
      <p:sp>
        <p:nvSpPr>
          <p:cNvPr id="598" name="Google Shape;598;g40a1acaee85_0_408"/>
          <p:cNvSpPr txBox="1"/>
          <p:nvPr/>
        </p:nvSpPr>
        <p:spPr>
          <a:xfrm>
            <a:off x="502920" y="658368"/>
            <a:ext cx="11119200" cy="4542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Gen-COMPAS plateaus early; GESPO keeps discovering</a:t>
            </a:r>
            <a:endParaRPr/>
          </a:p>
        </p:txBody>
      </p:sp>
      <p:cxnSp>
        <p:nvCxnSpPr>
          <p:cNvPr id="599" name="Google Shape;599;g40a1acaee85_0_408"/>
          <p:cNvCxnSpPr/>
          <p:nvPr/>
        </p:nvCxnSpPr>
        <p:spPr>
          <a:xfrm>
            <a:off x="502920" y="6473952"/>
            <a:ext cx="11183100" cy="0"/>
          </a:xfrm>
          <a:prstGeom prst="straightConnector1">
            <a:avLst/>
          </a:prstGeom>
          <a:noFill/>
          <a:ln w="9525" cap="flat" cmpd="sng">
            <a:solidFill>
              <a:srgbClr val="CFD5DC"/>
            </a:solidFill>
            <a:prstDash val="solid"/>
            <a:round/>
            <a:headEnd type="none" w="sm" len="sm"/>
            <a:tailEnd type="none" w="sm" len="sm"/>
          </a:ln>
        </p:spPr>
      </p:cxnSp>
      <p:sp>
        <p:nvSpPr>
          <p:cNvPr id="600" name="Google Shape;600;g40a1acaee85_0_408"/>
          <p:cNvSpPr txBox="1"/>
          <p:nvPr/>
        </p:nvSpPr>
        <p:spPr>
          <a:xfrm>
            <a:off x="530352" y="6519672"/>
            <a:ext cx="9692700" cy="1260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GESPO (manuscript, 2026). Occupied bins on a 60 × 60 CV grid. Top: Trp-cage, 115 ns per method; bottom: trypsin–benzamidine, 600 ns per method.</a:t>
            </a:r>
            <a:endParaRPr/>
          </a:p>
        </p:txBody>
      </p:sp>
      <p:sp>
        <p:nvSpPr>
          <p:cNvPr id="601" name="Google Shape;601;g40a1acaee85_0_408"/>
          <p:cNvSpPr txBox="1"/>
          <p:nvPr/>
        </p:nvSpPr>
        <p:spPr>
          <a:xfrm>
            <a:off x="10424160" y="6510528"/>
            <a:ext cx="1216200" cy="14610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26 / 37</a:t>
            </a:r>
            <a:endParaRPr/>
          </a:p>
        </p:txBody>
      </p:sp>
      <p:pic>
        <p:nvPicPr>
          <p:cNvPr id="602" name="Google Shape;602;g40a1acaee85_0_408"/>
          <p:cNvPicPr preferRelativeResize="0"/>
          <p:nvPr/>
        </p:nvPicPr>
        <p:blipFill>
          <a:blip r:embed="rId3">
            <a:alphaModFix/>
          </a:blip>
          <a:stretch>
            <a:fillRect/>
          </a:stretch>
        </p:blipFill>
        <p:spPr>
          <a:xfrm>
            <a:off x="320040" y="1280160"/>
            <a:ext cx="7818120" cy="4660802"/>
          </a:xfrm>
          <a:prstGeom prst="rect">
            <a:avLst/>
          </a:prstGeom>
          <a:noFill/>
          <a:ln>
            <a:noFill/>
          </a:ln>
        </p:spPr>
      </p:pic>
      <p:sp>
        <p:nvSpPr>
          <p:cNvPr id="5001" name="Text 5001"/>
          <p:cNvSpPr txBox="1"/>
          <p:nvPr/>
        </p:nvSpPr>
        <p:spPr>
          <a:xfrm>
            <a:off x="8366760" y="1417320"/>
            <a:ext cx="3337560" cy="10058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400" b="1" i="0" u="none" strike="noStrike" cap="none" dirty="0">
                <a:solidFill>
                  <a:srgbClr val="245D68"/>
                </a:solidFill>
                <a:latin typeface="Arial"/>
                <a:ea typeface="Arial"/>
                <a:cs typeface="Arial"/>
                <a:sym typeface="Arial"/>
              </a:rPr>
              <a:t>Trp-cage, 115 ns</a:t>
            </a:r>
          </a:p>
          <a:p>
            <a:pPr marL="0" marR="0" lvl="0" indent="0" algn="l" rtl="0">
              <a:lnSpc>
                <a:spcPct val="108000"/>
              </a:lnSpc>
              <a:spcBef>
                <a:spcPts val="250"/>
              </a:spcBef>
              <a:spcAft>
                <a:spcPts val="0"/>
              </a:spcAft>
              <a:buNone/>
            </a:pPr>
            <a:r>
              <a:rPr lang="en-US" sz="1250" b="0" i="0" u="none" strike="noStrike" cap="none" dirty="0">
                <a:solidFill>
                  <a:srgbClr val="21252B"/>
                </a:solidFill>
                <a:latin typeface="Arial"/>
                <a:ea typeface="Arial"/>
                <a:cs typeface="Arial"/>
                <a:sym typeface="Arial"/>
              </a:rPr>
              <a:t>≈2.5× more occupied bins (≈1,380 vs. ≈550).</a:t>
            </a:r>
          </a:p>
        </p:txBody>
      </p:sp>
      <p:sp>
        <p:nvSpPr>
          <p:cNvPr id="5002" name="Text 5002"/>
          <p:cNvSpPr txBox="1"/>
          <p:nvPr/>
        </p:nvSpPr>
        <p:spPr>
          <a:xfrm>
            <a:off x="8366760" y="2264712"/>
            <a:ext cx="3337560" cy="10058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400" b="1" i="0" u="none" strike="noStrike" cap="none" dirty="0">
                <a:solidFill>
                  <a:srgbClr val="245D68"/>
                </a:solidFill>
                <a:latin typeface="Arial"/>
                <a:ea typeface="Arial"/>
                <a:cs typeface="Arial"/>
                <a:sym typeface="Arial"/>
              </a:rPr>
              <a:t>Trypsin, 600 ns</a:t>
            </a:r>
          </a:p>
          <a:p>
            <a:pPr marL="0" marR="0" lvl="0" indent="0" algn="l" rtl="0">
              <a:lnSpc>
                <a:spcPct val="108000"/>
              </a:lnSpc>
              <a:spcBef>
                <a:spcPts val="250"/>
              </a:spcBef>
              <a:spcAft>
                <a:spcPts val="0"/>
              </a:spcAft>
              <a:buNone/>
            </a:pPr>
            <a:r>
              <a:rPr lang="en-US" sz="1250" b="0" i="0" u="none" strike="noStrike" cap="none" dirty="0">
                <a:solidFill>
                  <a:srgbClr val="21252B"/>
                </a:solidFill>
                <a:latin typeface="Arial"/>
                <a:ea typeface="Arial"/>
                <a:cs typeface="Arial"/>
                <a:sym typeface="Arial"/>
              </a:rPr>
              <a:t>≈3× more occupied bins (≈2,800 vs. ≈900).</a:t>
            </a:r>
          </a:p>
        </p:txBody>
      </p:sp>
      <p:sp>
        <p:nvSpPr>
          <p:cNvPr id="5003" name="Text 5003"/>
          <p:cNvSpPr txBox="1"/>
          <p:nvPr/>
        </p:nvSpPr>
        <p:spPr>
          <a:xfrm>
            <a:off x="8366760" y="3191256"/>
            <a:ext cx="3337560" cy="10058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400" b="1" i="0" u="none" strike="noStrike" cap="none">
                <a:solidFill>
                  <a:srgbClr val="21252B"/>
                </a:solidFill>
                <a:latin typeface="Arial"/>
                <a:ea typeface="Arial"/>
                <a:cs typeface="Arial"/>
                <a:sym typeface="Arial"/>
              </a:rPr>
              <a:t>Early lead, then plateau</a:t>
            </a:r>
          </a:p>
          <a:p>
            <a:pPr marL="0" marR="0" lvl="0" indent="0" algn="l" rtl="0">
              <a:lnSpc>
                <a:spcPct val="108000"/>
              </a:lnSpc>
              <a:spcBef>
                <a:spcPts val="250"/>
              </a:spcBef>
              <a:spcAft>
                <a:spcPts val="0"/>
              </a:spcAft>
              <a:buNone/>
            </a:pPr>
            <a:r>
              <a:rPr lang="en-US" sz="1250" b="0" i="0" u="none" strike="noStrike" cap="none">
                <a:solidFill>
                  <a:srgbClr val="21252B"/>
                </a:solidFill>
                <a:latin typeface="Arial"/>
                <a:ea typeface="Arial"/>
                <a:cs typeface="Arial"/>
                <a:sym typeface="Arial"/>
              </a:rPr>
              <a:t>Gen-COMPAS leads for the first ~25 ns; most of its new bins come in its first rounds (c, f).</a:t>
            </a:r>
          </a:p>
        </p:txBody>
      </p:sp>
      <p:sp>
        <p:nvSpPr>
          <p:cNvPr id="5004" name="Text 5004"/>
          <p:cNvSpPr txBox="1"/>
          <p:nvPr/>
        </p:nvSpPr>
        <p:spPr>
          <a:xfrm>
            <a:off x="8366760" y="4197096"/>
            <a:ext cx="3337560" cy="10058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400" b="1" i="0" u="none" strike="noStrike" cap="none" dirty="0">
                <a:solidFill>
                  <a:srgbClr val="21252B"/>
                </a:solidFill>
                <a:latin typeface="Arial"/>
                <a:ea typeface="Arial"/>
                <a:cs typeface="Arial"/>
                <a:sym typeface="Arial"/>
              </a:rPr>
              <a:t>Footprints (b, e)</a:t>
            </a:r>
          </a:p>
          <a:p>
            <a:pPr marL="0" marR="0" lvl="0" indent="0" algn="l" rtl="0">
              <a:lnSpc>
                <a:spcPct val="108000"/>
              </a:lnSpc>
              <a:spcBef>
                <a:spcPts val="250"/>
              </a:spcBef>
              <a:spcAft>
                <a:spcPts val="0"/>
              </a:spcAft>
              <a:buNone/>
            </a:pPr>
            <a:r>
              <a:rPr lang="en-US" sz="1250" b="0" i="0" u="none" strike="noStrike" cap="none" dirty="0">
                <a:solidFill>
                  <a:srgbClr val="21252B"/>
                </a:solidFill>
                <a:latin typeface="Arial"/>
                <a:ea typeface="Arial"/>
                <a:cs typeface="Arial"/>
                <a:sym typeface="Arial"/>
              </a:rPr>
              <a:t>Gen-COMPAS covers a band between its end states; GESPO extends across both coordinates.</a:t>
            </a:r>
          </a:p>
        </p:txBody>
      </p:sp>
      <p:sp>
        <p:nvSpPr>
          <p:cNvPr id="5005" name="Shape 5005"/>
          <p:cNvSpPr/>
          <p:nvPr/>
        </p:nvSpPr>
        <p:spPr>
          <a:xfrm>
            <a:off x="502920" y="5971032"/>
            <a:ext cx="11155680" cy="356616"/>
          </a:xfrm>
          <a:prstGeom prst="rect">
            <a:avLst/>
          </a:prstGeom>
          <a:solidFill>
            <a:srgbClr val="EFF5F6"/>
          </a:solidFill>
          <a:ln>
            <a:noFill/>
          </a:ln>
        </p:spPr>
        <p:txBody>
          <a:bodyPr spcFirstLastPara="1" wrap="square" lIns="45720" tIns="0" rIns="45720" bIns="0" anchor="ctr" anchorCtr="0">
            <a:noAutofit/>
          </a:bodyPr>
          <a:lstStyle/>
          <a:p>
            <a:pPr marL="0" marR="0" lvl="0" indent="0" algn="l" rtl="0">
              <a:lnSpc>
                <a:spcPct val="108000"/>
              </a:lnSpc>
              <a:spcBef>
                <a:spcPts val="0"/>
              </a:spcBef>
              <a:spcAft>
                <a:spcPts val="0"/>
              </a:spcAft>
              <a:buNone/>
            </a:pPr>
            <a:r>
              <a:rPr lang="en-US" sz="1650" b="1" i="0" u="none" strike="noStrike" cap="none">
                <a:solidFill>
                  <a:srgbClr val="245D68"/>
                </a:solidFill>
                <a:latin typeface="Arial"/>
                <a:ea typeface="Arial"/>
                <a:cs typeface="Arial"/>
                <a:sym typeface="Arial"/>
              </a:rPr>
              <a:t>Sampling between known end states saturates; a learned policy continues to find new regions.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07"/>
        <p:cNvGrpSpPr/>
        <p:nvPr/>
      </p:nvGrpSpPr>
      <p:grpSpPr>
        <a:xfrm>
          <a:off x="0" y="0"/>
          <a:ext cx="0" cy="0"/>
          <a:chOff x="0" y="0"/>
          <a:chExt cx="0" cy="0"/>
        </a:xfrm>
      </p:grpSpPr>
      <p:sp>
        <p:nvSpPr>
          <p:cNvPr id="608" name="Google Shape;608;p28"/>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TEST 3 · TRYPSIN–BENZAMIDINE</a:t>
            </a:r>
            <a:endParaRPr/>
          </a:p>
        </p:txBody>
      </p:sp>
      <p:sp>
        <p:nvSpPr>
          <p:cNvPr id="609" name="Google Shape;609;p28"/>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Trypsin–benzamidine: resolving ligand and receptor together</a:t>
            </a:r>
            <a:endParaRPr/>
          </a:p>
        </p:txBody>
      </p:sp>
      <p:cxnSp>
        <p:nvCxnSpPr>
          <p:cNvPr id="610" name="Google Shape;610;p28"/>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611" name="Google Shape;611;p28"/>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Structures as on slide 2; Pengmei et al., GESPO (manuscript, 2026)</a:t>
            </a:r>
            <a:endParaRPr/>
          </a:p>
        </p:txBody>
      </p:sp>
      <p:sp>
        <p:nvSpPr>
          <p:cNvPr id="612" name="Google Shape;612;p28"/>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27 / 37</a:t>
            </a:r>
            <a:endParaRPr/>
          </a:p>
        </p:txBody>
      </p:sp>
      <p:pic>
        <p:nvPicPr>
          <p:cNvPr id="613" name="Google Shape;613;p28" descr="Source gespo_overview.png; crop left/top/right/bottom (0.16, 0.974, 0.86, 1). Original scientific plot, not redrawn."/>
          <p:cNvPicPr preferRelativeResize="0"/>
          <p:nvPr/>
        </p:nvPicPr>
        <p:blipFill rotWithShape="1">
          <a:blip r:embed="rId3">
            <a:alphaModFix/>
          </a:blip>
          <a:srcRect l="16000" t="97400" r="14000"/>
          <a:stretch/>
        </p:blipFill>
        <p:spPr>
          <a:xfrm>
            <a:off x="658368" y="5962662"/>
            <a:ext cx="7406640" cy="190474"/>
          </a:xfrm>
          <a:prstGeom prst="rect">
            <a:avLst/>
          </a:prstGeom>
          <a:noFill/>
          <a:ln>
            <a:noFill/>
          </a:ln>
        </p:spPr>
      </p:pic>
      <p:sp>
        <p:nvSpPr>
          <p:cNvPr id="614" name="Google Shape;614;p28"/>
          <p:cNvSpPr txBox="1"/>
          <p:nvPr/>
        </p:nvSpPr>
        <p:spPr>
          <a:xfrm>
            <a:off x="8229600" y="1600200"/>
            <a:ext cx="3429000" cy="32918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100" b="1" i="0" u="none" strike="noStrike" cap="none">
                <a:solidFill>
                  <a:srgbClr val="245D68"/>
                </a:solidFill>
                <a:latin typeface="Arial"/>
                <a:ea typeface="Arial"/>
                <a:cs typeface="Arial"/>
                <a:sym typeface="Arial"/>
              </a:rPr>
              <a:t>The question</a:t>
            </a:r>
            <a:endParaRPr/>
          </a:p>
        </p:txBody>
      </p:sp>
      <p:sp>
        <p:nvSpPr>
          <p:cNvPr id="615" name="Google Shape;615;p28"/>
          <p:cNvSpPr txBox="1"/>
          <p:nvPr/>
        </p:nvSpPr>
        <p:spPr>
          <a:xfrm>
            <a:off x="8229600" y="1965960"/>
            <a:ext cx="3429000" cy="9144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600" b="0" i="0" u="none" strike="noStrike" cap="none">
                <a:solidFill>
                  <a:srgbClr val="21252B"/>
                </a:solidFill>
                <a:latin typeface="Arial"/>
                <a:ea typeface="Arial"/>
                <a:cs typeface="Arial"/>
                <a:sym typeface="Arial"/>
              </a:rPr>
              <a:t>Through which receptor conformations does benzamidine bind and leave?</a:t>
            </a:r>
            <a:endParaRPr/>
          </a:p>
        </p:txBody>
      </p:sp>
      <p:sp>
        <p:nvSpPr>
          <p:cNvPr id="616" name="Google Shape;616;p28"/>
          <p:cNvSpPr txBox="1"/>
          <p:nvPr/>
        </p:nvSpPr>
        <p:spPr>
          <a:xfrm>
            <a:off x="8229600" y="3017520"/>
            <a:ext cx="3429000" cy="32918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000" b="1" i="0" u="none" strike="noStrike" cap="none">
                <a:solidFill>
                  <a:srgbClr val="245D68"/>
                </a:solidFill>
                <a:latin typeface="Arial"/>
                <a:ea typeface="Arial"/>
                <a:cs typeface="Arial"/>
                <a:sym typeface="Arial"/>
              </a:rPr>
              <a:t>Production</a:t>
            </a:r>
            <a:endParaRPr/>
          </a:p>
        </p:txBody>
      </p:sp>
      <p:sp>
        <p:nvSpPr>
          <p:cNvPr id="617" name="Google Shape;617;p28"/>
          <p:cNvSpPr txBox="1"/>
          <p:nvPr/>
        </p:nvSpPr>
        <p:spPr>
          <a:xfrm>
            <a:off x="8229600" y="3383280"/>
            <a:ext cx="3429000" cy="9144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600" b="0" i="0" u="none" strike="noStrike" cap="none">
                <a:solidFill>
                  <a:srgbClr val="21252B"/>
                </a:solidFill>
                <a:latin typeface="Arial"/>
                <a:ea typeface="Arial"/>
                <a:cs typeface="Arial"/>
                <a:sym typeface="Arial"/>
              </a:rPr>
              <a:t>12 trajectories × 2 ns × 30 epochs = 720 ns of unbiased dynamics</a:t>
            </a:r>
            <a:endParaRPr/>
          </a:p>
        </p:txBody>
      </p:sp>
      <p:sp>
        <p:nvSpPr>
          <p:cNvPr id="618" name="Google Shape;618;p28"/>
          <p:cNvSpPr txBox="1"/>
          <p:nvPr/>
        </p:nvSpPr>
        <p:spPr>
          <a:xfrm>
            <a:off x="8229600" y="4434840"/>
            <a:ext cx="3429000" cy="10972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300" b="0" i="0" u="none" strike="noStrike" cap="none">
                <a:solidFill>
                  <a:srgbClr val="59616B"/>
                </a:solidFill>
                <a:latin typeface="Arial"/>
                <a:ea typeface="Arial"/>
                <a:cs typeface="Arial"/>
                <a:sym typeface="Arial"/>
              </a:rPr>
              <a:t>Initial data: 100 ns of metadynamics, used only to pretrain the policy and fill the conformation bank; excluded from all kinetic estimates.</a:t>
            </a:r>
            <a:endParaRPr/>
          </a:p>
        </p:txBody>
      </p:sp>
      <p:pic>
        <p:nvPicPr>
          <p:cNvPr id="619" name="Google Shape;619;p28" title="Screenshot 2026-09-18 at 11.45.35 AM.png"/>
          <p:cNvPicPr preferRelativeResize="0"/>
          <p:nvPr/>
        </p:nvPicPr>
        <p:blipFill>
          <a:blip r:embed="rId4">
            <a:alphaModFix/>
          </a:blip>
          <a:stretch>
            <a:fillRect/>
          </a:stretch>
        </p:blipFill>
        <p:spPr>
          <a:xfrm>
            <a:off x="1097687" y="1693625"/>
            <a:ext cx="6409476" cy="39287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24"/>
        <p:cNvGrpSpPr/>
        <p:nvPr/>
      </p:nvGrpSpPr>
      <p:grpSpPr>
        <a:xfrm>
          <a:off x="0" y="0"/>
          <a:ext cx="0" cy="0"/>
          <a:chOff x="0" y="0"/>
          <a:chExt cx="0" cy="0"/>
        </a:xfrm>
      </p:grpSpPr>
      <p:sp>
        <p:nvSpPr>
          <p:cNvPr id="625" name="Google Shape;625;p29"/>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TEST 3 · RECEPTOR LANDSCAPE</a:t>
            </a:r>
            <a:endParaRPr/>
          </a:p>
        </p:txBody>
      </p:sp>
      <p:sp>
        <p:nvSpPr>
          <p:cNvPr id="626" name="Google Shape;626;p29"/>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With and without ligand, GESPO sampling follows the physics</a:t>
            </a:r>
            <a:endParaRPr/>
          </a:p>
        </p:txBody>
      </p:sp>
      <p:cxnSp>
        <p:nvCxnSpPr>
          <p:cNvPr id="627" name="Google Shape;627;p29"/>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628" name="Google Shape;628;p29"/>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(a) 52 unbiased trajectories, 100 μs total (Plattner &amp; Noé, 2015). (b, c) GESPO sampling density −ln p</a:t>
            </a:r>
            <a:r>
              <a:rPr lang="en-US" sz="819" b="0" i="0" baseline="-25000">
                <a:solidFill>
                  <a:srgbClr val="59616B"/>
                </a:solidFill>
                <a:latin typeface="Arial"/>
                <a:ea typeface="Arial"/>
                <a:cs typeface="Arial"/>
                <a:sym typeface="Arial"/>
              </a:rPr>
              <a:t>sample</a:t>
            </a:r>
            <a:r>
              <a:rPr lang="en-US" sz="819" b="0" i="0" u="none" strike="noStrike" cap="none">
                <a:solidFill>
                  <a:srgbClr val="59616B"/>
                </a:solidFill>
                <a:latin typeface="Arial"/>
                <a:ea typeface="Arial"/>
                <a:cs typeface="Arial"/>
                <a:sym typeface="Arial"/>
              </a:rPr>
              <a:t>, not a free energy. Stars: the seven reference receptor states.</a:t>
            </a:r>
          </a:p>
        </p:txBody>
      </p:sp>
      <p:sp>
        <p:nvSpPr>
          <p:cNvPr id="629" name="Google Shape;629;p29"/>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28 / 37</a:t>
            </a:r>
            <a:endParaRPr/>
          </a:p>
        </p:txBody>
      </p:sp>
      <p:pic>
        <p:nvPicPr>
          <p:cNvPr id="630" name="Google Shape;630;p29"/>
          <p:cNvPicPr preferRelativeResize="0"/>
          <p:nvPr/>
        </p:nvPicPr>
        <p:blipFill>
          <a:blip r:embed="rId3">
            <a:alphaModFix/>
          </a:blip>
          <a:stretch>
            <a:fillRect/>
          </a:stretch>
        </p:blipFill>
        <p:spPr>
          <a:xfrm>
            <a:off x="502920" y="1298448"/>
            <a:ext cx="11155680" cy="3555371"/>
          </a:xfrm>
          <a:prstGeom prst="rect">
            <a:avLst/>
          </a:prstGeom>
          <a:noFill/>
          <a:ln>
            <a:noFill/>
          </a:ln>
        </p:spPr>
      </p:pic>
      <p:sp>
        <p:nvSpPr>
          <p:cNvPr id="5001" name="Text 5001"/>
          <p:cNvSpPr txBox="1"/>
          <p:nvPr/>
        </p:nvSpPr>
        <p:spPr>
          <a:xfrm>
            <a:off x="731520" y="4919472"/>
            <a:ext cx="3474720" cy="10058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1" i="0" u="none" strike="noStrike" cap="none">
                <a:solidFill>
                  <a:srgbClr val="245D68"/>
                </a:solidFill>
                <a:latin typeface="Arial"/>
                <a:ea typeface="Arial"/>
                <a:cs typeface="Arial"/>
                <a:sym typeface="Arial"/>
              </a:rPr>
              <a:t>(a) Unbiased reference (holo), 100 μs</a:t>
            </a:r>
          </a:p>
          <a:p>
            <a:pPr marL="0" marR="0" lvl="0" indent="0" algn="l" rtl="0">
              <a:lnSpc>
                <a:spcPct val="108000"/>
              </a:lnSpc>
              <a:spcBef>
                <a:spcPts val="200"/>
              </a:spcBef>
              <a:spcAft>
                <a:spcPts val="0"/>
              </a:spcAft>
              <a:buNone/>
            </a:pPr>
            <a:r>
              <a:rPr lang="en-US" sz="1200" b="0" i="0" u="none" strike="noStrike" cap="none">
                <a:solidFill>
                  <a:srgbClr val="21252B"/>
                </a:solidFill>
                <a:latin typeface="Arial"/>
                <a:ea typeface="Arial"/>
                <a:cs typeface="Arial"/>
                <a:sym typeface="Arial"/>
              </a:rPr>
              <a:t>Seven receptor states (stars); the open states lie several k</a:t>
            </a:r>
            <a:r>
              <a:rPr lang="en-US" sz="1200" b="0" i="0" baseline="-25000">
                <a:solidFill>
                  <a:srgbClr val="21252B"/>
                </a:solidFill>
                <a:latin typeface="Arial"/>
                <a:ea typeface="Arial"/>
                <a:cs typeface="Arial"/>
                <a:sym typeface="Arial"/>
              </a:rPr>
              <a:t>B</a:t>
            </a:r>
            <a:r>
              <a:rPr lang="en-US" sz="1200" b="0" i="0" u="none" strike="noStrike" cap="none">
                <a:solidFill>
                  <a:srgbClr val="21252B"/>
                </a:solidFill>
                <a:latin typeface="Arial"/>
                <a:ea typeface="Arial"/>
                <a:cs typeface="Arial"/>
                <a:sym typeface="Arial"/>
              </a:rPr>
              <a:t>T above the main band.</a:t>
            </a:r>
          </a:p>
        </p:txBody>
      </p:sp>
      <p:sp>
        <p:nvSpPr>
          <p:cNvPr id="5002" name="Text 5002"/>
          <p:cNvSpPr txBox="1"/>
          <p:nvPr/>
        </p:nvSpPr>
        <p:spPr>
          <a:xfrm>
            <a:off x="4434840" y="4919472"/>
            <a:ext cx="3474720" cy="10058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1" i="0" u="none" strike="noStrike" cap="none">
                <a:solidFill>
                  <a:srgbClr val="245D68"/>
                </a:solidFill>
                <a:latin typeface="Arial"/>
                <a:ea typeface="Arial"/>
                <a:cs typeface="Arial"/>
                <a:sym typeface="Arial"/>
              </a:rPr>
              <a:t>(b) GESPO, apo</a:t>
            </a:r>
          </a:p>
          <a:p>
            <a:pPr marL="0" marR="0" lvl="0" indent="0" algn="l" rtl="0">
              <a:lnSpc>
                <a:spcPct val="108000"/>
              </a:lnSpc>
              <a:spcBef>
                <a:spcPts val="200"/>
              </a:spcBef>
              <a:spcAft>
                <a:spcPts val="0"/>
              </a:spcAft>
              <a:buNone/>
            </a:pPr>
            <a:r>
              <a:rPr lang="en-US" sz="1200" b="0" i="0" u="none" strike="noStrike" cap="none">
                <a:solidFill>
                  <a:srgbClr val="21252B"/>
                </a:solidFill>
                <a:latin typeface="Arial"/>
                <a:ea typeface="Arial"/>
                <a:cs typeface="Arial"/>
                <a:sym typeface="Arial"/>
              </a:rPr>
              <a:t>Same protocol without benzamidine: covers the reference receptor states, and the Trp215 gate still opens.</a:t>
            </a:r>
          </a:p>
        </p:txBody>
      </p:sp>
      <p:sp>
        <p:nvSpPr>
          <p:cNvPr id="5003" name="Text 5003"/>
          <p:cNvSpPr txBox="1"/>
          <p:nvPr/>
        </p:nvSpPr>
        <p:spPr>
          <a:xfrm>
            <a:off x="8138160" y="4919472"/>
            <a:ext cx="3474720" cy="10058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1" i="0" u="none" strike="noStrike" cap="none">
                <a:solidFill>
                  <a:srgbClr val="245D68"/>
                </a:solidFill>
                <a:latin typeface="Arial"/>
                <a:ea typeface="Arial"/>
                <a:cs typeface="Arial"/>
                <a:sym typeface="Arial"/>
              </a:rPr>
              <a:t>(c) GESPO, holo</a:t>
            </a:r>
          </a:p>
          <a:p>
            <a:pPr marL="0" marR="0" lvl="0" indent="0" algn="l" rtl="0">
              <a:lnSpc>
                <a:spcPct val="108000"/>
              </a:lnSpc>
              <a:spcBef>
                <a:spcPts val="200"/>
              </a:spcBef>
              <a:spcAft>
                <a:spcPts val="0"/>
              </a:spcAft>
              <a:buNone/>
            </a:pPr>
            <a:r>
              <a:rPr lang="en-US" sz="1200" b="0" i="0" u="none" strike="noStrike" cap="none">
                <a:solidFill>
                  <a:srgbClr val="21252B"/>
                </a:solidFill>
                <a:latin typeface="Arial"/>
                <a:ea typeface="Arial"/>
                <a:cs typeface="Arial"/>
                <a:sym typeface="Arial"/>
              </a:rPr>
              <a:t>Benzamidine shifts sampling further, with both loops displaced together.</a:t>
            </a:r>
          </a:p>
        </p:txBody>
      </p:sp>
      <p:sp>
        <p:nvSpPr>
          <p:cNvPr id="5004" name="Shape 5004"/>
          <p:cNvSpPr/>
          <p:nvPr/>
        </p:nvSpPr>
        <p:spPr>
          <a:xfrm>
            <a:off x="502920" y="5971032"/>
            <a:ext cx="11155680" cy="356616"/>
          </a:xfrm>
          <a:prstGeom prst="rect">
            <a:avLst/>
          </a:prstGeom>
          <a:solidFill>
            <a:srgbClr val="EFF5F6"/>
          </a:solidFill>
          <a:ln>
            <a:noFill/>
          </a:ln>
        </p:spPr>
        <p:txBody>
          <a:bodyPr spcFirstLastPara="1" wrap="square" lIns="45720" tIns="0" rIns="45720" bIns="0" anchor="ctr" anchorCtr="0">
            <a:noAutofit/>
          </a:bodyPr>
          <a:lstStyle/>
          <a:p>
            <a:pPr marL="0" marR="0" lvl="0" indent="0" algn="l" rtl="0">
              <a:lnSpc>
                <a:spcPct val="108000"/>
              </a:lnSpc>
              <a:spcBef>
                <a:spcPts val="0"/>
              </a:spcBef>
              <a:spcAft>
                <a:spcPts val="0"/>
              </a:spcAft>
              <a:buNone/>
            </a:pPr>
            <a:r>
              <a:rPr lang="en-US" sz="1650" b="1" i="0" u="none" strike="noStrike" cap="none">
                <a:solidFill>
                  <a:srgbClr val="245D68"/>
                </a:solidFill>
                <a:latin typeface="Arial"/>
                <a:ea typeface="Arial"/>
                <a:cs typeface="Arial"/>
                <a:sym typeface="Arial"/>
              </a:rPr>
              <a:t>Same policy, different system: the apo–holo difference comes from the physics, not the sampler.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70"/>
        <p:cNvGrpSpPr/>
        <p:nvPr/>
      </p:nvGrpSpPr>
      <p:grpSpPr>
        <a:xfrm>
          <a:off x="0" y="0"/>
          <a:ext cx="0" cy="0"/>
          <a:chOff x="0" y="0"/>
          <a:chExt cx="0" cy="0"/>
        </a:xfrm>
      </p:grpSpPr>
      <p:sp>
        <p:nvSpPr>
          <p:cNvPr id="771" name="Google Shape;771;p41"/>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TEST 3 · BASELINES</a:t>
            </a:r>
            <a:endParaRPr/>
          </a:p>
        </p:txBody>
      </p:sp>
      <p:sp>
        <p:nvSpPr>
          <p:cNvPr id="772" name="Google Shape;772;p41"/>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MA-REAP and DeepDriveMD: ligand leaves, gate stays</a:t>
            </a:r>
            <a:endParaRPr/>
          </a:p>
        </p:txBody>
      </p:sp>
      <p:cxnSp>
        <p:nvCxnSpPr>
          <p:cNvPr id="773" name="Google Shape;773;p41"/>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774" name="Google Shape;774;p41"/>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GESPO (manuscript, 2026); 720 ns per method, matched launch conformations; color: budget at first discovery</a:t>
            </a:r>
            <a:endParaRPr/>
          </a:p>
        </p:txBody>
      </p:sp>
      <p:sp>
        <p:nvSpPr>
          <p:cNvPr id="775" name="Google Shape;775;p41"/>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29 / 37</a:t>
            </a:r>
            <a:endParaRPr/>
          </a:p>
        </p:txBody>
      </p:sp>
      <p:pic>
        <p:nvPicPr>
          <p:cNvPr id="776" name="Google Shape;776;p41"/>
          <p:cNvPicPr preferRelativeResize="0"/>
          <p:nvPr/>
        </p:nvPicPr>
        <p:blipFill>
          <a:blip r:embed="rId3">
            <a:alphaModFix/>
          </a:blip>
          <a:stretch>
            <a:fillRect/>
          </a:stretch>
        </p:blipFill>
        <p:spPr>
          <a:xfrm>
            <a:off x="659250" y="1399013"/>
            <a:ext cx="6377643" cy="5074926"/>
          </a:xfrm>
          <a:prstGeom prst="rect">
            <a:avLst/>
          </a:prstGeom>
          <a:noFill/>
          <a:ln>
            <a:noFill/>
          </a:ln>
        </p:spPr>
      </p:pic>
      <p:pic>
        <p:nvPicPr>
          <p:cNvPr id="777" name="Google Shape;777;p41"/>
          <p:cNvPicPr preferRelativeResize="0"/>
          <p:nvPr/>
        </p:nvPicPr>
        <p:blipFill rotWithShape="1">
          <a:blip r:embed="rId4">
            <a:alphaModFix/>
          </a:blip>
          <a:srcRect l="14363" t="5348" r="12318" b="91059"/>
          <a:stretch/>
        </p:blipFill>
        <p:spPr>
          <a:xfrm>
            <a:off x="502925" y="1170425"/>
            <a:ext cx="6832225" cy="182874"/>
          </a:xfrm>
          <a:prstGeom prst="rect">
            <a:avLst/>
          </a:prstGeom>
          <a:noFill/>
          <a:ln>
            <a:noFill/>
          </a:ln>
        </p:spPr>
      </p:pic>
      <p:sp>
        <p:nvSpPr>
          <p:cNvPr id="5006" name="Text 5006"/>
          <p:cNvSpPr txBox="1"/>
          <p:nvPr/>
        </p:nvSpPr>
        <p:spPr>
          <a:xfrm>
            <a:off x="7406640" y="1600200"/>
            <a:ext cx="4297680" cy="109728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600" b="1" i="0" u="none" strike="noStrike" cap="none">
                <a:solidFill>
                  <a:srgbClr val="245D68"/>
                </a:solidFill>
                <a:latin typeface="Arial"/>
                <a:ea typeface="Arial"/>
                <a:cs typeface="Arial"/>
                <a:sym typeface="Arial"/>
              </a:rPr>
              <a:t>(d) Ligand vs. gate</a:t>
            </a:r>
          </a:p>
          <a:p>
            <a:pPr marL="0" marR="0" lvl="0" indent="0" algn="l" rtl="0">
              <a:lnSpc>
                <a:spcPct val="108000"/>
              </a:lnSpc>
              <a:spcBef>
                <a:spcPts val="400"/>
              </a:spcBef>
              <a:spcAft>
                <a:spcPts val="0"/>
              </a:spcAft>
              <a:buNone/>
            </a:pPr>
            <a:r>
              <a:rPr lang="en-US" sz="1400" b="0" i="0" u="none" strike="noStrike" cap="none">
                <a:solidFill>
                  <a:srgbClr val="21252B"/>
                </a:solidFill>
                <a:latin typeface="Arial"/>
                <a:ea typeface="Arial"/>
                <a:cs typeface="Arial"/>
                <a:sym typeface="Arial"/>
              </a:rPr>
              <a:t>MA-REAP and DeepDriveMD carry benzamidine past 40 Å, but their late discoveries sit at nearly fixed Trp215-loop RMSD.</a:t>
            </a:r>
          </a:p>
        </p:txBody>
      </p:sp>
      <p:sp>
        <p:nvSpPr>
          <p:cNvPr id="5007" name="Text 5007"/>
          <p:cNvSpPr txBox="1"/>
          <p:nvPr/>
        </p:nvSpPr>
        <p:spPr>
          <a:xfrm>
            <a:off x="7406640" y="3246120"/>
            <a:ext cx="4297680" cy="109728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600" b="1" i="0" u="none" strike="noStrike" cap="none">
                <a:solidFill>
                  <a:srgbClr val="245D68"/>
                </a:solidFill>
                <a:latin typeface="Arial"/>
                <a:ea typeface="Arial"/>
                <a:cs typeface="Arial"/>
                <a:sym typeface="Arial"/>
              </a:rPr>
              <a:t>(c) Receptor</a:t>
            </a:r>
          </a:p>
          <a:p>
            <a:pPr marL="0" marR="0" lvl="0" indent="0" algn="l" rtl="0">
              <a:lnSpc>
                <a:spcPct val="108000"/>
              </a:lnSpc>
              <a:spcBef>
                <a:spcPts val="400"/>
              </a:spcBef>
              <a:spcAft>
                <a:spcPts val="0"/>
              </a:spcAft>
              <a:buNone/>
            </a:pPr>
            <a:r>
              <a:rPr lang="en-US" sz="1400" b="0" i="0" u="none" strike="noStrike" cap="none">
                <a:solidFill>
                  <a:srgbClr val="21252B"/>
                </a:solidFill>
                <a:latin typeface="Arial"/>
                <a:ea typeface="Arial"/>
                <a:cs typeface="Arial"/>
                <a:sym typeface="Arial"/>
              </a:rPr>
              <a:t>REAP, MA-REAP and DeepDriveMD stay within 3 Å Cα RMSD of the start; GESPO is still moving outward at 10 Å.</a:t>
            </a:r>
          </a:p>
        </p:txBody>
      </p:sp>
      <p:sp>
        <p:nvSpPr>
          <p:cNvPr id="5008" name="Text 5008"/>
          <p:cNvSpPr txBox="1"/>
          <p:nvPr/>
        </p:nvSpPr>
        <p:spPr>
          <a:xfrm>
            <a:off x="7406640" y="4892040"/>
            <a:ext cx="4297680" cy="109728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600" b="1" i="0" u="none" strike="noStrike" cap="none">
                <a:solidFill>
                  <a:srgbClr val="245D68"/>
                </a:solidFill>
                <a:latin typeface="Arial"/>
                <a:ea typeface="Arial"/>
                <a:cs typeface="Arial"/>
                <a:sym typeface="Arial"/>
              </a:rPr>
              <a:t>(e) Loops</a:t>
            </a:r>
          </a:p>
          <a:p>
            <a:pPr marL="0" marR="0" lvl="0" indent="0" algn="l" rtl="0">
              <a:lnSpc>
                <a:spcPct val="108000"/>
              </a:lnSpc>
              <a:spcBef>
                <a:spcPts val="400"/>
              </a:spcBef>
              <a:spcAft>
                <a:spcPts val="0"/>
              </a:spcAft>
              <a:buNone/>
            </a:pPr>
            <a:r>
              <a:rPr lang="en-US" sz="1400" b="0" i="0" u="none" strike="noStrike" cap="none">
                <a:solidFill>
                  <a:srgbClr val="21252B"/>
                </a:solidFill>
                <a:latin typeface="Arial"/>
                <a:ea typeface="Arial"/>
                <a:cs typeface="Arial"/>
                <a:sym typeface="Arial"/>
              </a:rPr>
              <a:t>GESPO covers Asp189-loop and loop-225 displacements the baselines do not reach.</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77"/>
        <p:cNvGrpSpPr/>
        <p:nvPr/>
      </p:nvGrpSpPr>
      <p:grpSpPr>
        <a:xfrm>
          <a:off x="0" y="0"/>
          <a:ext cx="0" cy="0"/>
          <a:chOff x="0" y="0"/>
          <a:chExt cx="0" cy="0"/>
        </a:xfrm>
      </p:grpSpPr>
      <p:sp>
        <p:nvSpPr>
          <p:cNvPr id="678" name="Google Shape;678;p36"/>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TEST 3 · STRUCTURAL PRIORS</a:t>
            </a:r>
            <a:endParaRPr/>
          </a:p>
        </p:txBody>
      </p:sp>
      <p:sp>
        <p:nvSpPr>
          <p:cNvPr id="679" name="Google Shape;679;p36"/>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Generators supply priors; trajectories supply the mechanism</a:t>
            </a:r>
            <a:endParaRPr/>
          </a:p>
        </p:txBody>
      </p:sp>
      <p:cxnSp>
        <p:nvCxnSpPr>
          <p:cNvPr id="680" name="Google Shape;680;p36"/>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681" name="Google Shape;681;p36"/>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Gray: GESPO coverage. Boltz-2 (Passaro et al., 2025); OpenFold3; BioEmu (Lewis et al., 2025); AnewSampling (2026). Dotted lines: bound (6 Å) and unbound (15 Å) distances.</a:t>
            </a:r>
          </a:p>
        </p:txBody>
      </p:sp>
      <p:sp>
        <p:nvSpPr>
          <p:cNvPr id="682" name="Google Shape;682;p36"/>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30 / 37</a:t>
            </a:r>
            <a:endParaRPr/>
          </a:p>
        </p:txBody>
      </p:sp>
      <p:pic>
        <p:nvPicPr>
          <p:cNvPr id="683" name="Google Shape;683;p36"/>
          <p:cNvPicPr preferRelativeResize="0"/>
          <p:nvPr/>
        </p:nvPicPr>
        <p:blipFill>
          <a:blip r:embed="rId3">
            <a:alphaModFix/>
          </a:blip>
          <a:stretch>
            <a:fillRect/>
          </a:stretch>
        </p:blipFill>
        <p:spPr>
          <a:xfrm>
            <a:off x="502920" y="1371600"/>
            <a:ext cx="11155680" cy="3070966"/>
          </a:xfrm>
          <a:prstGeom prst="rect">
            <a:avLst/>
          </a:prstGeom>
          <a:noFill/>
          <a:ln>
            <a:noFill/>
          </a:ln>
        </p:spPr>
      </p:pic>
      <p:sp>
        <p:nvSpPr>
          <p:cNvPr id="5001" name="Text 5001"/>
          <p:cNvSpPr txBox="1"/>
          <p:nvPr/>
        </p:nvSpPr>
        <p:spPr>
          <a:xfrm>
            <a:off x="731520" y="4663440"/>
            <a:ext cx="3474720" cy="132588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1" i="0" u="none" strike="noStrike" cap="none">
                <a:solidFill>
                  <a:srgbClr val="245D68"/>
                </a:solidFill>
                <a:latin typeface="Arial"/>
                <a:ea typeface="Arial"/>
                <a:cs typeface="Arial"/>
                <a:sym typeface="Arial"/>
              </a:rPr>
              <a:t>Co-folding and equilibrium generators</a:t>
            </a:r>
          </a:p>
          <a:p>
            <a:pPr marL="0" marR="0" lvl="0" indent="0" algn="l" rtl="0">
              <a:lnSpc>
                <a:spcPct val="108000"/>
              </a:lnSpc>
              <a:spcBef>
                <a:spcPts val="200"/>
              </a:spcBef>
              <a:spcAft>
                <a:spcPts val="0"/>
              </a:spcAft>
              <a:buNone/>
            </a:pPr>
            <a:r>
              <a:rPr lang="en-US" sz="1200" b="0" i="0" u="none" strike="noStrike" cap="none">
                <a:solidFill>
                  <a:srgbClr val="21252B"/>
                </a:solidFill>
                <a:latin typeface="Arial"/>
                <a:ea typeface="Arial"/>
                <a:cs typeface="Arial"/>
                <a:sym typeface="Arial"/>
              </a:rPr>
              <a:t>Boltz-2, OpenFold3 (full MSA) and AnewSampling collapse onto the closed, bound pose: benzamidine within ~4 Å of Asp189.</a:t>
            </a:r>
          </a:p>
        </p:txBody>
      </p:sp>
      <p:sp>
        <p:nvSpPr>
          <p:cNvPr id="5002" name="Text 5002"/>
          <p:cNvSpPr txBox="1"/>
          <p:nvPr/>
        </p:nvSpPr>
        <p:spPr>
          <a:xfrm>
            <a:off x="4434840" y="4663440"/>
            <a:ext cx="3474720" cy="132588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1" i="0" u="none" strike="noStrike" cap="none">
                <a:solidFill>
                  <a:srgbClr val="245D68"/>
                </a:solidFill>
                <a:latin typeface="Arial"/>
                <a:ea typeface="Arial"/>
                <a:cs typeface="Arial"/>
                <a:sym typeface="Arial"/>
              </a:rPr>
              <a:t>Shallow-MSA OpenFold3</a:t>
            </a:r>
          </a:p>
          <a:p>
            <a:pPr marL="0" marR="0" lvl="0" indent="0" algn="l" rtl="0">
              <a:lnSpc>
                <a:spcPct val="108000"/>
              </a:lnSpc>
              <a:spcBef>
                <a:spcPts val="200"/>
              </a:spcBef>
              <a:spcAft>
                <a:spcPts val="0"/>
              </a:spcAft>
              <a:buNone/>
            </a:pPr>
            <a:r>
              <a:rPr lang="en-US" sz="1200" b="0" i="0" u="none" strike="noStrike" cap="none">
                <a:solidFill>
                  <a:srgbClr val="21252B"/>
                </a:solidFill>
                <a:latin typeface="Arial"/>
                <a:ea typeface="Arial"/>
                <a:cs typeface="Arial"/>
                <a:sym typeface="Arial"/>
              </a:rPr>
              <a:t>Broad scatter set by an inference setting (MSA depth 4): no S1* region, 44% of samples beyond 15 Å; gone by depth 16.</a:t>
            </a:r>
          </a:p>
        </p:txBody>
      </p:sp>
      <p:sp>
        <p:nvSpPr>
          <p:cNvPr id="5003" name="Text 5003"/>
          <p:cNvSpPr txBox="1"/>
          <p:nvPr/>
        </p:nvSpPr>
        <p:spPr>
          <a:xfrm>
            <a:off x="8138160" y="4663440"/>
            <a:ext cx="3474720" cy="132588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1" i="0" u="none" strike="noStrike" cap="none">
                <a:solidFill>
                  <a:srgbClr val="245D68"/>
                </a:solidFill>
                <a:latin typeface="Arial"/>
                <a:ea typeface="Arial"/>
                <a:cs typeface="Arial"/>
                <a:sym typeface="Arial"/>
              </a:rPr>
              <a:t>BioEmu</a:t>
            </a:r>
          </a:p>
          <a:p>
            <a:pPr marL="0" marR="0" lvl="0" indent="0" algn="l" rtl="0">
              <a:lnSpc>
                <a:spcPct val="108000"/>
              </a:lnSpc>
              <a:spcBef>
                <a:spcPts val="200"/>
              </a:spcBef>
              <a:spcAft>
                <a:spcPts val="0"/>
              </a:spcAft>
              <a:buNone/>
            </a:pPr>
            <a:r>
              <a:rPr lang="en-US" sz="1200" b="0" i="0" u="none" strike="noStrike" cap="none">
                <a:solidFill>
                  <a:srgbClr val="21252B"/>
                </a:solidFill>
                <a:latin typeface="Arial"/>
                <a:ea typeface="Arial"/>
                <a:cs typeface="Arial"/>
                <a:sym typeface="Arial"/>
              </a:rPr>
              <a:t>A receptor-only prior: open and closed Trp215 gates without ligand, so it cannot be placed on the association coordinate.</a:t>
            </a:r>
          </a:p>
        </p:txBody>
      </p:sp>
      <p:sp>
        <p:nvSpPr>
          <p:cNvPr id="5004" name="Shape 5004"/>
          <p:cNvSpPr/>
          <p:nvPr/>
        </p:nvSpPr>
        <p:spPr>
          <a:xfrm>
            <a:off x="502920" y="5971032"/>
            <a:ext cx="11155680" cy="356616"/>
          </a:xfrm>
          <a:prstGeom prst="rect">
            <a:avLst/>
          </a:prstGeom>
          <a:solidFill>
            <a:srgbClr val="EFF5F6"/>
          </a:solidFill>
          <a:ln>
            <a:noFill/>
          </a:ln>
        </p:spPr>
        <p:txBody>
          <a:bodyPr spcFirstLastPara="1" wrap="square" lIns="45720" tIns="0" rIns="45720" bIns="0" anchor="ctr" anchorCtr="0">
            <a:noAutofit/>
          </a:bodyPr>
          <a:lstStyle/>
          <a:p>
            <a:pPr marL="0" marR="0" lvl="0" indent="0" algn="l" rtl="0">
              <a:lnSpc>
                <a:spcPct val="108000"/>
              </a:lnSpc>
              <a:spcBef>
                <a:spcPts val="0"/>
              </a:spcBef>
              <a:spcAft>
                <a:spcPts val="0"/>
              </a:spcAft>
              <a:buNone/>
            </a:pPr>
            <a:r>
              <a:rPr lang="en-US" sz="1650" b="1" i="0" u="none" strike="noStrike" cap="none">
                <a:solidFill>
                  <a:srgbClr val="245D68"/>
                </a:solidFill>
                <a:latin typeface="Arial"/>
                <a:ea typeface="Arial"/>
                <a:cs typeface="Arial"/>
                <a:sym typeface="Arial"/>
              </a:rPr>
              <a:t>The second binding mode and the route out of the pocket come from the trajectories.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24"/>
        <p:cNvGrpSpPr/>
        <p:nvPr/>
      </p:nvGrpSpPr>
      <p:grpSpPr>
        <a:xfrm>
          <a:off x="0" y="0"/>
          <a:ext cx="0" cy="0"/>
          <a:chOff x="0" y="0"/>
          <a:chExt cx="0" cy="0"/>
        </a:xfrm>
      </p:grpSpPr>
      <p:sp>
        <p:nvSpPr>
          <p:cNvPr id="625" name="Google Shape;625;p29"/>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TEST 3 · COMMITMENT</a:t>
            </a:r>
            <a:endParaRPr/>
          </a:p>
        </p:txBody>
      </p:sp>
      <p:sp>
        <p:nvSpPr>
          <p:cNvPr id="626" name="Google Shape;626;p29"/>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Ligand distance alone does not determine commitment</a:t>
            </a:r>
            <a:endParaRPr/>
          </a:p>
        </p:txBody>
      </p:sp>
      <p:cxnSp>
        <p:nvCxnSpPr>
          <p:cNvPr id="627" name="Google Shape;627;p29"/>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628" name="Google Shape;628;p29"/>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DGA committor q⁺ between bound (d &lt; 6 Å) and unbound (d &gt; 15 Å) sets. (e, f) Mean displacement per lag time, colored by q⁺; a drift field, not a probability current. Pengmei et al., GESPO (manuscript, 2026).</a:t>
            </a:r>
          </a:p>
        </p:txBody>
      </p:sp>
      <p:sp>
        <p:nvSpPr>
          <p:cNvPr id="629" name="Google Shape;629;p29"/>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31 / 37</a:t>
            </a:r>
            <a:endParaRPr/>
          </a:p>
        </p:txBody>
      </p:sp>
      <p:pic>
        <p:nvPicPr>
          <p:cNvPr id="630" name="Google Shape;630;p29"/>
          <p:cNvPicPr preferRelativeResize="0"/>
          <p:nvPr/>
        </p:nvPicPr>
        <p:blipFill>
          <a:blip r:embed="rId3">
            <a:alphaModFix/>
          </a:blip>
          <a:stretch>
            <a:fillRect/>
          </a:stretch>
        </p:blipFill>
        <p:spPr>
          <a:xfrm>
            <a:off x="502920" y="1298448"/>
            <a:ext cx="11155680" cy="3511752"/>
          </a:xfrm>
          <a:prstGeom prst="rect">
            <a:avLst/>
          </a:prstGeom>
          <a:noFill/>
          <a:ln>
            <a:noFill/>
          </a:ln>
        </p:spPr>
      </p:pic>
      <p:sp>
        <p:nvSpPr>
          <p:cNvPr id="5005" name="Text 5005"/>
          <p:cNvSpPr txBox="1"/>
          <p:nvPr/>
        </p:nvSpPr>
        <p:spPr>
          <a:xfrm>
            <a:off x="731520" y="4919472"/>
            <a:ext cx="3474720" cy="10058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1" i="0" u="none" strike="noStrike" cap="none">
                <a:solidFill>
                  <a:srgbClr val="245D68"/>
                </a:solidFill>
                <a:latin typeface="Arial"/>
                <a:ea typeface="Arial"/>
                <a:cs typeface="Arial"/>
                <a:sym typeface="Arial"/>
              </a:rPr>
              <a:t>(d) Committor vs. distance</a:t>
            </a:r>
          </a:p>
          <a:p>
            <a:pPr marL="0" marR="0" lvl="0" indent="0" algn="l" rtl="0">
              <a:lnSpc>
                <a:spcPct val="108000"/>
              </a:lnSpc>
              <a:spcBef>
                <a:spcPts val="200"/>
              </a:spcBef>
              <a:spcAft>
                <a:spcPts val="0"/>
              </a:spcAft>
              <a:buNone/>
            </a:pPr>
            <a:r>
              <a:rPr lang="en-US" sz="1200" b="0" i="0" u="none" strike="noStrike" cap="none">
                <a:solidFill>
                  <a:srgbClr val="21252B"/>
                </a:solidFill>
                <a:latin typeface="Arial"/>
                <a:ea typeface="Arial"/>
                <a:cs typeface="Arial"/>
                <a:sym typeface="Arial"/>
              </a:rPr>
              <a:t>q⁺ crosses 0.5 near 8–9 Å, as free diffusion between these shells would; the spread at fixed distance stays broad.</a:t>
            </a:r>
          </a:p>
        </p:txBody>
      </p:sp>
      <p:sp>
        <p:nvSpPr>
          <p:cNvPr id="5006" name="Text 5006"/>
          <p:cNvSpPr txBox="1"/>
          <p:nvPr/>
        </p:nvSpPr>
        <p:spPr>
          <a:xfrm>
            <a:off x="4434840" y="4919472"/>
            <a:ext cx="3474720" cy="10058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1" i="0" u="none" strike="noStrike" cap="none">
                <a:solidFill>
                  <a:srgbClr val="245D68"/>
                </a:solidFill>
                <a:latin typeface="Arial"/>
                <a:ea typeface="Arial"/>
                <a:cs typeface="Arial"/>
                <a:sym typeface="Arial"/>
              </a:rPr>
              <a:t>(e) Trp215 loop</a:t>
            </a:r>
          </a:p>
          <a:p>
            <a:pPr marL="0" marR="0" lvl="0" indent="0" algn="l" rtl="0">
              <a:lnSpc>
                <a:spcPct val="108000"/>
              </a:lnSpc>
              <a:spcBef>
                <a:spcPts val="200"/>
              </a:spcBef>
              <a:spcAft>
                <a:spcPts val="0"/>
              </a:spcAft>
              <a:buNone/>
            </a:pPr>
            <a:r>
              <a:rPr lang="en-US" sz="1200" b="0" i="0" u="none" strike="noStrike" cap="none">
                <a:solidFill>
                  <a:srgbClr val="21252B"/>
                </a:solidFill>
                <a:latin typeface="Arial"/>
                <a:ea typeface="Arial"/>
                <a:cs typeface="Arial"/>
                <a:sym typeface="Arial"/>
              </a:rPr>
              <a:t>At equal ligand distance, open-gate configurations sit further toward dissociation.</a:t>
            </a:r>
          </a:p>
        </p:txBody>
      </p:sp>
      <p:sp>
        <p:nvSpPr>
          <p:cNvPr id="5007" name="Text 5007"/>
          <p:cNvSpPr txBox="1"/>
          <p:nvPr/>
        </p:nvSpPr>
        <p:spPr>
          <a:xfrm>
            <a:off x="8138160" y="4919472"/>
            <a:ext cx="3474720" cy="10058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1" i="0" u="none" strike="noStrike" cap="none">
                <a:solidFill>
                  <a:srgbClr val="245D68"/>
                </a:solidFill>
                <a:latin typeface="Arial"/>
                <a:ea typeface="Arial"/>
                <a:cs typeface="Arial"/>
                <a:sym typeface="Arial"/>
              </a:rPr>
              <a:t>(f) Asp189 loop</a:t>
            </a:r>
          </a:p>
          <a:p>
            <a:pPr marL="0" marR="0" lvl="0" indent="0" algn="l" rtl="0">
              <a:lnSpc>
                <a:spcPct val="108000"/>
              </a:lnSpc>
              <a:spcBef>
                <a:spcPts val="200"/>
              </a:spcBef>
              <a:spcAft>
                <a:spcPts val="0"/>
              </a:spcAft>
              <a:buNone/>
            </a:pPr>
            <a:r>
              <a:rPr lang="en-US" sz="1200" b="0" i="0" u="none" strike="noStrike" cap="none">
                <a:solidFill>
                  <a:srgbClr val="21252B"/>
                </a:solidFill>
                <a:latin typeface="Arial"/>
                <a:ea typeface="Arial"/>
                <a:cs typeface="Arial"/>
                <a:sym typeface="Arial"/>
              </a:rPr>
              <a:t>Smaller effect; the Asp189 loop stays near its closed geometry.</a:t>
            </a:r>
          </a:p>
        </p:txBody>
      </p:sp>
      <p:sp>
        <p:nvSpPr>
          <p:cNvPr id="5008" name="Shape 5008"/>
          <p:cNvSpPr/>
          <p:nvPr/>
        </p:nvSpPr>
        <p:spPr>
          <a:xfrm>
            <a:off x="502920" y="5971032"/>
            <a:ext cx="11155680" cy="356616"/>
          </a:xfrm>
          <a:prstGeom prst="rect">
            <a:avLst/>
          </a:prstGeom>
          <a:solidFill>
            <a:srgbClr val="EFF5F6"/>
          </a:solidFill>
          <a:ln>
            <a:noFill/>
          </a:ln>
        </p:spPr>
        <p:txBody>
          <a:bodyPr spcFirstLastPara="1" wrap="square" lIns="45720" tIns="0" rIns="45720" bIns="0" anchor="ctr" anchorCtr="0">
            <a:noAutofit/>
          </a:bodyPr>
          <a:lstStyle/>
          <a:p>
            <a:pPr marL="0" marR="0" lvl="0" indent="0" algn="l" rtl="0">
              <a:lnSpc>
                <a:spcPct val="108000"/>
              </a:lnSpc>
              <a:spcBef>
                <a:spcPts val="0"/>
              </a:spcBef>
              <a:spcAft>
                <a:spcPts val="0"/>
              </a:spcAft>
              <a:buNone/>
            </a:pPr>
            <a:r>
              <a:rPr lang="en-US" sz="1650" b="1" i="0" u="none" strike="noStrike" cap="none">
                <a:solidFill>
                  <a:srgbClr val="245D68"/>
                </a:solidFill>
                <a:latin typeface="Arial"/>
                <a:ea typeface="Arial"/>
                <a:cs typeface="Arial"/>
                <a:sym typeface="Arial"/>
              </a:rPr>
              <a:t>The receptor coordinate carries part of the reaction progress that distance misses.</a:t>
            </a:r>
          </a:p>
        </p:txBody>
      </p:sp>
      <p:sp>
        <p:nvSpPr>
          <p:cNvPr id="5025" name="Shape 5025"/>
          <p:cNvSpPr/>
          <p:nvPr/>
        </p:nvSpPr>
        <p:spPr>
          <a:xfrm>
            <a:off x="10378440" y="246888"/>
            <a:ext cx="1280160" cy="274320"/>
          </a:xfrm>
          <a:prstGeom prst="roundRect">
            <a:avLst>
              <a:gd name="adj" fmla="val 50000"/>
            </a:avLst>
          </a:prstGeom>
          <a:solidFill>
            <a:srgbClr val="EFF5F6"/>
          </a:solidFill>
          <a:ln w="12700">
            <a:solidFill>
              <a:srgbClr val="9FC1C7"/>
            </a:solid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000" b="1" i="0" u="none" strike="noStrike" cap="none">
                <a:solidFill>
                  <a:srgbClr val="245D68"/>
                </a:solidFill>
                <a:latin typeface="Arial"/>
                <a:ea typeface="Arial"/>
                <a:cs typeface="Arial"/>
                <a:sym typeface="Arial"/>
              </a:rPr>
              <a:t>Geom2Vec · SPIB</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35"/>
        <p:cNvGrpSpPr/>
        <p:nvPr/>
      </p:nvGrpSpPr>
      <p:grpSpPr>
        <a:xfrm>
          <a:off x="0" y="0"/>
          <a:ext cx="0" cy="0"/>
          <a:chOff x="0" y="0"/>
          <a:chExt cx="0" cy="0"/>
        </a:xfrm>
      </p:grpSpPr>
      <p:sp>
        <p:nvSpPr>
          <p:cNvPr id="636" name="Google Shape;636;g3fba1c648f0_0_629"/>
          <p:cNvSpPr txBox="1"/>
          <p:nvPr/>
        </p:nvSpPr>
        <p:spPr>
          <a:xfrm>
            <a:off x="521207" y="292608"/>
            <a:ext cx="10058400" cy="1692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TEST 3 · RECEPTOR MACROSTATES</a:t>
            </a:r>
            <a:endParaRPr/>
          </a:p>
        </p:txBody>
      </p:sp>
      <p:sp>
        <p:nvSpPr>
          <p:cNvPr id="637" name="Google Shape;637;g3fba1c648f0_0_629"/>
          <p:cNvSpPr txBox="1"/>
          <p:nvPr/>
        </p:nvSpPr>
        <p:spPr>
          <a:xfrm>
            <a:off x="502920" y="658368"/>
            <a:ext cx="11119200" cy="4542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The Trp215 loop gates the pocket between S1 and S1*</a:t>
            </a:r>
            <a:endParaRPr/>
          </a:p>
        </p:txBody>
      </p:sp>
      <p:cxnSp>
        <p:nvCxnSpPr>
          <p:cNvPr id="638" name="Google Shape;638;g3fba1c648f0_0_629"/>
          <p:cNvCxnSpPr/>
          <p:nvPr/>
        </p:nvCxnSpPr>
        <p:spPr>
          <a:xfrm>
            <a:off x="502920" y="6473952"/>
            <a:ext cx="11183100" cy="0"/>
          </a:xfrm>
          <a:prstGeom prst="straightConnector1">
            <a:avLst/>
          </a:prstGeom>
          <a:noFill/>
          <a:ln w="9525" cap="flat" cmpd="sng">
            <a:solidFill>
              <a:srgbClr val="CFD5DC"/>
            </a:solidFill>
            <a:prstDash val="solid"/>
            <a:round/>
            <a:headEnd type="none" w="sm" len="sm"/>
            <a:tailEnd type="none" w="sm" len="sm"/>
          </a:ln>
        </p:spPr>
      </p:cxnSp>
      <p:sp>
        <p:nvSpPr>
          <p:cNvPr id="639" name="Google Shape;639;g3fba1c648f0_0_629"/>
          <p:cNvSpPr txBox="1"/>
          <p:nvPr/>
        </p:nvSpPr>
        <p:spPr>
          <a:xfrm>
            <a:off x="530352" y="6519672"/>
            <a:ext cx="9692700" cy="1260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SPIB on Geom2Vec features (holo), seven macrostates as in Plattner &amp; Noé (2015). Pocket: Asp189 loop yellow, Trp215 loop orange. Pengmei et al., GESPO (2026).</a:t>
            </a:r>
          </a:p>
        </p:txBody>
      </p:sp>
      <p:sp>
        <p:nvSpPr>
          <p:cNvPr id="640" name="Google Shape;640;g3fba1c648f0_0_629"/>
          <p:cNvSpPr txBox="1"/>
          <p:nvPr/>
        </p:nvSpPr>
        <p:spPr>
          <a:xfrm>
            <a:off x="10424160" y="6510528"/>
            <a:ext cx="1216200" cy="14610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32 / 37</a:t>
            </a:r>
            <a:endParaRPr/>
          </a:p>
        </p:txBody>
      </p:sp>
      <p:pic>
        <p:nvPicPr>
          <p:cNvPr id="641" name="Google Shape;641;g3fba1c648f0_0_629" title="Screenshot 2026-09-18 at 11.40.05 AM.png"/>
          <p:cNvPicPr preferRelativeResize="0"/>
          <p:nvPr/>
        </p:nvPicPr>
        <p:blipFill>
          <a:blip r:embed="rId3">
            <a:alphaModFix/>
          </a:blip>
          <a:stretch>
            <a:fillRect/>
          </a:stretch>
        </p:blipFill>
        <p:spPr>
          <a:xfrm>
            <a:off x="502920" y="1691640"/>
            <a:ext cx="8229600" cy="3059156"/>
          </a:xfrm>
          <a:prstGeom prst="rect">
            <a:avLst/>
          </a:prstGeom>
          <a:noFill/>
          <a:ln>
            <a:noFill/>
          </a:ln>
        </p:spPr>
      </p:pic>
      <p:pic>
        <p:nvPicPr>
          <p:cNvPr id="5004" name="loops_panel.png" descr="Trp215-loop RMSD rises monotonically from 1.6 Å (M0) to 4.2 Å (M6); Asp189-loop RMSD stays between 0.6 and 2.5 Å"/>
          <p:cNvPicPr>
            <a:picLocks noChangeAspect="1"/>
          </p:cNvPicPr>
          <p:nvPr/>
        </p:nvPicPr>
        <p:blipFill>
          <a:blip r:embed="rId4"/>
          <a:stretch>
            <a:fillRect/>
          </a:stretch>
        </p:blipFill>
        <p:spPr>
          <a:xfrm>
            <a:off x="8915400" y="1371600"/>
            <a:ext cx="2834640" cy="1968500"/>
          </a:xfrm>
          <a:prstGeom prst="rect">
            <a:avLst/>
          </a:prstGeom>
        </p:spPr>
      </p:pic>
      <p:sp>
        <p:nvSpPr>
          <p:cNvPr id="5005" name="Text 5005"/>
          <p:cNvSpPr txBox="1"/>
          <p:nvPr/>
        </p:nvSpPr>
        <p:spPr>
          <a:xfrm>
            <a:off x="8961120" y="3477260"/>
            <a:ext cx="2743200" cy="201168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400" b="1" i="0" u="none" strike="noStrike" cap="none">
                <a:solidFill>
                  <a:srgbClr val="245D68"/>
                </a:solidFill>
                <a:latin typeface="Arial"/>
                <a:ea typeface="Arial"/>
                <a:cs typeface="Arial"/>
                <a:sym typeface="Arial"/>
              </a:rPr>
              <a:t>Trp215 is the gate</a:t>
            </a:r>
          </a:p>
          <a:p>
            <a:pPr marL="0" marR="0" lvl="0" indent="0" algn="l" rtl="0">
              <a:lnSpc>
                <a:spcPct val="108000"/>
              </a:lnSpc>
              <a:spcBef>
                <a:spcPts val="200"/>
              </a:spcBef>
              <a:spcAft>
                <a:spcPts val="0"/>
              </a:spcAft>
              <a:buNone/>
            </a:pPr>
            <a:r>
              <a:rPr lang="en-US" sz="1250" b="0" i="0" u="none" strike="noStrike" cap="none">
                <a:solidFill>
                  <a:srgbClr val="21252B"/>
                </a:solidFill>
                <a:latin typeface="Arial"/>
                <a:ea typeface="Arial"/>
                <a:cs typeface="Arial"/>
                <a:sym typeface="Arial"/>
              </a:rPr>
              <a:t>Its RMSD rises monotonically, 1.6 → 4.2 Å. The Asp189 loop stays within 2 Å in all but M6.</a:t>
            </a:r>
          </a:p>
        </p:txBody>
      </p:sp>
      <p:sp>
        <p:nvSpPr>
          <p:cNvPr id="5006" name="Text 5006"/>
          <p:cNvSpPr txBox="1"/>
          <p:nvPr/>
        </p:nvSpPr>
        <p:spPr>
          <a:xfrm>
            <a:off x="548640" y="4887956"/>
            <a:ext cx="8138160" cy="73152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00" b="0" i="0" u="none" strike="noStrike" cap="none">
                <a:solidFill>
                  <a:srgbClr val="21252B"/>
                </a:solidFill>
                <a:latin typeface="Arial"/>
                <a:ea typeface="Arial"/>
                <a:cs typeface="Arial"/>
                <a:sym typeface="Arial"/>
              </a:rPr>
              <a:t>Bound benzamidine appears in the closed M0 and throughout the open-gate states: the S1* mode is observed in the trajectories, not inferred from endpoints.</a:t>
            </a:r>
          </a:p>
        </p:txBody>
      </p:sp>
      <p:sp>
        <p:nvSpPr>
          <p:cNvPr id="5007" name="Shape 5007"/>
          <p:cNvSpPr/>
          <p:nvPr/>
        </p:nvSpPr>
        <p:spPr>
          <a:xfrm>
            <a:off x="502920" y="5971032"/>
            <a:ext cx="11155680" cy="356616"/>
          </a:xfrm>
          <a:prstGeom prst="rect">
            <a:avLst/>
          </a:prstGeom>
          <a:solidFill>
            <a:srgbClr val="EFF5F6"/>
          </a:solidFill>
          <a:ln>
            <a:noFill/>
          </a:ln>
        </p:spPr>
        <p:txBody>
          <a:bodyPr spcFirstLastPara="1" wrap="square" lIns="45720" tIns="0" rIns="45720" bIns="0" anchor="ctr" anchorCtr="0">
            <a:noAutofit/>
          </a:bodyPr>
          <a:lstStyle/>
          <a:p>
            <a:pPr marL="0" marR="0" lvl="0" indent="0" algn="l" rtl="0">
              <a:lnSpc>
                <a:spcPct val="108000"/>
              </a:lnSpc>
              <a:spcBef>
                <a:spcPts val="0"/>
              </a:spcBef>
              <a:spcAft>
                <a:spcPts val="0"/>
              </a:spcAft>
              <a:buNone/>
            </a:pPr>
            <a:r>
              <a:rPr lang="en-US" sz="1650" b="1" i="0" u="none" strike="noStrike" cap="none">
                <a:solidFill>
                  <a:srgbClr val="245D68"/>
                </a:solidFill>
                <a:latin typeface="Arial"/>
                <a:ea typeface="Arial"/>
                <a:cs typeface="Arial"/>
                <a:sym typeface="Arial"/>
              </a:rPr>
              <a:t>Seven receptor states, ordered by how far the Trp215 gate opens.</a:t>
            </a:r>
          </a:p>
        </p:txBody>
      </p:sp>
      <p:sp>
        <p:nvSpPr>
          <p:cNvPr id="5001" name="Text 5001"/>
          <p:cNvSpPr txBox="1"/>
          <p:nvPr/>
        </p:nvSpPr>
        <p:spPr>
          <a:xfrm>
            <a:off x="548640" y="1325880"/>
            <a:ext cx="3657600" cy="3200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400" b="1" i="0" u="none" strike="noStrike" cap="none">
                <a:solidFill>
                  <a:srgbClr val="800000"/>
                </a:solidFill>
                <a:latin typeface="Arial"/>
                <a:ea typeface="Arial"/>
                <a:cs typeface="Arial"/>
                <a:sym typeface="Arial"/>
              </a:rPr>
              <a:t>S1 · gate closed</a:t>
            </a:r>
          </a:p>
        </p:txBody>
      </p:sp>
      <p:sp>
        <p:nvSpPr>
          <p:cNvPr id="5002" name="Text 5002"/>
          <p:cNvSpPr txBox="1"/>
          <p:nvPr/>
        </p:nvSpPr>
        <p:spPr>
          <a:xfrm>
            <a:off x="5029200" y="1325880"/>
            <a:ext cx="3657600" cy="320040"/>
          </a:xfrm>
          <a:prstGeom prst="rect">
            <a:avLst/>
          </a:prstGeom>
          <a:noFill/>
          <a:ln>
            <a:noFill/>
          </a:ln>
        </p:spPr>
        <p:txBody>
          <a:bodyPr spcFirstLastPara="1" wrap="square" lIns="0" tIns="0" rIns="0" bIns="0" anchor="t" anchorCtr="0">
            <a:noAutofit/>
          </a:bodyPr>
          <a:lstStyle/>
          <a:p>
            <a:pPr marL="0" marR="0" lvl="0" indent="0" algn="r" rtl="0">
              <a:lnSpc>
                <a:spcPct val="108000"/>
              </a:lnSpc>
              <a:spcBef>
                <a:spcPts val="0"/>
              </a:spcBef>
              <a:spcAft>
                <a:spcPts val="0"/>
              </a:spcAft>
              <a:buNone/>
            </a:pPr>
            <a:r>
              <a:rPr lang="en-US" sz="1400" b="1" i="0" u="none" strike="noStrike" cap="none">
                <a:solidFill>
                  <a:srgbClr val="6A3D9A"/>
                </a:solidFill>
                <a:latin typeface="Arial"/>
                <a:ea typeface="Arial"/>
                <a:cs typeface="Arial"/>
                <a:sym typeface="Arial"/>
              </a:rPr>
              <a:t>S1* · gate open</a:t>
            </a:r>
          </a:p>
        </p:txBody>
      </p:sp>
      <p:sp>
        <p:nvSpPr>
          <p:cNvPr id="5003" name="Shape 5003"/>
          <p:cNvSpPr/>
          <p:nvPr/>
        </p:nvSpPr>
        <p:spPr>
          <a:xfrm>
            <a:off x="2514600" y="1472184"/>
            <a:ext cx="3566160" cy="36576"/>
          </a:xfrm>
          <a:prstGeom prst="rect">
            <a:avLst/>
          </a:prstGeom>
          <a:solidFill>
            <a:srgbClr val="B8C2CA"/>
          </a:solidFill>
          <a:ln>
            <a:noFill/>
          </a:ln>
        </p:spPr>
        <p:txBody>
          <a:bodyPr spcFirstLastPara="1" wrap="square" lIns="45720" tIns="0" rIns="45720" bIns="0" anchor="ctr" anchorCtr="0">
            <a:noAutofit/>
          </a:bodyPr>
          <a:lstStyle/>
          <a:p>
            <a:endParaRPr lang="en-US"/>
          </a:p>
        </p:txBody>
      </p:sp>
      <p:sp>
        <p:nvSpPr>
          <p:cNvPr id="5026" name="Shape 5026"/>
          <p:cNvSpPr/>
          <p:nvPr/>
        </p:nvSpPr>
        <p:spPr>
          <a:xfrm>
            <a:off x="10378440" y="246888"/>
            <a:ext cx="1280160" cy="274320"/>
          </a:xfrm>
          <a:prstGeom prst="roundRect">
            <a:avLst>
              <a:gd name="adj" fmla="val 50000"/>
            </a:avLst>
          </a:prstGeom>
          <a:solidFill>
            <a:srgbClr val="EFF5F6"/>
          </a:solidFill>
          <a:ln w="12700">
            <a:solidFill>
              <a:srgbClr val="9FC1C7"/>
            </a:solid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000" b="1" i="0" u="none" strike="noStrike" cap="none">
                <a:solidFill>
                  <a:srgbClr val="245D68"/>
                </a:solidFill>
                <a:latin typeface="Arial"/>
                <a:ea typeface="Arial"/>
                <a:cs typeface="Arial"/>
                <a:sym typeface="Arial"/>
              </a:rPr>
              <a:t>Geom2Vec · SPIB</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46"/>
        <p:cNvGrpSpPr/>
        <p:nvPr/>
      </p:nvGrpSpPr>
      <p:grpSpPr>
        <a:xfrm>
          <a:off x="0" y="0"/>
          <a:ext cx="0" cy="0"/>
          <a:chOff x="0" y="0"/>
          <a:chExt cx="0" cy="0"/>
        </a:xfrm>
      </p:grpSpPr>
      <p:sp>
        <p:nvSpPr>
          <p:cNvPr id="647" name="Google Shape;647;p33"/>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TEST 3 · REACTIVE FLUX</a:t>
            </a:r>
            <a:endParaRPr/>
          </a:p>
        </p:txBody>
      </p:sp>
      <p:sp>
        <p:nvSpPr>
          <p:cNvPr id="648" name="Google Shape;648;p33"/>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Most dissociation flux leaves the pocket through M5</a:t>
            </a:r>
            <a:endParaRPr/>
          </a:p>
        </p:txBody>
      </p:sp>
      <p:cxnSp>
        <p:nvCxnSpPr>
          <p:cNvPr id="649" name="Google Shape;649;p33"/>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650" name="Google Shape;650;p33"/>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Net reactive flux max(f</a:t>
            </a:r>
            <a:r>
              <a:rPr lang="en-US" sz="819" b="0" i="0" baseline="-25000">
                <a:solidFill>
                  <a:srgbClr val="59616B"/>
                </a:solidFill>
                <a:latin typeface="Arial"/>
                <a:ea typeface="Arial"/>
                <a:cs typeface="Arial"/>
                <a:sym typeface="Arial"/>
              </a:rPr>
              <a:t>ij</a:t>
            </a:r>
            <a:r>
              <a:rPr lang="en-US" sz="819" b="0" i="0" u="none" strike="noStrike" cap="none">
                <a:solidFill>
                  <a:srgbClr val="59616B"/>
                </a:solidFill>
                <a:latin typeface="Arial"/>
                <a:ea typeface="Arial"/>
                <a:cs typeface="Arial"/>
                <a:sym typeface="Arial"/>
              </a:rPr>
              <a:t> − f</a:t>
            </a:r>
            <a:r>
              <a:rPr lang="en-US" sz="819" b="0" i="0" baseline="-25000">
                <a:solidFill>
                  <a:srgbClr val="59616B"/>
                </a:solidFill>
                <a:latin typeface="Arial"/>
                <a:ea typeface="Arial"/>
                <a:cs typeface="Arial"/>
                <a:sym typeface="Arial"/>
              </a:rPr>
              <a:t>ji</a:t>
            </a:r>
            <a:r>
              <a:rPr lang="en-US" sz="819" b="0" i="0" u="none" strike="noStrike" cap="none">
                <a:solidFill>
                  <a:srgbClr val="59616B"/>
                </a:solidFill>
                <a:latin typeface="Arial"/>
                <a:ea typeface="Arial"/>
                <a:cs typeface="Arial"/>
                <a:sym typeface="Arial"/>
              </a:rPr>
              <a:t>, 0), f</a:t>
            </a:r>
            <a:r>
              <a:rPr lang="en-US" sz="819" b="0" i="0" baseline="-25000">
                <a:solidFill>
                  <a:srgbClr val="59616B"/>
                </a:solidFill>
                <a:latin typeface="Arial"/>
                <a:ea typeface="Arial"/>
                <a:cs typeface="Arial"/>
                <a:sym typeface="Arial"/>
              </a:rPr>
              <a:t>ij</a:t>
            </a:r>
            <a:r>
              <a:rPr lang="en-US" sz="819" b="0" i="0" u="none" strike="noStrike" cap="none">
                <a:solidFill>
                  <a:srgbClr val="59616B"/>
                </a:solidFill>
                <a:latin typeface="Arial"/>
                <a:ea typeface="Arial"/>
                <a:cs typeface="Arial"/>
                <a:sym typeface="Arial"/>
              </a:rPr>
              <a:t> = π</a:t>
            </a:r>
            <a:r>
              <a:rPr lang="en-US" sz="819" b="0" i="0" baseline="-25000">
                <a:solidFill>
                  <a:srgbClr val="59616B"/>
                </a:solidFill>
                <a:latin typeface="Arial"/>
                <a:ea typeface="Arial"/>
                <a:cs typeface="Arial"/>
                <a:sym typeface="Arial"/>
              </a:rPr>
              <a:t>i</a:t>
            </a:r>
            <a:r>
              <a:rPr lang="en-US" sz="819" b="0" i="0" u="none" strike="noStrike" cap="none">
                <a:solidFill>
                  <a:srgbClr val="59616B"/>
                </a:solidFill>
                <a:latin typeface="Arial"/>
                <a:ea typeface="Arial"/>
                <a:cs typeface="Arial"/>
                <a:sym typeface="Arial"/>
              </a:rPr>
              <a:t> q⁻</a:t>
            </a:r>
            <a:r>
              <a:rPr lang="en-US" sz="819" b="0" i="0" baseline="-25000">
                <a:solidFill>
                  <a:srgbClr val="59616B"/>
                </a:solidFill>
                <a:latin typeface="Arial"/>
                <a:ea typeface="Arial"/>
                <a:cs typeface="Arial"/>
                <a:sym typeface="Arial"/>
              </a:rPr>
              <a:t>i</a:t>
            </a:r>
            <a:r>
              <a:rPr lang="en-US" sz="819" b="0" i="0" u="none" strike="noStrike" cap="none">
                <a:solidFill>
                  <a:srgbClr val="59616B"/>
                </a:solidFill>
                <a:latin typeface="Arial"/>
                <a:ea typeface="Arial"/>
                <a:cs typeface="Arial"/>
                <a:sym typeface="Arial"/>
              </a:rPr>
              <a:t> T</a:t>
            </a:r>
            <a:r>
              <a:rPr lang="en-US" sz="819" b="0" i="0" baseline="-25000">
                <a:solidFill>
                  <a:srgbClr val="59616B"/>
                </a:solidFill>
                <a:latin typeface="Arial"/>
                <a:ea typeface="Arial"/>
                <a:cs typeface="Arial"/>
                <a:sym typeface="Arial"/>
              </a:rPr>
              <a:t>ij</a:t>
            </a:r>
            <a:r>
              <a:rPr lang="en-US" sz="819" b="0" i="0" u="none" strike="noStrike" cap="none">
                <a:solidFill>
                  <a:srgbClr val="59616B"/>
                </a:solidFill>
                <a:latin typeface="Arial"/>
                <a:ea typeface="Arial"/>
                <a:cs typeface="Arial"/>
                <a:sym typeface="Arial"/>
              </a:rPr>
              <a:t> q⁺</a:t>
            </a:r>
            <a:r>
              <a:rPr lang="en-US" sz="819" b="0" i="0" baseline="-25000">
                <a:solidFill>
                  <a:srgbClr val="59616B"/>
                </a:solidFill>
                <a:latin typeface="Arial"/>
                <a:ea typeface="Arial"/>
                <a:cs typeface="Arial"/>
                <a:sym typeface="Arial"/>
              </a:rPr>
              <a:t>j</a:t>
            </a:r>
            <a:r>
              <a:rPr lang="en-US" sz="819" b="0" i="0" u="none" strike="noStrike" cap="none">
                <a:solidFill>
                  <a:srgbClr val="59616B"/>
                </a:solidFill>
                <a:latin typeface="Arial"/>
                <a:ea typeface="Arial"/>
                <a:cs typeface="Arial"/>
                <a:sym typeface="Arial"/>
              </a:rPr>
              <a:t>, after reweighting each frame by π/p</a:t>
            </a:r>
            <a:r>
              <a:rPr lang="en-US" sz="819" b="0" i="0" baseline="-25000">
                <a:solidFill>
                  <a:srgbClr val="59616B"/>
                </a:solidFill>
                <a:latin typeface="Arial"/>
                <a:ea typeface="Arial"/>
                <a:cs typeface="Arial"/>
                <a:sym typeface="Arial"/>
              </a:rPr>
              <a:t>sample</a:t>
            </a:r>
            <a:r>
              <a:rPr lang="en-US" sz="819" b="0" i="0" u="none" strike="noStrike" cap="none">
                <a:solidFill>
                  <a:srgbClr val="59616B"/>
                </a:solidFill>
                <a:latin typeface="Arial"/>
                <a:ea typeface="Arial"/>
                <a:cs typeface="Arial"/>
                <a:sym typeface="Arial"/>
              </a:rPr>
              <a:t>. Pengmei et al., GESPO (manuscript, 2026).</a:t>
            </a:r>
          </a:p>
        </p:txBody>
      </p:sp>
      <p:sp>
        <p:nvSpPr>
          <p:cNvPr id="651" name="Google Shape;651;p33"/>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33 / 37</a:t>
            </a:r>
            <a:endParaRPr/>
          </a:p>
        </p:txBody>
      </p:sp>
      <p:pic>
        <p:nvPicPr>
          <p:cNvPr id="659" name="Google Shape;659;p33" descr="Source spib_trp_ben.png; crop left/top/right/bottom (0, 0.188, 1, 0.546). Original scientific plot, not redrawn."/>
          <p:cNvPicPr preferRelativeResize="0"/>
          <p:nvPr/>
        </p:nvPicPr>
        <p:blipFill rotWithShape="1">
          <a:blip r:embed="rId3">
            <a:alphaModFix/>
          </a:blip>
          <a:stretch/>
        </p:blipFill>
        <p:spPr>
          <a:xfrm>
            <a:off x="411480" y="2074393"/>
            <a:ext cx="8229600" cy="3180629"/>
          </a:xfrm>
          <a:prstGeom prst="rect">
            <a:avLst/>
          </a:prstGeom>
          <a:noFill/>
          <a:ln>
            <a:noFill/>
          </a:ln>
        </p:spPr>
      </p:pic>
      <p:sp>
        <p:nvSpPr>
          <p:cNvPr id="5001" name="Text 5001"/>
          <p:cNvSpPr txBox="1"/>
          <p:nvPr/>
        </p:nvSpPr>
        <p:spPr>
          <a:xfrm>
            <a:off x="2069757" y="1662913"/>
            <a:ext cx="731520" cy="36576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700" b="1" i="0" u="none" strike="noStrike" cap="none">
                <a:solidFill>
                  <a:srgbClr val="800000"/>
                </a:solidFill>
                <a:latin typeface="Arial"/>
                <a:ea typeface="Arial"/>
                <a:cs typeface="Arial"/>
                <a:sym typeface="Arial"/>
              </a:rPr>
              <a:t>M0</a:t>
            </a:r>
          </a:p>
        </p:txBody>
      </p:sp>
      <p:sp>
        <p:nvSpPr>
          <p:cNvPr id="5002" name="Text 5002"/>
          <p:cNvSpPr txBox="1"/>
          <p:nvPr/>
        </p:nvSpPr>
        <p:spPr>
          <a:xfrm>
            <a:off x="3008376" y="1662913"/>
            <a:ext cx="731520" cy="36576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700" b="1" i="0" u="none" strike="noStrike" cap="none">
                <a:solidFill>
                  <a:srgbClr val="800000"/>
                </a:solidFill>
                <a:latin typeface="Arial"/>
                <a:ea typeface="Arial"/>
                <a:cs typeface="Arial"/>
                <a:sym typeface="Arial"/>
              </a:rPr>
              <a:t>M1</a:t>
            </a:r>
          </a:p>
        </p:txBody>
      </p:sp>
      <p:sp>
        <p:nvSpPr>
          <p:cNvPr id="5003" name="Text 5003"/>
          <p:cNvSpPr txBox="1"/>
          <p:nvPr/>
        </p:nvSpPr>
        <p:spPr>
          <a:xfrm>
            <a:off x="3953668" y="1662913"/>
            <a:ext cx="731520" cy="36576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700" b="1" i="0" u="none" strike="noStrike" cap="none">
                <a:solidFill>
                  <a:srgbClr val="800000"/>
                </a:solidFill>
                <a:latin typeface="Arial"/>
                <a:ea typeface="Arial"/>
                <a:cs typeface="Arial"/>
                <a:sym typeface="Arial"/>
              </a:rPr>
              <a:t>M2</a:t>
            </a:r>
          </a:p>
        </p:txBody>
      </p:sp>
      <p:sp>
        <p:nvSpPr>
          <p:cNvPr id="5004" name="Text 5004"/>
          <p:cNvSpPr txBox="1"/>
          <p:nvPr/>
        </p:nvSpPr>
        <p:spPr>
          <a:xfrm>
            <a:off x="4901184" y="1662913"/>
            <a:ext cx="731520" cy="36576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700" b="1" i="0" u="none" strike="noStrike" cap="none">
                <a:solidFill>
                  <a:srgbClr val="6A3D9A"/>
                </a:solidFill>
                <a:latin typeface="Arial"/>
                <a:ea typeface="Arial"/>
                <a:cs typeface="Arial"/>
                <a:sym typeface="Arial"/>
              </a:rPr>
              <a:t>M3</a:t>
            </a:r>
          </a:p>
        </p:txBody>
      </p:sp>
      <p:sp>
        <p:nvSpPr>
          <p:cNvPr id="5005" name="Text 5005"/>
          <p:cNvSpPr txBox="1"/>
          <p:nvPr/>
        </p:nvSpPr>
        <p:spPr>
          <a:xfrm>
            <a:off x="5839803" y="1662913"/>
            <a:ext cx="731520" cy="36576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700" b="1" i="0" u="none" strike="noStrike" cap="none">
                <a:solidFill>
                  <a:srgbClr val="6A3D9A"/>
                </a:solidFill>
                <a:latin typeface="Arial"/>
                <a:ea typeface="Arial"/>
                <a:cs typeface="Arial"/>
                <a:sym typeface="Arial"/>
              </a:rPr>
              <a:t>M4</a:t>
            </a:r>
          </a:p>
        </p:txBody>
      </p:sp>
      <p:sp>
        <p:nvSpPr>
          <p:cNvPr id="5006" name="Text 5006"/>
          <p:cNvSpPr txBox="1"/>
          <p:nvPr/>
        </p:nvSpPr>
        <p:spPr>
          <a:xfrm>
            <a:off x="6787319" y="1662913"/>
            <a:ext cx="731520" cy="36576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700" b="1" i="0" u="none" strike="noStrike" cap="none">
                <a:solidFill>
                  <a:srgbClr val="6A3D9A"/>
                </a:solidFill>
                <a:latin typeface="Arial"/>
                <a:ea typeface="Arial"/>
                <a:cs typeface="Arial"/>
                <a:sym typeface="Arial"/>
              </a:rPr>
              <a:t>M5</a:t>
            </a:r>
          </a:p>
        </p:txBody>
      </p:sp>
      <p:sp>
        <p:nvSpPr>
          <p:cNvPr id="5007" name="Text 5007"/>
          <p:cNvSpPr txBox="1"/>
          <p:nvPr/>
        </p:nvSpPr>
        <p:spPr>
          <a:xfrm>
            <a:off x="7732611" y="1662913"/>
            <a:ext cx="731520" cy="36576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700" b="1" i="0" u="none" strike="noStrike" cap="none">
                <a:solidFill>
                  <a:srgbClr val="6A3D9A"/>
                </a:solidFill>
                <a:latin typeface="Arial"/>
                <a:ea typeface="Arial"/>
                <a:cs typeface="Arial"/>
                <a:sym typeface="Arial"/>
              </a:rPr>
              <a:t>M6</a:t>
            </a:r>
          </a:p>
        </p:txBody>
      </p:sp>
      <p:sp>
        <p:nvSpPr>
          <p:cNvPr id="5010" name="Text 5010"/>
          <p:cNvSpPr txBox="1"/>
          <p:nvPr/>
        </p:nvSpPr>
        <p:spPr>
          <a:xfrm>
            <a:off x="8915400" y="1708633"/>
            <a:ext cx="2788920" cy="14630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50" b="1" i="0" u="none" strike="noStrike" cap="none">
                <a:solidFill>
                  <a:srgbClr val="245D68"/>
                </a:solidFill>
                <a:latin typeface="Arial"/>
                <a:ea typeface="Arial"/>
                <a:cs typeface="Arial"/>
                <a:sym typeface="Arial"/>
              </a:rPr>
              <a:t>Reading the network</a:t>
            </a:r>
          </a:p>
          <a:p>
            <a:pPr marL="0" marR="0" lvl="0" indent="0" algn="l" rtl="0">
              <a:lnSpc>
                <a:spcPct val="108000"/>
              </a:lnSpc>
              <a:spcBef>
                <a:spcPts val="200"/>
              </a:spcBef>
              <a:spcAft>
                <a:spcPts val="0"/>
              </a:spcAft>
              <a:buNone/>
            </a:pPr>
            <a:r>
              <a:rPr lang="en-US" sz="1200" b="0" i="0" u="none" strike="noStrike" cap="none">
                <a:solidFill>
                  <a:srgbClr val="21252B"/>
                </a:solidFill>
                <a:latin typeface="Arial"/>
                <a:ea typeface="Arial"/>
                <a:cs typeface="Arial"/>
                <a:sym typeface="Arial"/>
              </a:rPr>
              <a:t>Rows: committor tiers, bound → associated → unbound. Arrow width: net reactive flux; circle area: stationary weight.</a:t>
            </a:r>
          </a:p>
        </p:txBody>
      </p:sp>
      <p:sp>
        <p:nvSpPr>
          <p:cNvPr id="5011" name="Text 5011"/>
          <p:cNvSpPr txBox="1"/>
          <p:nvPr/>
        </p:nvSpPr>
        <p:spPr>
          <a:xfrm>
            <a:off x="8915400" y="3189961"/>
            <a:ext cx="2788920" cy="14630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50" b="1" i="0" u="none" strike="noStrike" cap="none">
                <a:solidFill>
                  <a:srgbClr val="245D68"/>
                </a:solidFill>
                <a:latin typeface="Arial"/>
                <a:ea typeface="Arial"/>
                <a:cs typeface="Arial"/>
                <a:sym typeface="Arial"/>
              </a:rPr>
              <a:t>Result</a:t>
            </a:r>
          </a:p>
          <a:p>
            <a:pPr marL="0" marR="0" lvl="0" indent="0" algn="l" rtl="0">
              <a:lnSpc>
                <a:spcPct val="108000"/>
              </a:lnSpc>
              <a:spcBef>
                <a:spcPts val="200"/>
              </a:spcBef>
              <a:spcAft>
                <a:spcPts val="0"/>
              </a:spcAft>
              <a:buNone/>
            </a:pPr>
            <a:r>
              <a:rPr lang="en-US" sz="1200" b="0" i="0" u="none" strike="noStrike" cap="none">
                <a:solidFill>
                  <a:srgbClr val="21252B"/>
                </a:solidFill>
                <a:latin typeface="Arial"/>
                <a:ea typeface="Arial"/>
                <a:cs typeface="Arial"/>
                <a:sym typeface="Arial"/>
              </a:rPr>
              <a:t>The largest flux passes through the open-gate state M5; M0 and M4 follow; M2 carries the least. All arrows point toward dissociation.</a:t>
            </a:r>
          </a:p>
        </p:txBody>
      </p:sp>
      <p:sp>
        <p:nvSpPr>
          <p:cNvPr id="5012" name="Text 5012"/>
          <p:cNvSpPr txBox="1"/>
          <p:nvPr/>
        </p:nvSpPr>
        <p:spPr>
          <a:xfrm>
            <a:off x="8915400" y="4671289"/>
            <a:ext cx="2788920" cy="14630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50" b="1" i="0" u="none" strike="noStrike" cap="none" dirty="0">
                <a:solidFill>
                  <a:srgbClr val="245D68"/>
                </a:solidFill>
                <a:latin typeface="Arial"/>
                <a:ea typeface="Arial"/>
                <a:cs typeface="Arial"/>
                <a:sym typeface="Arial"/>
              </a:rPr>
              <a:t>Scope</a:t>
            </a:r>
          </a:p>
          <a:p>
            <a:pPr marL="0" marR="0" lvl="0" indent="0" algn="l" rtl="0">
              <a:lnSpc>
                <a:spcPct val="108000"/>
              </a:lnSpc>
              <a:spcBef>
                <a:spcPts val="200"/>
              </a:spcBef>
              <a:spcAft>
                <a:spcPts val="0"/>
              </a:spcAft>
              <a:buNone/>
            </a:pPr>
            <a:r>
              <a:rPr lang="en-US" sz="1200" b="0" i="0" u="none" strike="noStrike" cap="none" dirty="0">
                <a:solidFill>
                  <a:srgbClr val="21252B"/>
                </a:solidFill>
                <a:latin typeface="Arial"/>
                <a:ea typeface="Arial"/>
                <a:cs typeface="Arial"/>
                <a:sym typeface="Arial"/>
              </a:rPr>
              <a:t>Weights are reweighted from adaptive data (π/</a:t>
            </a:r>
            <a:r>
              <a:rPr lang="en-US" sz="1200" b="0" i="0" u="none" strike="noStrike" cap="none" dirty="0" err="1">
                <a:solidFill>
                  <a:srgbClr val="21252B"/>
                </a:solidFill>
                <a:latin typeface="Arial"/>
                <a:ea typeface="Arial"/>
                <a:cs typeface="Arial"/>
                <a:sym typeface="Arial"/>
              </a:rPr>
              <a:t>p</a:t>
            </a:r>
            <a:r>
              <a:rPr lang="en-US" sz="1200" b="0" i="0" baseline="-25000" dirty="0" err="1">
                <a:solidFill>
                  <a:srgbClr val="21252B"/>
                </a:solidFill>
                <a:latin typeface="Arial"/>
                <a:ea typeface="Arial"/>
                <a:cs typeface="Arial"/>
                <a:sym typeface="Arial"/>
              </a:rPr>
              <a:t>sample</a:t>
            </a:r>
            <a:r>
              <a:rPr lang="en-US" sz="1200" b="0" i="0" u="none" strike="noStrike" cap="none" dirty="0">
                <a:solidFill>
                  <a:srgbClr val="21252B"/>
                </a:solidFill>
                <a:latin typeface="Arial"/>
                <a:ea typeface="Arial"/>
                <a:cs typeface="Arial"/>
                <a:sym typeface="Arial"/>
              </a:rPr>
              <a:t>)</a:t>
            </a:r>
          </a:p>
        </p:txBody>
      </p:sp>
      <p:sp>
        <p:nvSpPr>
          <p:cNvPr id="5013" name="Shape 5013"/>
          <p:cNvSpPr/>
          <p:nvPr/>
        </p:nvSpPr>
        <p:spPr>
          <a:xfrm>
            <a:off x="502920" y="5971032"/>
            <a:ext cx="11155680" cy="356616"/>
          </a:xfrm>
          <a:prstGeom prst="rect">
            <a:avLst/>
          </a:prstGeom>
          <a:solidFill>
            <a:srgbClr val="EFF5F6"/>
          </a:solidFill>
          <a:ln>
            <a:noFill/>
          </a:ln>
        </p:spPr>
        <p:txBody>
          <a:bodyPr spcFirstLastPara="1" wrap="square" lIns="45720" tIns="0" rIns="45720" bIns="0" anchor="ctr" anchorCtr="0">
            <a:noAutofit/>
          </a:bodyPr>
          <a:lstStyle/>
          <a:p>
            <a:pPr marL="0" marR="0" lvl="0" indent="0" algn="l" rtl="0">
              <a:lnSpc>
                <a:spcPct val="108000"/>
              </a:lnSpc>
              <a:spcBef>
                <a:spcPts val="0"/>
              </a:spcBef>
              <a:spcAft>
                <a:spcPts val="0"/>
              </a:spcAft>
              <a:buNone/>
            </a:pPr>
            <a:r>
              <a:rPr lang="en-US" sz="1650" b="1" i="0" u="none" strike="noStrike" cap="none">
                <a:solidFill>
                  <a:srgbClr val="245D68"/>
                </a:solidFill>
                <a:latin typeface="Arial"/>
                <a:ea typeface="Arial"/>
                <a:cs typeface="Arial"/>
                <a:sym typeface="Arial"/>
              </a:rPr>
              <a:t>Dissociation runs mainly through the open-gate state M5; M0 and M4 are secondary routes.</a:t>
            </a:r>
          </a:p>
        </p:txBody>
      </p:sp>
      <p:sp>
        <p:nvSpPr>
          <p:cNvPr id="5027" name="Shape 5027"/>
          <p:cNvSpPr/>
          <p:nvPr/>
        </p:nvSpPr>
        <p:spPr>
          <a:xfrm>
            <a:off x="10378440" y="246888"/>
            <a:ext cx="1280160" cy="274320"/>
          </a:xfrm>
          <a:prstGeom prst="roundRect">
            <a:avLst>
              <a:gd name="adj" fmla="val 50000"/>
            </a:avLst>
          </a:prstGeom>
          <a:solidFill>
            <a:srgbClr val="EFF5F6"/>
          </a:solidFill>
          <a:ln w="12700">
            <a:solidFill>
              <a:srgbClr val="9FC1C7"/>
            </a:solid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000" b="1" i="0" u="none" strike="noStrike" cap="none">
                <a:solidFill>
                  <a:srgbClr val="245D68"/>
                </a:solidFill>
                <a:latin typeface="Arial"/>
                <a:ea typeface="Arial"/>
                <a:cs typeface="Arial"/>
                <a:sym typeface="Arial"/>
              </a:rPr>
              <a:t>Geom2Vec · SPIB</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65"/>
        <p:cNvGrpSpPr/>
        <p:nvPr/>
      </p:nvGrpSpPr>
      <p:grpSpPr>
        <a:xfrm>
          <a:off x="0" y="0"/>
          <a:ext cx="0" cy="0"/>
          <a:chOff x="0" y="0"/>
          <a:chExt cx="0" cy="0"/>
        </a:xfrm>
      </p:grpSpPr>
      <p:sp>
        <p:nvSpPr>
          <p:cNvPr id="666" name="Google Shape;666;p34"/>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TEST 3 · CONFORMATIONAL EXCHANGE</a:t>
            </a:r>
            <a:endParaRPr/>
          </a:p>
        </p:txBody>
      </p:sp>
      <p:sp>
        <p:nvSpPr>
          <p:cNvPr id="667" name="Google Shape;667;p34"/>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The receptor interconverts across the full S1–S1* range</a:t>
            </a:r>
            <a:endParaRPr/>
          </a:p>
        </p:txBody>
      </p:sp>
      <p:cxnSp>
        <p:nvCxnSpPr>
          <p:cNvPr id="668" name="Google Shape;668;p34"/>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669" name="Google Shape;669;p34"/>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Same macrostates, tiers and reweighting as the reactive-flux network. Pengmei et al., GESPO (manuscript, 2026).</a:t>
            </a:r>
          </a:p>
        </p:txBody>
      </p:sp>
      <p:sp>
        <p:nvSpPr>
          <p:cNvPr id="670" name="Google Shape;670;p34"/>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34 / 37</a:t>
            </a:r>
            <a:endParaRPr/>
          </a:p>
        </p:txBody>
      </p:sp>
      <p:pic>
        <p:nvPicPr>
          <p:cNvPr id="671" name="Google Shape;671;p34" descr="Source spib_trp_ben.png; crop left/top/right/bottom (0, 0.552, 1, 0.895). Original scientific plot, not redrawn."/>
          <p:cNvPicPr preferRelativeResize="0"/>
          <p:nvPr/>
        </p:nvPicPr>
        <p:blipFill rotWithShape="1">
          <a:blip r:embed="rId3">
            <a:alphaModFix/>
          </a:blip>
          <a:stretch/>
        </p:blipFill>
        <p:spPr>
          <a:xfrm>
            <a:off x="411480" y="2050117"/>
            <a:ext cx="8229600" cy="3158387"/>
          </a:xfrm>
          <a:prstGeom prst="rect">
            <a:avLst/>
          </a:prstGeom>
          <a:noFill/>
          <a:ln>
            <a:noFill/>
          </a:ln>
        </p:spPr>
      </p:pic>
      <p:sp>
        <p:nvSpPr>
          <p:cNvPr id="5001" name="Text 5001"/>
          <p:cNvSpPr txBox="1"/>
          <p:nvPr/>
        </p:nvSpPr>
        <p:spPr>
          <a:xfrm>
            <a:off x="2069757" y="1638637"/>
            <a:ext cx="731520" cy="36576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700" b="1" i="0" u="none" strike="noStrike" cap="none">
                <a:solidFill>
                  <a:srgbClr val="800000"/>
                </a:solidFill>
                <a:latin typeface="Arial"/>
                <a:ea typeface="Arial"/>
                <a:cs typeface="Arial"/>
                <a:sym typeface="Arial"/>
              </a:rPr>
              <a:t>M0</a:t>
            </a:r>
          </a:p>
        </p:txBody>
      </p:sp>
      <p:sp>
        <p:nvSpPr>
          <p:cNvPr id="5002" name="Text 5002"/>
          <p:cNvSpPr txBox="1"/>
          <p:nvPr/>
        </p:nvSpPr>
        <p:spPr>
          <a:xfrm>
            <a:off x="3008376" y="1638637"/>
            <a:ext cx="731520" cy="36576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700" b="1" i="0" u="none" strike="noStrike" cap="none">
                <a:solidFill>
                  <a:srgbClr val="800000"/>
                </a:solidFill>
                <a:latin typeface="Arial"/>
                <a:ea typeface="Arial"/>
                <a:cs typeface="Arial"/>
                <a:sym typeface="Arial"/>
              </a:rPr>
              <a:t>M1</a:t>
            </a:r>
          </a:p>
        </p:txBody>
      </p:sp>
      <p:sp>
        <p:nvSpPr>
          <p:cNvPr id="5003" name="Text 5003"/>
          <p:cNvSpPr txBox="1"/>
          <p:nvPr/>
        </p:nvSpPr>
        <p:spPr>
          <a:xfrm>
            <a:off x="3953668" y="1638637"/>
            <a:ext cx="731520" cy="36576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700" b="1" i="0" u="none" strike="noStrike" cap="none">
                <a:solidFill>
                  <a:srgbClr val="800000"/>
                </a:solidFill>
                <a:latin typeface="Arial"/>
                <a:ea typeface="Arial"/>
                <a:cs typeface="Arial"/>
                <a:sym typeface="Arial"/>
              </a:rPr>
              <a:t>M2</a:t>
            </a:r>
          </a:p>
        </p:txBody>
      </p:sp>
      <p:sp>
        <p:nvSpPr>
          <p:cNvPr id="5004" name="Text 5004"/>
          <p:cNvSpPr txBox="1"/>
          <p:nvPr/>
        </p:nvSpPr>
        <p:spPr>
          <a:xfrm>
            <a:off x="4901184" y="1638637"/>
            <a:ext cx="731520" cy="36576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700" b="1" i="0" u="none" strike="noStrike" cap="none">
                <a:solidFill>
                  <a:srgbClr val="6A3D9A"/>
                </a:solidFill>
                <a:latin typeface="Arial"/>
                <a:ea typeface="Arial"/>
                <a:cs typeface="Arial"/>
                <a:sym typeface="Arial"/>
              </a:rPr>
              <a:t>M3</a:t>
            </a:r>
          </a:p>
        </p:txBody>
      </p:sp>
      <p:sp>
        <p:nvSpPr>
          <p:cNvPr id="5005" name="Text 5005"/>
          <p:cNvSpPr txBox="1"/>
          <p:nvPr/>
        </p:nvSpPr>
        <p:spPr>
          <a:xfrm>
            <a:off x="5839803" y="1638637"/>
            <a:ext cx="731520" cy="36576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700" b="1" i="0" u="none" strike="noStrike" cap="none">
                <a:solidFill>
                  <a:srgbClr val="6A3D9A"/>
                </a:solidFill>
                <a:latin typeface="Arial"/>
                <a:ea typeface="Arial"/>
                <a:cs typeface="Arial"/>
                <a:sym typeface="Arial"/>
              </a:rPr>
              <a:t>M4</a:t>
            </a:r>
          </a:p>
        </p:txBody>
      </p:sp>
      <p:sp>
        <p:nvSpPr>
          <p:cNvPr id="5006" name="Text 5006"/>
          <p:cNvSpPr txBox="1"/>
          <p:nvPr/>
        </p:nvSpPr>
        <p:spPr>
          <a:xfrm>
            <a:off x="6787319" y="1638637"/>
            <a:ext cx="731520" cy="36576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700" b="1" i="0" u="none" strike="noStrike" cap="none">
                <a:solidFill>
                  <a:srgbClr val="6A3D9A"/>
                </a:solidFill>
                <a:latin typeface="Arial"/>
                <a:ea typeface="Arial"/>
                <a:cs typeface="Arial"/>
                <a:sym typeface="Arial"/>
              </a:rPr>
              <a:t>M5</a:t>
            </a:r>
          </a:p>
        </p:txBody>
      </p:sp>
      <p:sp>
        <p:nvSpPr>
          <p:cNvPr id="5007" name="Text 5007"/>
          <p:cNvSpPr txBox="1"/>
          <p:nvPr/>
        </p:nvSpPr>
        <p:spPr>
          <a:xfrm>
            <a:off x="7732611" y="1638637"/>
            <a:ext cx="731520" cy="36576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None/>
            </a:pPr>
            <a:r>
              <a:rPr lang="en-US" sz="1700" b="1" i="0" u="none" strike="noStrike" cap="none">
                <a:solidFill>
                  <a:srgbClr val="6A3D9A"/>
                </a:solidFill>
                <a:latin typeface="Arial"/>
                <a:ea typeface="Arial"/>
                <a:cs typeface="Arial"/>
                <a:sym typeface="Arial"/>
              </a:rPr>
              <a:t>M6</a:t>
            </a:r>
          </a:p>
        </p:txBody>
      </p:sp>
      <p:sp>
        <p:nvSpPr>
          <p:cNvPr id="5008" name="Text 5008"/>
          <p:cNvSpPr txBox="1"/>
          <p:nvPr/>
        </p:nvSpPr>
        <p:spPr>
          <a:xfrm>
            <a:off x="8915400" y="1984167"/>
            <a:ext cx="2788920" cy="14630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50" b="1" i="0" u="none" strike="noStrike" cap="none">
                <a:solidFill>
                  <a:srgbClr val="245D68"/>
                </a:solidFill>
                <a:latin typeface="Arial"/>
                <a:ea typeface="Arial"/>
                <a:cs typeface="Arial"/>
                <a:sym typeface="Arial"/>
              </a:rPr>
              <a:t>Reading the network</a:t>
            </a:r>
          </a:p>
          <a:p>
            <a:pPr marL="0" marR="0" lvl="0" indent="0" algn="l" rtl="0">
              <a:lnSpc>
                <a:spcPct val="108000"/>
              </a:lnSpc>
              <a:spcBef>
                <a:spcPts val="200"/>
              </a:spcBef>
              <a:spcAft>
                <a:spcPts val="0"/>
              </a:spcAft>
              <a:buNone/>
            </a:pPr>
            <a:r>
              <a:rPr lang="en-US" sz="1200" b="0" i="0" u="none" strike="noStrike" cap="none">
                <a:solidFill>
                  <a:srgbClr val="21252B"/>
                </a:solidFill>
                <a:latin typeface="Arial"/>
                <a:ea typeface="Arial"/>
                <a:cs typeface="Arial"/>
                <a:sym typeface="Arial"/>
              </a:rPr>
              <a:t>Green arrows: net conformational exchange between macrostates. Width: size of the net current.</a:t>
            </a:r>
          </a:p>
        </p:txBody>
      </p:sp>
      <p:sp>
        <p:nvSpPr>
          <p:cNvPr id="5009" name="Text 5009"/>
          <p:cNvSpPr txBox="1"/>
          <p:nvPr/>
        </p:nvSpPr>
        <p:spPr>
          <a:xfrm>
            <a:off x="8915400" y="3465495"/>
            <a:ext cx="2788920" cy="14630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50" b="1" i="0" u="none" strike="noStrike" cap="none">
                <a:solidFill>
                  <a:srgbClr val="245D68"/>
                </a:solidFill>
                <a:latin typeface="Arial"/>
                <a:ea typeface="Arial"/>
                <a:cs typeface="Arial"/>
                <a:sym typeface="Arial"/>
              </a:rPr>
              <a:t>Result</a:t>
            </a:r>
          </a:p>
          <a:p>
            <a:pPr marL="0" marR="0" lvl="0" indent="0" algn="l" rtl="0">
              <a:lnSpc>
                <a:spcPct val="108000"/>
              </a:lnSpc>
              <a:spcBef>
                <a:spcPts val="200"/>
              </a:spcBef>
              <a:spcAft>
                <a:spcPts val="0"/>
              </a:spcAft>
              <a:buNone/>
            </a:pPr>
            <a:r>
              <a:rPr lang="en-US" sz="1200" b="0" i="0" u="none" strike="noStrike" cap="none">
                <a:solidFill>
                  <a:srgbClr val="21252B"/>
                </a:solidFill>
                <a:latin typeface="Arial"/>
                <a:ea typeface="Arial"/>
                <a:cs typeface="Arial"/>
                <a:sym typeface="Arial"/>
              </a:rPr>
              <a:t>Every macrostate appears in the associated tier; exchange is strongest between M2 and M5.</a:t>
            </a:r>
          </a:p>
        </p:txBody>
      </p:sp>
      <p:sp>
        <p:nvSpPr>
          <p:cNvPr id="5011" name="Shape 5011"/>
          <p:cNvSpPr/>
          <p:nvPr/>
        </p:nvSpPr>
        <p:spPr>
          <a:xfrm>
            <a:off x="502920" y="5971032"/>
            <a:ext cx="11155680" cy="356616"/>
          </a:xfrm>
          <a:prstGeom prst="rect">
            <a:avLst/>
          </a:prstGeom>
          <a:solidFill>
            <a:srgbClr val="EFF5F6"/>
          </a:solidFill>
          <a:ln>
            <a:noFill/>
          </a:ln>
        </p:spPr>
        <p:txBody>
          <a:bodyPr spcFirstLastPara="1" wrap="square" lIns="45720" tIns="0" rIns="45720" bIns="0" anchor="ctr" anchorCtr="0">
            <a:noAutofit/>
          </a:bodyPr>
          <a:lstStyle/>
          <a:p>
            <a:pPr marL="0" marR="0" lvl="0" indent="0" algn="l" rtl="0">
              <a:lnSpc>
                <a:spcPct val="108000"/>
              </a:lnSpc>
              <a:spcBef>
                <a:spcPts val="0"/>
              </a:spcBef>
              <a:spcAft>
                <a:spcPts val="0"/>
              </a:spcAft>
              <a:buNone/>
            </a:pPr>
            <a:r>
              <a:rPr lang="en-US" sz="1600" b="1" i="0" u="none" strike="noStrike" cap="none" dirty="0">
                <a:solidFill>
                  <a:srgbClr val="245D68"/>
                </a:solidFill>
                <a:latin typeface="Arial"/>
                <a:ea typeface="Arial"/>
                <a:cs typeface="Arial"/>
                <a:sym typeface="Arial"/>
              </a:rPr>
              <a:t>The gate opens and closes throughout binding</a:t>
            </a:r>
          </a:p>
        </p:txBody>
      </p:sp>
      <p:sp>
        <p:nvSpPr>
          <p:cNvPr id="5028" name="Shape 5028"/>
          <p:cNvSpPr/>
          <p:nvPr/>
        </p:nvSpPr>
        <p:spPr>
          <a:xfrm>
            <a:off x="10378440" y="246888"/>
            <a:ext cx="1280160" cy="274320"/>
          </a:xfrm>
          <a:prstGeom prst="roundRect">
            <a:avLst>
              <a:gd name="adj" fmla="val 50000"/>
            </a:avLst>
          </a:prstGeom>
          <a:solidFill>
            <a:srgbClr val="EFF5F6"/>
          </a:solidFill>
          <a:ln w="12700">
            <a:solidFill>
              <a:srgbClr val="9FC1C7"/>
            </a:solid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000" b="1" i="0" u="none" strike="noStrike" cap="none">
                <a:solidFill>
                  <a:srgbClr val="245D68"/>
                </a:solidFill>
                <a:latin typeface="Arial"/>
                <a:ea typeface="Arial"/>
                <a:cs typeface="Arial"/>
                <a:sym typeface="Arial"/>
              </a:rPr>
              <a:t>Geom2Vec · SPIB</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88"/>
        <p:cNvGrpSpPr/>
        <p:nvPr/>
      </p:nvGrpSpPr>
      <p:grpSpPr>
        <a:xfrm>
          <a:off x="0" y="0"/>
          <a:ext cx="0" cy="0"/>
          <a:chOff x="0" y="0"/>
          <a:chExt cx="0" cy="0"/>
        </a:xfrm>
      </p:grpSpPr>
      <p:sp>
        <p:nvSpPr>
          <p:cNvPr id="689" name="Google Shape;689;p37"/>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LIMITATIONS AND FUTURE DIRECTIONS</a:t>
            </a:r>
            <a:endParaRPr/>
          </a:p>
        </p:txBody>
      </p:sp>
      <p:sp>
        <p:nvSpPr>
          <p:cNvPr id="690" name="Google Shape;690;p37"/>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What the evidence supports, and what it does not yet</a:t>
            </a:r>
            <a:endParaRPr/>
          </a:p>
        </p:txBody>
      </p:sp>
      <p:cxnSp>
        <p:nvCxnSpPr>
          <p:cNvPr id="691" name="Google Shape;691;p37"/>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692" name="Google Shape;692;p37"/>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Dissertation Ch. 7 (statistical scope) and Ch. 8 (synthesis and outlook).</a:t>
            </a:r>
          </a:p>
        </p:txBody>
      </p:sp>
      <p:sp>
        <p:nvSpPr>
          <p:cNvPr id="693" name="Google Shape;693;p37"/>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35 / 37</a:t>
            </a:r>
            <a:endParaRPr/>
          </a:p>
        </p:txBody>
      </p:sp>
      <p:sp>
        <p:nvSpPr>
          <p:cNvPr id="5001" name="Text 5001"/>
          <p:cNvSpPr txBox="1"/>
          <p:nvPr/>
        </p:nvSpPr>
        <p:spPr>
          <a:xfrm>
            <a:off x="548640" y="1417320"/>
            <a:ext cx="5394960" cy="36576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800" b="1" i="0" u="none" strike="noStrike" cap="none">
                <a:solidFill>
                  <a:srgbClr val="800000"/>
                </a:solidFill>
                <a:latin typeface="Arial"/>
                <a:ea typeface="Arial"/>
                <a:cs typeface="Arial"/>
                <a:sym typeface="Arial"/>
              </a:rPr>
              <a:t>Limitations</a:t>
            </a:r>
          </a:p>
        </p:txBody>
      </p:sp>
      <p:sp>
        <p:nvSpPr>
          <p:cNvPr id="5002" name="Shape 5002"/>
          <p:cNvSpPr/>
          <p:nvPr/>
        </p:nvSpPr>
        <p:spPr>
          <a:xfrm>
            <a:off x="548640" y="1956816"/>
            <a:ext cx="310896" cy="310896"/>
          </a:xfrm>
          <a:prstGeom prst="ellipse">
            <a:avLst/>
          </a:prstGeom>
          <a:solidFill>
            <a:srgbClr val="800000"/>
          </a:solidFill>
          <a:ln>
            <a:no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200" b="1" i="0" u="none" strike="noStrike" cap="none">
                <a:solidFill>
                  <a:srgbClr val="FFFFFF"/>
                </a:solidFill>
                <a:latin typeface="Arial"/>
                <a:ea typeface="Arial"/>
                <a:cs typeface="Arial"/>
                <a:sym typeface="Arial"/>
              </a:rPr>
              <a:t>1</a:t>
            </a:r>
          </a:p>
        </p:txBody>
      </p:sp>
      <p:sp>
        <p:nvSpPr>
          <p:cNvPr id="5003" name="Text 5003"/>
          <p:cNvSpPr txBox="1"/>
          <p:nvPr/>
        </p:nvSpPr>
        <p:spPr>
          <a:xfrm>
            <a:off x="1005840" y="1920240"/>
            <a:ext cx="4892040" cy="11430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400" b="1" i="0" u="none" strike="noStrike" cap="none">
                <a:solidFill>
                  <a:srgbClr val="21252B"/>
                </a:solidFill>
                <a:latin typeface="Arial"/>
                <a:ea typeface="Arial"/>
                <a:cs typeface="Arial"/>
                <a:sym typeface="Arial"/>
              </a:rPr>
              <a:t>Statistical scope</a:t>
            </a:r>
          </a:p>
          <a:p>
            <a:pPr marL="0" marR="0" lvl="0" indent="0" algn="l" rtl="0">
              <a:lnSpc>
                <a:spcPct val="108000"/>
              </a:lnSpc>
              <a:spcBef>
                <a:spcPts val="200"/>
              </a:spcBef>
              <a:spcAft>
                <a:spcPts val="0"/>
              </a:spcAft>
              <a:buNone/>
            </a:pPr>
            <a:r>
              <a:rPr lang="en-US" sz="1250" b="0" i="0" u="none" strike="noStrike" cap="none">
                <a:solidFill>
                  <a:srgbClr val="21252B"/>
                </a:solidFill>
                <a:latin typeface="Arial"/>
                <a:ea typeface="Arial"/>
                <a:cs typeface="Arial"/>
                <a:sym typeface="Arial"/>
              </a:rPr>
              <a:t>Pooled frames from adaptive sampling are not equilibrium samples; populations, free energies and rates need reweighting or independent validation.</a:t>
            </a:r>
          </a:p>
        </p:txBody>
      </p:sp>
      <p:sp>
        <p:nvSpPr>
          <p:cNvPr id="5004" name="Shape 5004"/>
          <p:cNvSpPr/>
          <p:nvPr/>
        </p:nvSpPr>
        <p:spPr>
          <a:xfrm>
            <a:off x="548640" y="3255264"/>
            <a:ext cx="310896" cy="310896"/>
          </a:xfrm>
          <a:prstGeom prst="ellipse">
            <a:avLst/>
          </a:prstGeom>
          <a:solidFill>
            <a:srgbClr val="800000"/>
          </a:solidFill>
          <a:ln>
            <a:no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200" b="1" i="0" u="none" strike="noStrike" cap="none">
                <a:solidFill>
                  <a:srgbClr val="FFFFFF"/>
                </a:solidFill>
                <a:latin typeface="Arial"/>
                <a:ea typeface="Arial"/>
                <a:cs typeface="Arial"/>
                <a:sym typeface="Arial"/>
              </a:rPr>
              <a:t>2</a:t>
            </a:r>
          </a:p>
        </p:txBody>
      </p:sp>
      <p:sp>
        <p:nvSpPr>
          <p:cNvPr id="5005" name="Text 5005"/>
          <p:cNvSpPr txBox="1"/>
          <p:nvPr/>
        </p:nvSpPr>
        <p:spPr>
          <a:xfrm>
            <a:off x="1005840" y="3218688"/>
            <a:ext cx="4892040" cy="11430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altLang="zh-CN" sz="1400" b="1" i="0" u="none" strike="noStrike" cap="none" dirty="0">
                <a:solidFill>
                  <a:srgbClr val="21252B"/>
                </a:solidFill>
                <a:latin typeface="Arial"/>
                <a:ea typeface="Arial"/>
                <a:cs typeface="Arial"/>
                <a:sym typeface="Arial"/>
              </a:rPr>
              <a:t>Force </a:t>
            </a:r>
            <a:r>
              <a:rPr lang="en-US" altLang="zh-CN" b="1" dirty="0">
                <a:solidFill>
                  <a:srgbClr val="21252B"/>
                </a:solidFill>
              </a:rPr>
              <a:t>field fidelity</a:t>
            </a:r>
          </a:p>
          <a:p>
            <a:pPr marL="0" marR="0" lvl="0" indent="0" algn="l" rtl="0">
              <a:lnSpc>
                <a:spcPct val="108000"/>
              </a:lnSpc>
              <a:spcBef>
                <a:spcPts val="0"/>
              </a:spcBef>
              <a:spcAft>
                <a:spcPts val="0"/>
              </a:spcAft>
              <a:buNone/>
            </a:pPr>
            <a:r>
              <a:rPr lang="en-US" sz="1250" b="0" i="0" u="none" strike="noStrike" cap="none" dirty="0">
                <a:solidFill>
                  <a:srgbClr val="21252B"/>
                </a:solidFill>
                <a:latin typeface="Arial"/>
                <a:ea typeface="Arial"/>
                <a:cs typeface="Arial"/>
                <a:sym typeface="Arial"/>
              </a:rPr>
              <a:t>The quality of potential function limits the correct distribution that we are sampling from.</a:t>
            </a:r>
          </a:p>
        </p:txBody>
      </p:sp>
      <p:sp>
        <p:nvSpPr>
          <p:cNvPr id="5008" name="Text 5008"/>
          <p:cNvSpPr txBox="1"/>
          <p:nvPr/>
        </p:nvSpPr>
        <p:spPr>
          <a:xfrm>
            <a:off x="6263640" y="1417320"/>
            <a:ext cx="5394960" cy="36576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800" b="1" i="0" u="none" strike="noStrike" cap="none">
                <a:solidFill>
                  <a:srgbClr val="245D68"/>
                </a:solidFill>
                <a:latin typeface="Arial"/>
                <a:ea typeface="Arial"/>
                <a:cs typeface="Arial"/>
                <a:sym typeface="Arial"/>
              </a:rPr>
              <a:t>Future directions</a:t>
            </a:r>
          </a:p>
        </p:txBody>
      </p:sp>
      <p:sp>
        <p:nvSpPr>
          <p:cNvPr id="5009" name="Shape 5009"/>
          <p:cNvSpPr/>
          <p:nvPr/>
        </p:nvSpPr>
        <p:spPr>
          <a:xfrm>
            <a:off x="6263640" y="1956816"/>
            <a:ext cx="310896" cy="310896"/>
          </a:xfrm>
          <a:prstGeom prst="ellipse">
            <a:avLst/>
          </a:prstGeom>
          <a:solidFill>
            <a:srgbClr val="245D68"/>
          </a:solidFill>
          <a:ln>
            <a:no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200" b="1" i="0" u="none" strike="noStrike" cap="none">
                <a:solidFill>
                  <a:srgbClr val="FFFFFF"/>
                </a:solidFill>
                <a:latin typeface="Arial"/>
                <a:ea typeface="Arial"/>
                <a:cs typeface="Arial"/>
                <a:sym typeface="Arial"/>
              </a:rPr>
              <a:t>1</a:t>
            </a:r>
          </a:p>
        </p:txBody>
      </p:sp>
      <p:sp>
        <p:nvSpPr>
          <p:cNvPr id="5010" name="Text 5010"/>
          <p:cNvSpPr txBox="1"/>
          <p:nvPr/>
        </p:nvSpPr>
        <p:spPr>
          <a:xfrm>
            <a:off x="6720840" y="1920240"/>
            <a:ext cx="4892040" cy="11430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400" b="1" i="0" u="none" strike="noStrike" cap="none">
                <a:solidFill>
                  <a:srgbClr val="21252B"/>
                </a:solidFill>
                <a:latin typeface="Arial"/>
                <a:ea typeface="Arial"/>
                <a:cs typeface="Arial"/>
                <a:sym typeface="Arial"/>
              </a:rPr>
              <a:t>Estimators for adaptive data</a:t>
            </a:r>
          </a:p>
          <a:p>
            <a:pPr marL="0" marR="0" lvl="0" indent="0" algn="l" rtl="0">
              <a:lnSpc>
                <a:spcPct val="108000"/>
              </a:lnSpc>
              <a:spcBef>
                <a:spcPts val="200"/>
              </a:spcBef>
              <a:spcAft>
                <a:spcPts val="0"/>
              </a:spcAft>
              <a:buNone/>
            </a:pPr>
            <a:r>
              <a:rPr lang="en-US" sz="1250" b="0" i="0" u="none" strike="noStrike" cap="none">
                <a:solidFill>
                  <a:srgbClr val="21252B"/>
                </a:solidFill>
                <a:latin typeface="Arial"/>
                <a:ea typeface="Arial"/>
                <a:cs typeface="Arial"/>
                <a:sym typeface="Arial"/>
              </a:rPr>
              <a:t>Connect adaptive sampling to statistically justified equilibrium and kinetic estimators.</a:t>
            </a:r>
          </a:p>
        </p:txBody>
      </p:sp>
      <p:sp>
        <p:nvSpPr>
          <p:cNvPr id="5011" name="Shape 5011"/>
          <p:cNvSpPr/>
          <p:nvPr/>
        </p:nvSpPr>
        <p:spPr>
          <a:xfrm>
            <a:off x="6263640" y="3255264"/>
            <a:ext cx="310896" cy="310896"/>
          </a:xfrm>
          <a:prstGeom prst="ellipse">
            <a:avLst/>
          </a:prstGeom>
          <a:solidFill>
            <a:srgbClr val="245D68"/>
          </a:solidFill>
          <a:ln>
            <a:no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200" b="1" i="0" u="none" strike="noStrike" cap="none">
                <a:solidFill>
                  <a:srgbClr val="FFFFFF"/>
                </a:solidFill>
                <a:latin typeface="Arial"/>
                <a:ea typeface="Arial"/>
                <a:cs typeface="Arial"/>
                <a:sym typeface="Arial"/>
              </a:rPr>
              <a:t>2</a:t>
            </a:r>
          </a:p>
        </p:txBody>
      </p:sp>
      <p:sp>
        <p:nvSpPr>
          <p:cNvPr id="5012" name="Text 5012"/>
          <p:cNvSpPr txBox="1"/>
          <p:nvPr/>
        </p:nvSpPr>
        <p:spPr>
          <a:xfrm>
            <a:off x="6720840" y="3218688"/>
            <a:ext cx="4892040" cy="11430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400" b="1" i="0" u="none" strike="noStrike" cap="none">
                <a:solidFill>
                  <a:srgbClr val="21252B"/>
                </a:solidFill>
                <a:latin typeface="Arial"/>
                <a:ea typeface="Arial"/>
                <a:cs typeface="Arial"/>
                <a:sym typeface="Arial"/>
              </a:rPr>
              <a:t>Richer actions</a:t>
            </a:r>
          </a:p>
          <a:p>
            <a:pPr marL="0" marR="0" lvl="0" indent="0" algn="l" rtl="0">
              <a:lnSpc>
                <a:spcPct val="108000"/>
              </a:lnSpc>
              <a:spcBef>
                <a:spcPts val="200"/>
              </a:spcBef>
              <a:spcAft>
                <a:spcPts val="0"/>
              </a:spcAft>
              <a:buNone/>
            </a:pPr>
            <a:r>
              <a:rPr lang="en-US" sz="1250" b="0" i="0" u="none" strike="noStrike" cap="none">
                <a:solidFill>
                  <a:srgbClr val="21252B"/>
                </a:solidFill>
                <a:latin typeface="Arial"/>
                <a:ea typeface="Arial"/>
                <a:cs typeface="Arial"/>
                <a:sym typeface="Arial"/>
              </a:rPr>
              <a:t>Let the policy also choose resolution, number of trajectories and duration.</a:t>
            </a:r>
          </a:p>
        </p:txBody>
      </p:sp>
      <p:sp>
        <p:nvSpPr>
          <p:cNvPr id="5013" name="Shape 5013"/>
          <p:cNvSpPr/>
          <p:nvPr/>
        </p:nvSpPr>
        <p:spPr>
          <a:xfrm>
            <a:off x="6263640" y="4553712"/>
            <a:ext cx="310896" cy="310896"/>
          </a:xfrm>
          <a:prstGeom prst="ellipse">
            <a:avLst/>
          </a:prstGeom>
          <a:solidFill>
            <a:srgbClr val="245D68"/>
          </a:solidFill>
          <a:ln>
            <a:noFill/>
          </a:ln>
        </p:spPr>
        <p:txBody>
          <a:bodyPr spcFirstLastPara="1" wrap="square" lIns="45720" tIns="0" rIns="45720" bIns="0" anchor="ctr" anchorCtr="0">
            <a:noAutofit/>
          </a:bodyPr>
          <a:lstStyle/>
          <a:p>
            <a:pPr marL="0" marR="0" lvl="0" indent="0" algn="ctr" rtl="0">
              <a:lnSpc>
                <a:spcPct val="108000"/>
              </a:lnSpc>
              <a:spcBef>
                <a:spcPts val="0"/>
              </a:spcBef>
              <a:spcAft>
                <a:spcPts val="0"/>
              </a:spcAft>
              <a:buNone/>
            </a:pPr>
            <a:r>
              <a:rPr lang="en-US" sz="1200" b="1" i="0" u="none" strike="noStrike" cap="none">
                <a:solidFill>
                  <a:srgbClr val="FFFFFF"/>
                </a:solidFill>
                <a:latin typeface="Arial"/>
                <a:ea typeface="Arial"/>
                <a:cs typeface="Arial"/>
                <a:sym typeface="Arial"/>
              </a:rPr>
              <a:t>3</a:t>
            </a:r>
          </a:p>
        </p:txBody>
      </p:sp>
      <p:sp>
        <p:nvSpPr>
          <p:cNvPr id="5014" name="Text 5014"/>
          <p:cNvSpPr txBox="1"/>
          <p:nvPr/>
        </p:nvSpPr>
        <p:spPr>
          <a:xfrm>
            <a:off x="6720840" y="4517136"/>
            <a:ext cx="4892040" cy="11430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400" b="1" i="0" u="none" strike="noStrike" cap="none">
                <a:solidFill>
                  <a:srgbClr val="21252B"/>
                </a:solidFill>
                <a:latin typeface="Arial"/>
                <a:ea typeface="Arial"/>
                <a:cs typeface="Arial"/>
                <a:sym typeface="Arial"/>
              </a:rPr>
              <a:t>Generators with kinetic feedback</a:t>
            </a:r>
          </a:p>
          <a:p>
            <a:pPr marL="0" marR="0" lvl="0" indent="0" algn="l" rtl="0">
              <a:lnSpc>
                <a:spcPct val="108000"/>
              </a:lnSpc>
              <a:spcBef>
                <a:spcPts val="200"/>
              </a:spcBef>
              <a:spcAft>
                <a:spcPts val="0"/>
              </a:spcAft>
              <a:buNone/>
            </a:pPr>
            <a:r>
              <a:rPr lang="en-US" sz="1250" b="0" i="0" u="none" strike="noStrike" cap="none">
                <a:solidFill>
                  <a:srgbClr val="21252B"/>
                </a:solidFill>
                <a:latin typeface="Arial"/>
                <a:ea typeface="Arial"/>
                <a:cs typeface="Arial"/>
                <a:sym typeface="Arial"/>
              </a:rPr>
              <a:t>Post-train structure predictors toward initial conformations that are informative under the dynamics.</a:t>
            </a:r>
          </a:p>
        </p:txBody>
      </p:sp>
      <p:sp>
        <p:nvSpPr>
          <p:cNvPr id="5015" name="Shape 5015"/>
          <p:cNvSpPr/>
          <p:nvPr/>
        </p:nvSpPr>
        <p:spPr>
          <a:xfrm>
            <a:off x="5989320" y="1463040"/>
            <a:ext cx="18288" cy="4023360"/>
          </a:xfrm>
          <a:prstGeom prst="rect">
            <a:avLst/>
          </a:prstGeom>
          <a:solidFill>
            <a:srgbClr val="D5DCE2"/>
          </a:solidFill>
          <a:ln>
            <a:noFill/>
          </a:ln>
        </p:spPr>
        <p:txBody>
          <a:bodyPr spcFirstLastPara="1" wrap="square" lIns="45720" tIns="0" rIns="45720" bIns="0" anchor="ctr" anchorCtr="0">
            <a:noAutofit/>
          </a:bodyPr>
          <a:lstStyle/>
          <a:p>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09"/>
        <p:cNvGrpSpPr/>
        <p:nvPr/>
      </p:nvGrpSpPr>
      <p:grpSpPr>
        <a:xfrm>
          <a:off x="0" y="0"/>
          <a:ext cx="0" cy="0"/>
          <a:chOff x="0" y="0"/>
          <a:chExt cx="0" cy="0"/>
        </a:xfrm>
      </p:grpSpPr>
      <p:sp>
        <p:nvSpPr>
          <p:cNvPr id="710" name="Google Shape;710;p38"/>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THESIS SYNTHESIS</a:t>
            </a:r>
            <a:endParaRPr/>
          </a:p>
        </p:txBody>
      </p:sp>
      <p:sp>
        <p:nvSpPr>
          <p:cNvPr id="711" name="Google Shape;711;p38"/>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Representation and reinforcement learning meet at kinetics</a:t>
            </a:r>
            <a:endParaRPr/>
          </a:p>
        </p:txBody>
      </p:sp>
      <p:cxnSp>
        <p:nvCxnSpPr>
          <p:cNvPr id="712" name="Google Shape;712;p38"/>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713" name="Google Shape;713;p38"/>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Dissertation Ch. 1 and Ch. 8. Geom2Vec: Pengmei et al., J. Chem. Phys. (2025); GESPO: Pengmei et al. (manuscript, 2026).</a:t>
            </a:r>
          </a:p>
        </p:txBody>
      </p:sp>
      <p:sp>
        <p:nvSpPr>
          <p:cNvPr id="714" name="Google Shape;714;p38"/>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36 / 37</a:t>
            </a:r>
            <a:endParaRPr/>
          </a:p>
        </p:txBody>
      </p:sp>
      <p:sp>
        <p:nvSpPr>
          <p:cNvPr id="715" name="Google Shape;715;p38"/>
          <p:cNvSpPr/>
          <p:nvPr/>
        </p:nvSpPr>
        <p:spPr>
          <a:xfrm>
            <a:off x="914400" y="1709928"/>
            <a:ext cx="3823106" cy="1371600"/>
          </a:xfrm>
          <a:prstGeom prst="roundRect">
            <a:avLst>
              <a:gd name="adj" fmla="val 9000"/>
            </a:avLst>
          </a:prstGeom>
          <a:solidFill>
            <a:srgbClr val="F6EEEE"/>
          </a:solidFill>
          <a:ln w="10150" cap="flat" cmpd="sng">
            <a:solidFill>
              <a:srgbClr val="CFD5D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16" name="Google Shape;716;p38"/>
          <p:cNvSpPr txBox="1"/>
          <p:nvPr/>
        </p:nvSpPr>
        <p:spPr>
          <a:xfrm>
            <a:off x="1051560" y="1828800"/>
            <a:ext cx="3548786" cy="36576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800" b="1" i="0" u="none" strike="noStrike" cap="none">
                <a:solidFill>
                  <a:srgbClr val="21252B"/>
                </a:solidFill>
                <a:latin typeface="Arial"/>
                <a:ea typeface="Arial"/>
                <a:cs typeface="Arial"/>
                <a:sym typeface="Arial"/>
              </a:rPr>
              <a:t>Geometric representation</a:t>
            </a:r>
            <a:endParaRPr/>
          </a:p>
        </p:txBody>
      </p:sp>
      <p:sp>
        <p:nvSpPr>
          <p:cNvPr id="717" name="Google Shape;717;p38"/>
          <p:cNvSpPr txBox="1"/>
          <p:nvPr/>
        </p:nvSpPr>
        <p:spPr>
          <a:xfrm>
            <a:off x="1078992" y="2221992"/>
            <a:ext cx="3493922" cy="82296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400" b="0" i="0" u="none" strike="noStrike" cap="none">
                <a:solidFill>
                  <a:srgbClr val="59616B"/>
                </a:solidFill>
                <a:latin typeface="Arial"/>
                <a:ea typeface="Arial"/>
                <a:cs typeface="Arial"/>
                <a:sym typeface="Arial"/>
              </a:rPr>
              <a:t>Pretrained all-atom encoders map each configuration to transferable, multiscale features</a:t>
            </a:r>
            <a:endParaRPr/>
          </a:p>
        </p:txBody>
      </p:sp>
      <p:sp>
        <p:nvSpPr>
          <p:cNvPr id="718" name="Google Shape;718;p38"/>
          <p:cNvSpPr/>
          <p:nvPr/>
        </p:nvSpPr>
        <p:spPr>
          <a:xfrm>
            <a:off x="7424013" y="1709928"/>
            <a:ext cx="3823106" cy="1371600"/>
          </a:xfrm>
          <a:prstGeom prst="roundRect">
            <a:avLst>
              <a:gd name="adj" fmla="val 9000"/>
            </a:avLst>
          </a:prstGeom>
          <a:solidFill>
            <a:srgbClr val="EFF5F6"/>
          </a:solidFill>
          <a:ln w="10150" cap="flat" cmpd="sng">
            <a:solidFill>
              <a:srgbClr val="CFD5D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19" name="Google Shape;719;p38"/>
          <p:cNvSpPr txBox="1"/>
          <p:nvPr/>
        </p:nvSpPr>
        <p:spPr>
          <a:xfrm>
            <a:off x="7561173" y="1828800"/>
            <a:ext cx="3548786" cy="36576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800" b="1" i="0" u="none" strike="noStrike" cap="none">
                <a:solidFill>
                  <a:srgbClr val="21252B"/>
                </a:solidFill>
                <a:latin typeface="Arial"/>
                <a:ea typeface="Arial"/>
                <a:cs typeface="Arial"/>
                <a:sym typeface="Arial"/>
              </a:rPr>
              <a:t>Kinetic model</a:t>
            </a:r>
            <a:endParaRPr/>
          </a:p>
        </p:txBody>
      </p:sp>
      <p:sp>
        <p:nvSpPr>
          <p:cNvPr id="720" name="Google Shape;720;p38"/>
          <p:cNvSpPr txBox="1"/>
          <p:nvPr/>
        </p:nvSpPr>
        <p:spPr>
          <a:xfrm>
            <a:off x="7588605" y="2221992"/>
            <a:ext cx="3493922" cy="82296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400" b="0" i="0" u="none" strike="noStrike" cap="none">
                <a:solidFill>
                  <a:srgbClr val="59616B"/>
                </a:solidFill>
                <a:latin typeface="Arial"/>
                <a:ea typeface="Arial"/>
                <a:cs typeface="Arial"/>
                <a:sym typeface="Arial"/>
              </a:rPr>
              <a:t>Time-lagged objectives (VAMP, SPIB) learn slow coordinates and metastable states</a:t>
            </a:r>
            <a:endParaRPr/>
          </a:p>
        </p:txBody>
      </p:sp>
      <p:sp>
        <p:nvSpPr>
          <p:cNvPr id="721" name="Google Shape;721;p38"/>
          <p:cNvSpPr/>
          <p:nvPr/>
        </p:nvSpPr>
        <p:spPr>
          <a:xfrm>
            <a:off x="914400" y="4334256"/>
            <a:ext cx="3823106" cy="1371600"/>
          </a:xfrm>
          <a:prstGeom prst="roundRect">
            <a:avLst>
              <a:gd name="adj" fmla="val 9000"/>
            </a:avLst>
          </a:prstGeom>
          <a:solidFill>
            <a:srgbClr val="F5F6F8"/>
          </a:solidFill>
          <a:ln w="10150" cap="flat" cmpd="sng">
            <a:solidFill>
              <a:srgbClr val="CFD5D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22" name="Google Shape;722;p38"/>
          <p:cNvSpPr txBox="1"/>
          <p:nvPr/>
        </p:nvSpPr>
        <p:spPr>
          <a:xfrm>
            <a:off x="1051560" y="4453128"/>
            <a:ext cx="3548786" cy="36576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800" b="1" i="0" u="none" strike="noStrike" cap="none">
                <a:solidFill>
                  <a:srgbClr val="21252B"/>
                </a:solidFill>
                <a:latin typeface="Arial"/>
                <a:ea typeface="Arial"/>
                <a:cs typeface="Arial"/>
                <a:sym typeface="Arial"/>
              </a:rPr>
              <a:t>Unbiased molecular dynamics</a:t>
            </a:r>
            <a:endParaRPr/>
          </a:p>
        </p:txBody>
      </p:sp>
      <p:sp>
        <p:nvSpPr>
          <p:cNvPr id="723" name="Google Shape;723;p38"/>
          <p:cNvSpPr txBox="1"/>
          <p:nvPr/>
        </p:nvSpPr>
        <p:spPr>
          <a:xfrm>
            <a:off x="1078992" y="4846320"/>
            <a:ext cx="3493922" cy="82296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400" b="0" i="0" u="none" strike="noStrike" cap="none">
                <a:solidFill>
                  <a:srgbClr val="59616B"/>
                </a:solidFill>
                <a:latin typeface="Arial"/>
                <a:ea typeface="Arial"/>
                <a:cs typeface="Arial"/>
                <a:sym typeface="Arial"/>
              </a:rPr>
              <a:t>Short parallel trajectories propagate under a fixed force field</a:t>
            </a:r>
            <a:endParaRPr/>
          </a:p>
        </p:txBody>
      </p:sp>
      <p:sp>
        <p:nvSpPr>
          <p:cNvPr id="724" name="Google Shape;724;p38"/>
          <p:cNvSpPr/>
          <p:nvPr/>
        </p:nvSpPr>
        <p:spPr>
          <a:xfrm>
            <a:off x="7424013" y="4334256"/>
            <a:ext cx="3823106" cy="1371600"/>
          </a:xfrm>
          <a:prstGeom prst="roundRect">
            <a:avLst>
              <a:gd name="adj" fmla="val 9000"/>
            </a:avLst>
          </a:prstGeom>
          <a:solidFill>
            <a:srgbClr val="EFF5F6"/>
          </a:solidFill>
          <a:ln w="10150" cap="flat" cmpd="sng">
            <a:solidFill>
              <a:srgbClr val="CFD5D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25" name="Google Shape;725;p38"/>
          <p:cNvSpPr txBox="1"/>
          <p:nvPr/>
        </p:nvSpPr>
        <p:spPr>
          <a:xfrm>
            <a:off x="7561173" y="4453128"/>
            <a:ext cx="3548786" cy="36576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800" b="1" i="0" u="none" strike="noStrike" cap="none">
                <a:solidFill>
                  <a:srgbClr val="21252B"/>
                </a:solidFill>
                <a:latin typeface="Arial"/>
                <a:ea typeface="Arial"/>
                <a:cs typeface="Arial"/>
                <a:sym typeface="Arial"/>
              </a:rPr>
              <a:t>Generative sampling policy</a:t>
            </a:r>
            <a:endParaRPr/>
          </a:p>
        </p:txBody>
      </p:sp>
      <p:sp>
        <p:nvSpPr>
          <p:cNvPr id="726" name="Google Shape;726;p38"/>
          <p:cNvSpPr txBox="1"/>
          <p:nvPr/>
        </p:nvSpPr>
        <p:spPr>
          <a:xfrm>
            <a:off x="7588605" y="4846320"/>
            <a:ext cx="3493922" cy="82296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400" b="0" i="0" u="none" strike="noStrike" cap="none">
                <a:solidFill>
                  <a:srgbClr val="59616B"/>
                </a:solidFill>
                <a:latin typeface="Arial"/>
                <a:ea typeface="Arial"/>
                <a:cs typeface="Arial"/>
                <a:sym typeface="Arial"/>
              </a:rPr>
              <a:t>Learns a probability distribution over initial conformations to explore kinetically significant regions</a:t>
            </a:r>
            <a:endParaRPr/>
          </a:p>
        </p:txBody>
      </p:sp>
      <p:cxnSp>
        <p:nvCxnSpPr>
          <p:cNvPr id="727" name="Google Shape;727;p38"/>
          <p:cNvCxnSpPr/>
          <p:nvPr/>
        </p:nvCxnSpPr>
        <p:spPr>
          <a:xfrm>
            <a:off x="4737506" y="2395728"/>
            <a:ext cx="2686507" cy="0"/>
          </a:xfrm>
          <a:prstGeom prst="straightConnector1">
            <a:avLst/>
          </a:prstGeom>
          <a:noFill/>
          <a:ln w="21575" cap="flat" cmpd="sng">
            <a:solidFill>
              <a:srgbClr val="245D68"/>
            </a:solidFill>
            <a:prstDash val="solid"/>
            <a:round/>
            <a:headEnd type="none" w="sm" len="sm"/>
            <a:tailEnd type="triangle" w="sm" len="sm"/>
          </a:ln>
        </p:spPr>
      </p:cxnSp>
      <p:sp>
        <p:nvSpPr>
          <p:cNvPr id="728" name="Google Shape;728;p38"/>
          <p:cNvSpPr txBox="1"/>
          <p:nvPr/>
        </p:nvSpPr>
        <p:spPr>
          <a:xfrm>
            <a:off x="4783226" y="2487168"/>
            <a:ext cx="2595067" cy="530352"/>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300" b="0" i="0" u="none" strike="noStrike" cap="none">
                <a:solidFill>
                  <a:srgbClr val="59616B"/>
                </a:solidFill>
                <a:latin typeface="Arial"/>
                <a:ea typeface="Arial"/>
                <a:cs typeface="Arial"/>
                <a:sym typeface="Arial"/>
              </a:rPr>
              <a:t>structural</a:t>
            </a:r>
            <a:endParaRPr/>
          </a:p>
          <a:p>
            <a:pPr marL="0" marR="0" lvl="0" indent="0" algn="ctr" rtl="0">
              <a:lnSpc>
                <a:spcPct val="108000"/>
              </a:lnSpc>
              <a:spcBef>
                <a:spcPts val="0"/>
              </a:spcBef>
              <a:spcAft>
                <a:spcPts val="0"/>
              </a:spcAft>
              <a:buNone/>
            </a:pPr>
            <a:r>
              <a:rPr lang="en-US" sz="1300" b="0" i="0" u="none" strike="noStrike" cap="none">
                <a:solidFill>
                  <a:srgbClr val="59616B"/>
                </a:solidFill>
                <a:latin typeface="Arial"/>
                <a:ea typeface="Arial"/>
                <a:cs typeface="Arial"/>
                <a:sym typeface="Arial"/>
              </a:rPr>
              <a:t>embeddings</a:t>
            </a:r>
            <a:endParaRPr/>
          </a:p>
        </p:txBody>
      </p:sp>
      <p:cxnSp>
        <p:nvCxnSpPr>
          <p:cNvPr id="729" name="Google Shape;729;p38"/>
          <p:cNvCxnSpPr/>
          <p:nvPr/>
        </p:nvCxnSpPr>
        <p:spPr>
          <a:xfrm>
            <a:off x="9335566" y="3081528"/>
            <a:ext cx="0" cy="1252728"/>
          </a:xfrm>
          <a:prstGeom prst="straightConnector1">
            <a:avLst/>
          </a:prstGeom>
          <a:noFill/>
          <a:ln w="21575" cap="flat" cmpd="sng">
            <a:solidFill>
              <a:srgbClr val="245D68"/>
            </a:solidFill>
            <a:prstDash val="solid"/>
            <a:round/>
            <a:headEnd type="none" w="sm" len="sm"/>
            <a:tailEnd type="triangle" w="sm" len="sm"/>
          </a:ln>
        </p:spPr>
      </p:cxnSp>
      <p:sp>
        <p:nvSpPr>
          <p:cNvPr id="730" name="Google Shape;730;p38"/>
          <p:cNvSpPr txBox="1"/>
          <p:nvPr/>
        </p:nvSpPr>
        <p:spPr>
          <a:xfrm>
            <a:off x="9481870" y="3401568"/>
            <a:ext cx="2048713" cy="59436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300" b="0" i="0" u="none" strike="noStrike" cap="none">
                <a:solidFill>
                  <a:srgbClr val="59616B"/>
                </a:solidFill>
                <a:latin typeface="Arial"/>
                <a:ea typeface="Arial"/>
                <a:cs typeface="Arial"/>
                <a:sym typeface="Arial"/>
              </a:rPr>
              <a:t>trajectory-level</a:t>
            </a:r>
            <a:endParaRPr/>
          </a:p>
          <a:p>
            <a:pPr marL="0" marR="0" lvl="0" indent="0" algn="l" rtl="0">
              <a:lnSpc>
                <a:spcPct val="108000"/>
              </a:lnSpc>
              <a:spcBef>
                <a:spcPts val="0"/>
              </a:spcBef>
              <a:spcAft>
                <a:spcPts val="0"/>
              </a:spcAft>
              <a:buNone/>
            </a:pPr>
            <a:r>
              <a:rPr lang="en-US" sz="1300" b="0" i="0" u="none" strike="noStrike" cap="none">
                <a:solidFill>
                  <a:srgbClr val="59616B"/>
                </a:solidFill>
                <a:latin typeface="Arial"/>
                <a:ea typeface="Arial"/>
                <a:cs typeface="Arial"/>
                <a:sym typeface="Arial"/>
              </a:rPr>
              <a:t>rewards</a:t>
            </a:r>
            <a:endParaRPr/>
          </a:p>
        </p:txBody>
      </p:sp>
      <p:cxnSp>
        <p:nvCxnSpPr>
          <p:cNvPr id="731" name="Google Shape;731;p38"/>
          <p:cNvCxnSpPr/>
          <p:nvPr/>
        </p:nvCxnSpPr>
        <p:spPr>
          <a:xfrm rot="10800000">
            <a:off x="4737506" y="5020056"/>
            <a:ext cx="2686507" cy="0"/>
          </a:xfrm>
          <a:prstGeom prst="straightConnector1">
            <a:avLst/>
          </a:prstGeom>
          <a:noFill/>
          <a:ln w="21575" cap="flat" cmpd="sng">
            <a:solidFill>
              <a:srgbClr val="245D68"/>
            </a:solidFill>
            <a:prstDash val="solid"/>
            <a:round/>
            <a:headEnd type="none" w="sm" len="sm"/>
            <a:tailEnd type="triangle" w="sm" len="sm"/>
          </a:ln>
        </p:spPr>
      </p:cxnSp>
      <p:sp>
        <p:nvSpPr>
          <p:cNvPr id="732" name="Google Shape;732;p38"/>
          <p:cNvSpPr txBox="1"/>
          <p:nvPr/>
        </p:nvSpPr>
        <p:spPr>
          <a:xfrm>
            <a:off x="4783226" y="5111496"/>
            <a:ext cx="2595067" cy="530352"/>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300" b="0" i="0" u="none" strike="noStrike" cap="none">
                <a:solidFill>
                  <a:srgbClr val="59616B"/>
                </a:solidFill>
                <a:latin typeface="Arial"/>
                <a:ea typeface="Arial"/>
                <a:cs typeface="Arial"/>
                <a:sym typeface="Arial"/>
              </a:rPr>
              <a:t>sampled initial</a:t>
            </a:r>
            <a:endParaRPr/>
          </a:p>
          <a:p>
            <a:pPr marL="0" marR="0" lvl="0" indent="0" algn="ctr" rtl="0">
              <a:lnSpc>
                <a:spcPct val="108000"/>
              </a:lnSpc>
              <a:spcBef>
                <a:spcPts val="0"/>
              </a:spcBef>
              <a:spcAft>
                <a:spcPts val="0"/>
              </a:spcAft>
              <a:buNone/>
            </a:pPr>
            <a:r>
              <a:rPr lang="en-US" sz="1300" b="0" i="0" u="none" strike="noStrike" cap="none">
                <a:solidFill>
                  <a:srgbClr val="59616B"/>
                </a:solidFill>
                <a:latin typeface="Arial"/>
                <a:ea typeface="Arial"/>
                <a:cs typeface="Arial"/>
                <a:sym typeface="Arial"/>
              </a:rPr>
              <a:t>conformations</a:t>
            </a:r>
            <a:endParaRPr/>
          </a:p>
        </p:txBody>
      </p:sp>
      <p:cxnSp>
        <p:nvCxnSpPr>
          <p:cNvPr id="733" name="Google Shape;733;p38"/>
          <p:cNvCxnSpPr/>
          <p:nvPr/>
        </p:nvCxnSpPr>
        <p:spPr>
          <a:xfrm rot="10800000">
            <a:off x="2825953" y="3081528"/>
            <a:ext cx="0" cy="1252728"/>
          </a:xfrm>
          <a:prstGeom prst="straightConnector1">
            <a:avLst/>
          </a:prstGeom>
          <a:noFill/>
          <a:ln w="21575" cap="flat" cmpd="sng">
            <a:solidFill>
              <a:srgbClr val="245D68"/>
            </a:solidFill>
            <a:prstDash val="solid"/>
            <a:round/>
            <a:headEnd type="none" w="sm" len="sm"/>
            <a:tailEnd type="triangle" w="sm" len="sm"/>
          </a:ln>
        </p:spPr>
      </p:cxnSp>
      <p:sp>
        <p:nvSpPr>
          <p:cNvPr id="734" name="Google Shape;734;p38"/>
          <p:cNvSpPr txBox="1"/>
          <p:nvPr/>
        </p:nvSpPr>
        <p:spPr>
          <a:xfrm>
            <a:off x="941832" y="3401568"/>
            <a:ext cx="1774393" cy="56692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300" b="0" i="0" u="none" strike="noStrike" cap="none">
                <a:solidFill>
                  <a:srgbClr val="59616B"/>
                </a:solidFill>
                <a:latin typeface="Arial"/>
                <a:ea typeface="Arial"/>
                <a:cs typeface="Arial"/>
                <a:sym typeface="Arial"/>
              </a:rPr>
              <a:t>new trajectory</a:t>
            </a:r>
            <a:endParaRPr/>
          </a:p>
          <a:p>
            <a:pPr marL="0" marR="0" lvl="0" indent="0" algn="l" rtl="0">
              <a:lnSpc>
                <a:spcPct val="108000"/>
              </a:lnSpc>
              <a:spcBef>
                <a:spcPts val="0"/>
              </a:spcBef>
              <a:spcAft>
                <a:spcPts val="0"/>
              </a:spcAft>
              <a:buNone/>
            </a:pPr>
            <a:r>
              <a:rPr lang="en-US" sz="1300" b="0" i="0" u="none" strike="noStrike" cap="none">
                <a:solidFill>
                  <a:srgbClr val="59616B"/>
                </a:solidFill>
                <a:latin typeface="Arial"/>
                <a:ea typeface="Arial"/>
                <a:cs typeface="Arial"/>
                <a:sym typeface="Arial"/>
              </a:rPr>
              <a:t>data</a:t>
            </a:r>
            <a:endParaRPr/>
          </a:p>
        </p:txBody>
      </p:sp>
      <p:sp>
        <p:nvSpPr>
          <p:cNvPr id="735" name="Google Shape;735;p38"/>
          <p:cNvSpPr/>
          <p:nvPr/>
        </p:nvSpPr>
        <p:spPr>
          <a:xfrm>
            <a:off x="502920" y="5971032"/>
            <a:ext cx="11155680" cy="356616"/>
          </a:xfrm>
          <a:prstGeom prst="rect">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36" name="Google Shape;736;p38"/>
          <p:cNvSpPr txBox="1"/>
          <p:nvPr/>
        </p:nvSpPr>
        <p:spPr>
          <a:xfrm>
            <a:off x="658368" y="6021324"/>
            <a:ext cx="10844784" cy="289053"/>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739" b="1" i="0" u="none" strike="noStrike" cap="none" dirty="0">
                <a:solidFill>
                  <a:srgbClr val="245D68"/>
                </a:solidFill>
                <a:latin typeface="Arial"/>
                <a:ea typeface="Arial"/>
                <a:cs typeface="Arial"/>
                <a:sym typeface="Arial"/>
              </a:rPr>
              <a:t>Features retain slow motion; kinetic evidence decides where to sample.</a:t>
            </a: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41"/>
        <p:cNvGrpSpPr/>
        <p:nvPr/>
      </p:nvGrpSpPr>
      <p:grpSpPr>
        <a:xfrm>
          <a:off x="0" y="0"/>
          <a:ext cx="0" cy="0"/>
          <a:chOff x="0" y="0"/>
          <a:chExt cx="0" cy="0"/>
        </a:xfrm>
      </p:grpSpPr>
      <p:sp>
        <p:nvSpPr>
          <p:cNvPr id="742" name="Google Shape;742;p39"/>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ACKNOWLEDGMENTS</a:t>
            </a:r>
            <a:endParaRPr/>
          </a:p>
        </p:txBody>
      </p:sp>
      <p:sp>
        <p:nvSpPr>
          <p:cNvPr id="743" name="Google Shape;743;p39"/>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Thank you</a:t>
            </a:r>
            <a:endParaRPr/>
          </a:p>
        </p:txBody>
      </p:sp>
      <p:cxnSp>
        <p:nvCxnSpPr>
          <p:cNvPr id="744" name="Google Shape;744;p39"/>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745" name="Google Shape;745;p39"/>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Funding: NIH R35 GM136381; NSF DMS-2054306; UChicago Data Science Institute AI+Science Research Initiative; AWS.</a:t>
            </a:r>
          </a:p>
        </p:txBody>
      </p:sp>
      <p:sp>
        <p:nvSpPr>
          <p:cNvPr id="746" name="Google Shape;746;p39"/>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37 / 37</a:t>
            </a:r>
            <a:endParaRPr/>
          </a:p>
        </p:txBody>
      </p:sp>
      <p:sp>
        <p:nvSpPr>
          <p:cNvPr id="5017" name="Text 5017"/>
          <p:cNvSpPr txBox="1"/>
          <p:nvPr/>
        </p:nvSpPr>
        <p:spPr>
          <a:xfrm>
            <a:off x="731520" y="1463040"/>
            <a:ext cx="493776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2200" b="1" i="0" u="none" strike="noStrike" cap="none">
                <a:solidFill>
                  <a:srgbClr val="800000"/>
                </a:solidFill>
                <a:latin typeface="Arial"/>
                <a:ea typeface="Arial"/>
                <a:cs typeface="Arial"/>
                <a:sym typeface="Arial"/>
              </a:rPr>
              <a:t>Aaron R. Dinner</a:t>
            </a:r>
          </a:p>
        </p:txBody>
      </p:sp>
      <p:sp>
        <p:nvSpPr>
          <p:cNvPr id="5018" name="Text 5018"/>
          <p:cNvSpPr txBox="1"/>
          <p:nvPr/>
        </p:nvSpPr>
        <p:spPr>
          <a:xfrm>
            <a:off x="731520" y="1965960"/>
            <a:ext cx="4937760" cy="3200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400" b="0" i="0" u="none" strike="noStrike" cap="none">
                <a:solidFill>
                  <a:srgbClr val="59616B"/>
                </a:solidFill>
                <a:latin typeface="Arial"/>
                <a:ea typeface="Arial"/>
                <a:cs typeface="Arial"/>
                <a:sym typeface="Arial"/>
              </a:rPr>
              <a:t>Advisor</a:t>
            </a:r>
          </a:p>
        </p:txBody>
      </p:sp>
      <p:sp>
        <p:nvSpPr>
          <p:cNvPr id="5019" name="Text 5019"/>
          <p:cNvSpPr txBox="1"/>
          <p:nvPr/>
        </p:nvSpPr>
        <p:spPr>
          <a:xfrm>
            <a:off x="731520" y="2514600"/>
            <a:ext cx="4937760" cy="32004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400" b="1" i="0" u="none" strike="noStrike" cap="none">
                <a:solidFill>
                  <a:srgbClr val="245D68"/>
                </a:solidFill>
                <a:latin typeface="Arial"/>
                <a:ea typeface="Arial"/>
                <a:cs typeface="Arial"/>
                <a:sym typeface="Arial"/>
              </a:rPr>
              <a:t>Committee</a:t>
            </a:r>
          </a:p>
        </p:txBody>
      </p:sp>
      <p:sp>
        <p:nvSpPr>
          <p:cNvPr id="5020" name="Text 5020"/>
          <p:cNvSpPr txBox="1"/>
          <p:nvPr/>
        </p:nvSpPr>
        <p:spPr>
          <a:xfrm>
            <a:off x="731520" y="2834640"/>
            <a:ext cx="4937760" cy="822960"/>
          </a:xfrm>
          <a:prstGeom prst="rect">
            <a:avLst/>
          </a:prstGeom>
          <a:noFill/>
          <a:ln>
            <a:noFill/>
          </a:ln>
        </p:spPr>
        <p:txBody>
          <a:bodyPr spcFirstLastPara="1" wrap="square" lIns="0" tIns="0" rIns="0" bIns="0" anchor="t" anchorCtr="0">
            <a:noAutofit/>
          </a:bodyPr>
          <a:lstStyle/>
          <a:p>
            <a:pPr lvl="0">
              <a:lnSpc>
                <a:spcPct val="108000"/>
              </a:lnSpc>
            </a:pPr>
            <a:r>
              <a:rPr lang="fi-FI" sz="1300" dirty="0">
                <a:solidFill>
                  <a:srgbClr val="59616B"/>
                </a:solidFill>
              </a:rPr>
              <a:t>Suriyanarayanan Vaikuntanathan</a:t>
            </a:r>
          </a:p>
          <a:p>
            <a:pPr lvl="0">
              <a:lnSpc>
                <a:spcPct val="108000"/>
              </a:lnSpc>
            </a:pPr>
            <a:r>
              <a:rPr lang="en-US" sz="1300" dirty="0">
                <a:solidFill>
                  <a:srgbClr val="59616B"/>
                </a:solidFill>
              </a:rPr>
              <a:t>Rebecca Willett</a:t>
            </a:r>
            <a:endParaRPr lang="en-US" sz="1300" b="0" i="0" u="none" strike="noStrike" cap="none" dirty="0">
              <a:solidFill>
                <a:srgbClr val="59616B"/>
              </a:solidFill>
              <a:latin typeface="Arial"/>
              <a:ea typeface="Arial"/>
              <a:cs typeface="Arial"/>
              <a:sym typeface="Arial"/>
            </a:endParaRPr>
          </a:p>
        </p:txBody>
      </p:sp>
      <p:sp>
        <p:nvSpPr>
          <p:cNvPr id="5022" name="Text 5022"/>
          <p:cNvSpPr txBox="1"/>
          <p:nvPr/>
        </p:nvSpPr>
        <p:spPr>
          <a:xfrm>
            <a:off x="6035040" y="1463040"/>
            <a:ext cx="5669280" cy="82296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50" b="1" i="0" u="none" strike="noStrike" cap="none">
                <a:solidFill>
                  <a:srgbClr val="245D68"/>
                </a:solidFill>
                <a:latin typeface="Arial"/>
                <a:ea typeface="Arial"/>
                <a:cs typeface="Arial"/>
                <a:sym typeface="Arial"/>
              </a:rPr>
              <a:t>Geom2Vec and token merging</a:t>
            </a:r>
          </a:p>
          <a:p>
            <a:pPr marL="0" marR="0" lvl="0" indent="0" algn="l" rtl="0">
              <a:lnSpc>
                <a:spcPct val="108000"/>
              </a:lnSpc>
              <a:spcBef>
                <a:spcPts val="150"/>
              </a:spcBef>
              <a:spcAft>
                <a:spcPts val="0"/>
              </a:spcAft>
              <a:buNone/>
            </a:pPr>
            <a:r>
              <a:rPr lang="en-US" sz="1300" b="0" i="0" u="none" strike="noStrike" cap="none">
                <a:solidFill>
                  <a:srgbClr val="21252B"/>
                </a:solidFill>
                <a:latin typeface="Arial"/>
                <a:ea typeface="Arial"/>
                <a:cs typeface="Arial"/>
                <a:sym typeface="Arial"/>
              </a:rPr>
              <a:t>Chatipat Lorpaiboon · Spencer C. Guo · Jonathan Weare</a:t>
            </a:r>
          </a:p>
        </p:txBody>
      </p:sp>
      <p:sp>
        <p:nvSpPr>
          <p:cNvPr id="5023" name="Text 5023"/>
          <p:cNvSpPr txBox="1"/>
          <p:nvPr/>
        </p:nvSpPr>
        <p:spPr>
          <a:xfrm>
            <a:off x="6035040" y="2286000"/>
            <a:ext cx="5669280" cy="82296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50" b="1" i="0" u="none" strike="noStrike" cap="none">
                <a:solidFill>
                  <a:srgbClr val="245D68"/>
                </a:solidFill>
                <a:latin typeface="Arial"/>
                <a:ea typeface="Arial"/>
                <a:cs typeface="Arial"/>
                <a:sym typeface="Arial"/>
              </a:rPr>
              <a:t>GESPO</a:t>
            </a:r>
          </a:p>
          <a:p>
            <a:pPr marL="0" marR="0" lvl="0" indent="0" algn="l" rtl="0">
              <a:lnSpc>
                <a:spcPct val="108000"/>
              </a:lnSpc>
              <a:spcBef>
                <a:spcPts val="150"/>
              </a:spcBef>
              <a:spcAft>
                <a:spcPts val="0"/>
              </a:spcAft>
              <a:buNone/>
            </a:pPr>
            <a:r>
              <a:rPr lang="en-US" sz="1300" b="0" i="0" u="none" strike="noStrike" cap="none">
                <a:solidFill>
                  <a:srgbClr val="21252B"/>
                </a:solidFill>
                <a:latin typeface="Arial"/>
                <a:ea typeface="Arial"/>
                <a:cs typeface="Arial"/>
                <a:sym typeface="Arial"/>
              </a:rPr>
              <a:t>Nhan D. Nguyen · Zhengyuan Shen · Jonathan Weare</a:t>
            </a:r>
          </a:p>
        </p:txBody>
      </p:sp>
      <p:sp>
        <p:nvSpPr>
          <p:cNvPr id="5024" name="Text 5024"/>
          <p:cNvSpPr txBox="1"/>
          <p:nvPr/>
        </p:nvSpPr>
        <p:spPr>
          <a:xfrm>
            <a:off x="6035040" y="3108960"/>
            <a:ext cx="5669280" cy="82296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50" b="1" i="0" u="none" strike="noStrike" cap="none" dirty="0">
                <a:solidFill>
                  <a:srgbClr val="245D68"/>
                </a:solidFill>
                <a:latin typeface="Arial"/>
                <a:ea typeface="Arial"/>
                <a:cs typeface="Arial"/>
                <a:sym typeface="Arial"/>
              </a:rPr>
              <a:t>All-atom pretraining</a:t>
            </a:r>
          </a:p>
          <a:p>
            <a:pPr marL="0" marR="0" lvl="0" indent="0" algn="l" rtl="0">
              <a:lnSpc>
                <a:spcPct val="108000"/>
              </a:lnSpc>
              <a:spcBef>
                <a:spcPts val="150"/>
              </a:spcBef>
              <a:spcAft>
                <a:spcPts val="0"/>
              </a:spcAft>
              <a:buNone/>
            </a:pPr>
            <a:r>
              <a:rPr lang="en-US" sz="1300" b="0" i="0" u="none" strike="noStrike" cap="none" dirty="0">
                <a:solidFill>
                  <a:srgbClr val="21252B"/>
                </a:solidFill>
                <a:latin typeface="Arial"/>
                <a:ea typeface="Arial"/>
                <a:cs typeface="Arial"/>
                <a:sym typeface="Arial"/>
              </a:rPr>
              <a:t>Zhengyuan Shen · Zichen Wang · Marcus Collins · </a:t>
            </a:r>
            <a:r>
              <a:rPr lang="en-US" sz="1300" b="0" i="0" u="none" strike="noStrike" cap="none" dirty="0" err="1">
                <a:solidFill>
                  <a:srgbClr val="21252B"/>
                </a:solidFill>
                <a:latin typeface="Arial"/>
                <a:ea typeface="Arial"/>
                <a:cs typeface="Arial"/>
                <a:sym typeface="Arial"/>
              </a:rPr>
              <a:t>Huzefa</a:t>
            </a:r>
            <a:r>
              <a:rPr lang="en-US" sz="1300" b="0" i="0" u="none" strike="noStrike" cap="none" dirty="0">
                <a:solidFill>
                  <a:srgbClr val="21252B"/>
                </a:solidFill>
                <a:latin typeface="Arial"/>
                <a:ea typeface="Arial"/>
                <a:cs typeface="Arial"/>
                <a:sym typeface="Arial"/>
              </a:rPr>
              <a:t> Rangwala</a:t>
            </a:r>
          </a:p>
        </p:txBody>
      </p:sp>
      <p:sp>
        <p:nvSpPr>
          <p:cNvPr id="5025" name="Text 5025"/>
          <p:cNvSpPr txBox="1"/>
          <p:nvPr/>
        </p:nvSpPr>
        <p:spPr>
          <a:xfrm>
            <a:off x="6035040" y="3931920"/>
            <a:ext cx="5669280" cy="82296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350" b="1" i="0" u="none" strike="noStrike" cap="none">
                <a:solidFill>
                  <a:srgbClr val="245D68"/>
                </a:solidFill>
                <a:latin typeface="Arial"/>
                <a:ea typeface="Arial"/>
                <a:cs typeface="Arial"/>
                <a:sym typeface="Arial"/>
              </a:rPr>
              <a:t>Data and computing</a:t>
            </a:r>
          </a:p>
          <a:p>
            <a:pPr marL="0" marR="0" lvl="0" indent="0" algn="l" rtl="0">
              <a:lnSpc>
                <a:spcPct val="108000"/>
              </a:lnSpc>
              <a:spcBef>
                <a:spcPts val="150"/>
              </a:spcBef>
              <a:spcAft>
                <a:spcPts val="0"/>
              </a:spcAft>
              <a:buNone/>
            </a:pPr>
            <a:r>
              <a:rPr lang="en-US" sz="1300" b="0" i="0" u="none" strike="noStrike" cap="none">
                <a:solidFill>
                  <a:srgbClr val="21252B"/>
                </a:solidFill>
                <a:latin typeface="Arial"/>
                <a:ea typeface="Arial"/>
                <a:cs typeface="Arial"/>
                <a:sym typeface="Arial"/>
              </a:rPr>
              <a:t>D. E. Shaw Research (trajectories) · UChicago RCC (Beagle-3) · AWS</a:t>
            </a:r>
          </a:p>
        </p:txBody>
      </p:sp>
      <p:sp>
        <p:nvSpPr>
          <p:cNvPr id="5026" name="Shape 5026"/>
          <p:cNvSpPr/>
          <p:nvPr/>
        </p:nvSpPr>
        <p:spPr>
          <a:xfrm>
            <a:off x="502920" y="5971032"/>
            <a:ext cx="11155680" cy="356616"/>
          </a:xfrm>
          <a:prstGeom prst="rect">
            <a:avLst/>
          </a:prstGeom>
          <a:solidFill>
            <a:srgbClr val="EFF5F6"/>
          </a:solidFill>
          <a:ln>
            <a:noFill/>
          </a:ln>
        </p:spPr>
        <p:txBody>
          <a:bodyPr spcFirstLastPara="1" wrap="square" lIns="45720" tIns="0" rIns="45720" bIns="0" anchor="ctr" anchorCtr="0">
            <a:noAutofit/>
          </a:bodyPr>
          <a:lstStyle/>
          <a:p>
            <a:pPr marL="0" marR="0" lvl="0" indent="0" algn="l" rtl="0">
              <a:lnSpc>
                <a:spcPct val="108000"/>
              </a:lnSpc>
              <a:spcBef>
                <a:spcPts val="0"/>
              </a:spcBef>
              <a:spcAft>
                <a:spcPts val="0"/>
              </a:spcAft>
              <a:buNone/>
            </a:pPr>
            <a:r>
              <a:rPr lang="en-US" sz="1700" b="1" i="0" u="none" strike="noStrike" cap="none">
                <a:solidFill>
                  <a:srgbClr val="245D68"/>
                </a:solidFill>
                <a:latin typeface="Arial"/>
                <a:ea typeface="Arial"/>
                <a:cs typeface="Arial"/>
                <a:sym typeface="Arial"/>
              </a:rPr>
              <a:t>Questions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40"/>
        <p:cNvGrpSpPr/>
        <p:nvPr/>
      </p:nvGrpSpPr>
      <p:grpSpPr>
        <a:xfrm>
          <a:off x="0" y="0"/>
          <a:ext cx="0" cy="0"/>
          <a:chOff x="0" y="0"/>
          <a:chExt cx="0" cy="0"/>
        </a:xfrm>
      </p:grpSpPr>
      <p:sp>
        <p:nvSpPr>
          <p:cNvPr id="841" name="Google Shape;841;p51"/>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BACKUP · GEOM2VEC ARCHITECTURE</a:t>
            </a:r>
            <a:endParaRPr/>
          </a:p>
        </p:txBody>
      </p:sp>
      <p:sp>
        <p:nvSpPr>
          <p:cNvPr id="842" name="Google Shape;842;p51"/>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Frozen residue tokens feed a trainable token mixer</a:t>
            </a:r>
            <a:endParaRPr/>
          </a:p>
        </p:txBody>
      </p:sp>
      <p:cxnSp>
        <p:nvCxnSpPr>
          <p:cNvPr id="843" name="Google Shape;843;p51"/>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844" name="Google Shape;844;p51"/>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J. Chem. Phys. 162, 044107 (2025)</a:t>
            </a:r>
            <a:endParaRPr/>
          </a:p>
        </p:txBody>
      </p:sp>
      <p:sp>
        <p:nvSpPr>
          <p:cNvPr id="845" name="Google Shape;845;p51"/>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BACKUP 01</a:t>
            </a:r>
            <a:endParaRPr/>
          </a:p>
        </p:txBody>
      </p:sp>
      <p:pic>
        <p:nvPicPr>
          <p:cNvPr id="846" name="Google Shape;846;p51" descr="Source ar_schema.png; crop left/top/right/bottom (0, 0, 1, 1). Original scientific plot, not redrawn."/>
          <p:cNvPicPr preferRelativeResize="0"/>
          <p:nvPr/>
        </p:nvPicPr>
        <p:blipFill rotWithShape="1">
          <a:blip r:embed="rId2">
            <a:alphaModFix/>
          </a:blip>
          <a:srcRect/>
          <a:stretch/>
        </p:blipFill>
        <p:spPr>
          <a:xfrm>
            <a:off x="2255368" y="1481328"/>
            <a:ext cx="7680960" cy="489811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85"/>
        <p:cNvGrpSpPr/>
        <p:nvPr/>
      </p:nvGrpSpPr>
      <p:grpSpPr>
        <a:xfrm>
          <a:off x="0" y="0"/>
          <a:ext cx="0" cy="0"/>
          <a:chOff x="0" y="0"/>
          <a:chExt cx="0" cy="0"/>
        </a:xfrm>
      </p:grpSpPr>
      <p:sp>
        <p:nvSpPr>
          <p:cNvPr id="886" name="Google Shape;886;p54"/>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BACKUP · MESSAGE PASSING</a:t>
            </a:r>
            <a:endParaRPr/>
          </a:p>
        </p:txBody>
      </p:sp>
      <p:sp>
        <p:nvSpPr>
          <p:cNvPr id="887" name="Google Shape;887;p54"/>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Local message passing has distinct information limits</a:t>
            </a:r>
            <a:endParaRPr/>
          </a:p>
        </p:txBody>
      </p:sp>
      <p:cxnSp>
        <p:nvCxnSpPr>
          <p:cNvPr id="888" name="Google Shape;888;p54"/>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889" name="Google Shape;889;p54"/>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Dissertation Ch. 1, Fig. 1.2; over-squashing: Alon &amp; Yahav (2021); over-smoothing: Oono &amp; Suzuki (2020).</a:t>
            </a:r>
          </a:p>
        </p:txBody>
      </p:sp>
      <p:sp>
        <p:nvSpPr>
          <p:cNvPr id="890" name="Google Shape;890;p54"/>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BACKUP 02</a:t>
            </a:r>
            <a:endParaRPr/>
          </a:p>
        </p:txBody>
      </p:sp>
      <p:sp>
        <p:nvSpPr>
          <p:cNvPr id="891" name="Google Shape;891;p54"/>
          <p:cNvSpPr txBox="1"/>
          <p:nvPr/>
        </p:nvSpPr>
        <p:spPr>
          <a:xfrm>
            <a:off x="685800" y="1517904"/>
            <a:ext cx="5120640" cy="39319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100" b="1" i="0" u="none" strike="noStrike" cap="none">
                <a:solidFill>
                  <a:srgbClr val="245D68"/>
                </a:solidFill>
                <a:latin typeface="Arial"/>
                <a:ea typeface="Arial"/>
                <a:cs typeface="Arial"/>
                <a:sym typeface="Arial"/>
              </a:rPr>
              <a:t>Local update</a:t>
            </a:r>
            <a:endParaRPr/>
          </a:p>
        </p:txBody>
      </p:sp>
      <p:cxnSp>
        <p:nvCxnSpPr>
          <p:cNvPr id="892" name="Google Shape;892;p54"/>
          <p:cNvCxnSpPr/>
          <p:nvPr/>
        </p:nvCxnSpPr>
        <p:spPr>
          <a:xfrm rot="10800000">
            <a:off x="2761488" y="2487168"/>
            <a:ext cx="987551" cy="0"/>
          </a:xfrm>
          <a:prstGeom prst="straightConnector1">
            <a:avLst/>
          </a:prstGeom>
          <a:noFill/>
          <a:ln w="12700" cap="flat" cmpd="sng">
            <a:solidFill>
              <a:srgbClr val="59616B"/>
            </a:solidFill>
            <a:prstDash val="solid"/>
            <a:round/>
            <a:headEnd type="none" w="sm" len="sm"/>
            <a:tailEnd type="triangle" w="sm" len="sm"/>
          </a:ln>
        </p:spPr>
      </p:cxnSp>
      <p:sp>
        <p:nvSpPr>
          <p:cNvPr id="893" name="Google Shape;893;p54"/>
          <p:cNvSpPr/>
          <p:nvPr/>
        </p:nvSpPr>
        <p:spPr>
          <a:xfrm>
            <a:off x="3675887" y="2414015"/>
            <a:ext cx="146304" cy="146304"/>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894" name="Google Shape;894;p54"/>
          <p:cNvCxnSpPr/>
          <p:nvPr/>
        </p:nvCxnSpPr>
        <p:spPr>
          <a:xfrm rot="10800000">
            <a:off x="2761488" y="2487168"/>
            <a:ext cx="311397" cy="520650"/>
          </a:xfrm>
          <a:prstGeom prst="straightConnector1">
            <a:avLst/>
          </a:prstGeom>
          <a:noFill/>
          <a:ln w="12700" cap="flat" cmpd="sng">
            <a:solidFill>
              <a:srgbClr val="59616B"/>
            </a:solidFill>
            <a:prstDash val="solid"/>
            <a:round/>
            <a:headEnd type="none" w="sm" len="sm"/>
            <a:tailEnd type="triangle" w="sm" len="sm"/>
          </a:ln>
        </p:spPr>
      </p:cxnSp>
      <p:sp>
        <p:nvSpPr>
          <p:cNvPr id="895" name="Google Shape;895;p54"/>
          <p:cNvSpPr/>
          <p:nvPr/>
        </p:nvSpPr>
        <p:spPr>
          <a:xfrm>
            <a:off x="2999733" y="2934666"/>
            <a:ext cx="146304" cy="146304"/>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896" name="Google Shape;896;p54"/>
          <p:cNvCxnSpPr/>
          <p:nvPr/>
        </p:nvCxnSpPr>
        <p:spPr>
          <a:xfrm rot="10800000" flipH="1">
            <a:off x="1970317" y="2487168"/>
            <a:ext cx="791171" cy="328345"/>
          </a:xfrm>
          <a:prstGeom prst="straightConnector1">
            <a:avLst/>
          </a:prstGeom>
          <a:noFill/>
          <a:ln w="12700" cap="flat" cmpd="sng">
            <a:solidFill>
              <a:srgbClr val="59616B"/>
            </a:solidFill>
            <a:prstDash val="solid"/>
            <a:round/>
            <a:headEnd type="none" w="sm" len="sm"/>
            <a:tailEnd type="triangle" w="sm" len="sm"/>
          </a:ln>
        </p:spPr>
      </p:cxnSp>
      <p:sp>
        <p:nvSpPr>
          <p:cNvPr id="897" name="Google Shape;897;p54"/>
          <p:cNvSpPr/>
          <p:nvPr/>
        </p:nvSpPr>
        <p:spPr>
          <a:xfrm>
            <a:off x="1897165" y="2742361"/>
            <a:ext cx="146304" cy="146304"/>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898" name="Google Shape;898;p54"/>
          <p:cNvCxnSpPr/>
          <p:nvPr/>
        </p:nvCxnSpPr>
        <p:spPr>
          <a:xfrm>
            <a:off x="1951142" y="2173586"/>
            <a:ext cx="810346" cy="313582"/>
          </a:xfrm>
          <a:prstGeom prst="straightConnector1">
            <a:avLst/>
          </a:prstGeom>
          <a:noFill/>
          <a:ln w="12700" cap="flat" cmpd="sng">
            <a:solidFill>
              <a:srgbClr val="59616B"/>
            </a:solidFill>
            <a:prstDash val="solid"/>
            <a:round/>
            <a:headEnd type="none" w="sm" len="sm"/>
            <a:tailEnd type="triangle" w="sm" len="sm"/>
          </a:ln>
        </p:spPr>
      </p:cxnSp>
      <p:sp>
        <p:nvSpPr>
          <p:cNvPr id="899" name="Google Shape;899;p54"/>
          <p:cNvSpPr/>
          <p:nvPr/>
        </p:nvSpPr>
        <p:spPr>
          <a:xfrm>
            <a:off x="1877990" y="2100434"/>
            <a:ext cx="146304" cy="146304"/>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900" name="Google Shape;900;p54"/>
          <p:cNvCxnSpPr/>
          <p:nvPr/>
        </p:nvCxnSpPr>
        <p:spPr>
          <a:xfrm flipH="1">
            <a:off x="2761488" y="1961063"/>
            <a:ext cx="280131" cy="526105"/>
          </a:xfrm>
          <a:prstGeom prst="straightConnector1">
            <a:avLst/>
          </a:prstGeom>
          <a:noFill/>
          <a:ln w="12700" cap="flat" cmpd="sng">
            <a:solidFill>
              <a:srgbClr val="59616B"/>
            </a:solidFill>
            <a:prstDash val="solid"/>
            <a:round/>
            <a:headEnd type="none" w="sm" len="sm"/>
            <a:tailEnd type="triangle" w="sm" len="sm"/>
          </a:ln>
        </p:spPr>
      </p:cxnSp>
      <p:sp>
        <p:nvSpPr>
          <p:cNvPr id="901" name="Google Shape;901;p54"/>
          <p:cNvSpPr/>
          <p:nvPr/>
        </p:nvSpPr>
        <p:spPr>
          <a:xfrm>
            <a:off x="2968467" y="1887911"/>
            <a:ext cx="146304" cy="146304"/>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02" name="Google Shape;902;p54"/>
          <p:cNvSpPr/>
          <p:nvPr/>
        </p:nvSpPr>
        <p:spPr>
          <a:xfrm>
            <a:off x="2651760" y="2377439"/>
            <a:ext cx="219456" cy="219456"/>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03" name="Google Shape;903;p54"/>
          <p:cNvSpPr txBox="1"/>
          <p:nvPr/>
        </p:nvSpPr>
        <p:spPr>
          <a:xfrm>
            <a:off x="685800" y="3127248"/>
            <a:ext cx="5120640" cy="50292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700" b="0" i="0" u="none" strike="noStrike" cap="none">
                <a:solidFill>
                  <a:srgbClr val="59616B"/>
                </a:solidFill>
                <a:latin typeface="Arial"/>
                <a:ea typeface="Arial"/>
                <a:cs typeface="Arial"/>
                <a:sym typeface="Arial"/>
              </a:rPr>
              <a:t>Aggregate neighboring features.</a:t>
            </a:r>
            <a:endParaRPr/>
          </a:p>
        </p:txBody>
      </p:sp>
      <p:sp>
        <p:nvSpPr>
          <p:cNvPr id="904" name="Google Shape;904;p54"/>
          <p:cNvSpPr txBox="1"/>
          <p:nvPr/>
        </p:nvSpPr>
        <p:spPr>
          <a:xfrm>
            <a:off x="6446520" y="1517904"/>
            <a:ext cx="5120640" cy="39319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100" b="1" i="0" u="none" strike="noStrike" cap="none">
                <a:solidFill>
                  <a:srgbClr val="245D68"/>
                </a:solidFill>
                <a:latin typeface="Arial"/>
                <a:ea typeface="Arial"/>
                <a:cs typeface="Arial"/>
                <a:sym typeface="Arial"/>
              </a:rPr>
              <a:t>Under-reaching</a:t>
            </a:r>
            <a:endParaRPr/>
          </a:p>
        </p:txBody>
      </p:sp>
      <p:sp>
        <p:nvSpPr>
          <p:cNvPr id="905" name="Google Shape;905;p54"/>
          <p:cNvSpPr/>
          <p:nvPr/>
        </p:nvSpPr>
        <p:spPr>
          <a:xfrm>
            <a:off x="6711696" y="2350008"/>
            <a:ext cx="164592" cy="164592"/>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906" name="Google Shape;906;p54"/>
          <p:cNvCxnSpPr/>
          <p:nvPr/>
        </p:nvCxnSpPr>
        <p:spPr>
          <a:xfrm>
            <a:off x="6793992" y="2432304"/>
            <a:ext cx="640079" cy="164592"/>
          </a:xfrm>
          <a:prstGeom prst="straightConnector1">
            <a:avLst/>
          </a:prstGeom>
          <a:noFill/>
          <a:ln w="15225" cap="flat" cmpd="sng">
            <a:solidFill>
              <a:srgbClr val="59616B"/>
            </a:solidFill>
            <a:prstDash val="solid"/>
            <a:round/>
            <a:headEnd type="none" w="sm" len="sm"/>
            <a:tailEnd type="triangle" w="sm" len="sm"/>
          </a:ln>
        </p:spPr>
      </p:cxnSp>
      <p:sp>
        <p:nvSpPr>
          <p:cNvPr id="907" name="Google Shape;907;p54"/>
          <p:cNvSpPr/>
          <p:nvPr/>
        </p:nvSpPr>
        <p:spPr>
          <a:xfrm>
            <a:off x="7351775" y="2514600"/>
            <a:ext cx="164592" cy="164592"/>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908" name="Google Shape;908;p54"/>
          <p:cNvCxnSpPr/>
          <p:nvPr/>
        </p:nvCxnSpPr>
        <p:spPr>
          <a:xfrm rot="10800000" flipH="1">
            <a:off x="7434071" y="2432304"/>
            <a:ext cx="640081" cy="164592"/>
          </a:xfrm>
          <a:prstGeom prst="straightConnector1">
            <a:avLst/>
          </a:prstGeom>
          <a:noFill/>
          <a:ln w="15225" cap="flat" cmpd="sng">
            <a:solidFill>
              <a:srgbClr val="59616B"/>
            </a:solidFill>
            <a:prstDash val="solid"/>
            <a:round/>
            <a:headEnd type="none" w="sm" len="sm"/>
            <a:tailEnd type="triangle" w="sm" len="sm"/>
          </a:ln>
        </p:spPr>
      </p:cxnSp>
      <p:sp>
        <p:nvSpPr>
          <p:cNvPr id="909" name="Google Shape;909;p54"/>
          <p:cNvSpPr/>
          <p:nvPr/>
        </p:nvSpPr>
        <p:spPr>
          <a:xfrm>
            <a:off x="7991856" y="2350008"/>
            <a:ext cx="164592" cy="164592"/>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910" name="Google Shape;910;p54"/>
          <p:cNvCxnSpPr/>
          <p:nvPr/>
        </p:nvCxnSpPr>
        <p:spPr>
          <a:xfrm>
            <a:off x="8074152" y="2432304"/>
            <a:ext cx="640080" cy="164592"/>
          </a:xfrm>
          <a:prstGeom prst="straightConnector1">
            <a:avLst/>
          </a:prstGeom>
          <a:noFill/>
          <a:ln w="15225" cap="flat" cmpd="sng">
            <a:solidFill>
              <a:srgbClr val="59616B"/>
            </a:solidFill>
            <a:prstDash val="solid"/>
            <a:round/>
            <a:headEnd type="none" w="sm" len="sm"/>
            <a:tailEnd type="triangle" w="sm" len="sm"/>
          </a:ln>
        </p:spPr>
      </p:cxnSp>
      <p:sp>
        <p:nvSpPr>
          <p:cNvPr id="911" name="Google Shape;911;p54"/>
          <p:cNvSpPr/>
          <p:nvPr/>
        </p:nvSpPr>
        <p:spPr>
          <a:xfrm>
            <a:off x="8631936" y="2514600"/>
            <a:ext cx="164592" cy="164592"/>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912" name="Google Shape;912;p54"/>
          <p:cNvCxnSpPr/>
          <p:nvPr/>
        </p:nvCxnSpPr>
        <p:spPr>
          <a:xfrm rot="10800000" flipH="1">
            <a:off x="8714232" y="2432304"/>
            <a:ext cx="640080" cy="164592"/>
          </a:xfrm>
          <a:prstGeom prst="straightConnector1">
            <a:avLst/>
          </a:prstGeom>
          <a:noFill/>
          <a:ln w="15225" cap="flat" cmpd="sng">
            <a:solidFill>
              <a:srgbClr val="59616B"/>
            </a:solidFill>
            <a:prstDash val="solid"/>
            <a:round/>
            <a:headEnd type="none" w="sm" len="sm"/>
            <a:tailEnd type="triangle" w="sm" len="sm"/>
          </a:ln>
        </p:spPr>
      </p:cxnSp>
      <p:sp>
        <p:nvSpPr>
          <p:cNvPr id="913" name="Google Shape;913;p54"/>
          <p:cNvSpPr/>
          <p:nvPr/>
        </p:nvSpPr>
        <p:spPr>
          <a:xfrm>
            <a:off x="9272016" y="2350008"/>
            <a:ext cx="164592" cy="164592"/>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914" name="Google Shape;914;p54"/>
          <p:cNvCxnSpPr/>
          <p:nvPr/>
        </p:nvCxnSpPr>
        <p:spPr>
          <a:xfrm>
            <a:off x="9354312" y="2432304"/>
            <a:ext cx="640080" cy="164592"/>
          </a:xfrm>
          <a:prstGeom prst="straightConnector1">
            <a:avLst/>
          </a:prstGeom>
          <a:noFill/>
          <a:ln w="15225" cap="flat" cmpd="sng">
            <a:solidFill>
              <a:srgbClr val="59616B"/>
            </a:solidFill>
            <a:prstDash val="solid"/>
            <a:round/>
            <a:headEnd type="none" w="sm" len="sm"/>
            <a:tailEnd type="triangle" w="sm" len="sm"/>
          </a:ln>
        </p:spPr>
      </p:cxnSp>
      <p:sp>
        <p:nvSpPr>
          <p:cNvPr id="915" name="Google Shape;915;p54"/>
          <p:cNvSpPr/>
          <p:nvPr/>
        </p:nvSpPr>
        <p:spPr>
          <a:xfrm>
            <a:off x="9912096" y="2514600"/>
            <a:ext cx="164592" cy="164592"/>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916" name="Google Shape;916;p54"/>
          <p:cNvCxnSpPr/>
          <p:nvPr/>
        </p:nvCxnSpPr>
        <p:spPr>
          <a:xfrm rot="10800000" flipH="1">
            <a:off x="9994392" y="2432304"/>
            <a:ext cx="640080" cy="164592"/>
          </a:xfrm>
          <a:prstGeom prst="straightConnector1">
            <a:avLst/>
          </a:prstGeom>
          <a:noFill/>
          <a:ln w="15225" cap="flat" cmpd="sng">
            <a:solidFill>
              <a:srgbClr val="59616B"/>
            </a:solidFill>
            <a:prstDash val="solid"/>
            <a:round/>
            <a:headEnd type="none" w="sm" len="sm"/>
            <a:tailEnd type="triangle" w="sm" len="sm"/>
          </a:ln>
        </p:spPr>
      </p:cxnSp>
      <p:sp>
        <p:nvSpPr>
          <p:cNvPr id="917" name="Google Shape;917;p54"/>
          <p:cNvSpPr/>
          <p:nvPr/>
        </p:nvSpPr>
        <p:spPr>
          <a:xfrm>
            <a:off x="10552176" y="2350008"/>
            <a:ext cx="164592" cy="164592"/>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18" name="Google Shape;918;p54"/>
          <p:cNvSpPr txBox="1"/>
          <p:nvPr/>
        </p:nvSpPr>
        <p:spPr>
          <a:xfrm>
            <a:off x="6446520" y="3127248"/>
            <a:ext cx="5120640" cy="50292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700" b="0" i="0" u="none" strike="noStrike" cap="none">
                <a:solidFill>
                  <a:srgbClr val="59616B"/>
                </a:solidFill>
                <a:latin typeface="Arial"/>
                <a:ea typeface="Arial"/>
                <a:cs typeface="Arial"/>
                <a:sym typeface="Arial"/>
              </a:rPr>
              <a:t>Distant domains require more hops.</a:t>
            </a:r>
            <a:endParaRPr/>
          </a:p>
        </p:txBody>
      </p:sp>
      <p:sp>
        <p:nvSpPr>
          <p:cNvPr id="919" name="Google Shape;919;p54"/>
          <p:cNvSpPr txBox="1"/>
          <p:nvPr/>
        </p:nvSpPr>
        <p:spPr>
          <a:xfrm>
            <a:off x="685800" y="3858768"/>
            <a:ext cx="5120640" cy="39319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100" b="1" i="0" u="none" strike="noStrike" cap="none">
                <a:solidFill>
                  <a:srgbClr val="245D68"/>
                </a:solidFill>
                <a:latin typeface="Arial"/>
                <a:ea typeface="Arial"/>
                <a:cs typeface="Arial"/>
                <a:sym typeface="Arial"/>
              </a:rPr>
              <a:t>Over-squashing</a:t>
            </a:r>
            <a:endParaRPr/>
          </a:p>
        </p:txBody>
      </p:sp>
      <p:sp>
        <p:nvSpPr>
          <p:cNvPr id="920" name="Google Shape;920;p54"/>
          <p:cNvSpPr/>
          <p:nvPr/>
        </p:nvSpPr>
        <p:spPr>
          <a:xfrm>
            <a:off x="993952" y="4322368"/>
            <a:ext cx="115214" cy="115214"/>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921" name="Google Shape;921;p54"/>
          <p:cNvCxnSpPr/>
          <p:nvPr/>
        </p:nvCxnSpPr>
        <p:spPr>
          <a:xfrm>
            <a:off x="1051560" y="4379976"/>
            <a:ext cx="1463040" cy="466344"/>
          </a:xfrm>
          <a:prstGeom prst="straightConnector1">
            <a:avLst/>
          </a:prstGeom>
          <a:noFill/>
          <a:ln w="12700" cap="flat" cmpd="sng">
            <a:solidFill>
              <a:srgbClr val="59616B"/>
            </a:solidFill>
            <a:prstDash val="solid"/>
            <a:round/>
            <a:headEnd type="none" w="sm" len="sm"/>
            <a:tailEnd type="none" w="sm" len="sm"/>
          </a:ln>
        </p:spPr>
      </p:cxnSp>
      <p:sp>
        <p:nvSpPr>
          <p:cNvPr id="922" name="Google Shape;922;p54"/>
          <p:cNvSpPr/>
          <p:nvPr/>
        </p:nvSpPr>
        <p:spPr>
          <a:xfrm>
            <a:off x="993952" y="4550968"/>
            <a:ext cx="115214" cy="115214"/>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923" name="Google Shape;923;p54"/>
          <p:cNvCxnSpPr/>
          <p:nvPr/>
        </p:nvCxnSpPr>
        <p:spPr>
          <a:xfrm>
            <a:off x="1051560" y="4608576"/>
            <a:ext cx="1463040" cy="237744"/>
          </a:xfrm>
          <a:prstGeom prst="straightConnector1">
            <a:avLst/>
          </a:prstGeom>
          <a:noFill/>
          <a:ln w="12700" cap="flat" cmpd="sng">
            <a:solidFill>
              <a:srgbClr val="59616B"/>
            </a:solidFill>
            <a:prstDash val="solid"/>
            <a:round/>
            <a:headEnd type="none" w="sm" len="sm"/>
            <a:tailEnd type="none" w="sm" len="sm"/>
          </a:ln>
        </p:spPr>
      </p:cxnSp>
      <p:sp>
        <p:nvSpPr>
          <p:cNvPr id="924" name="Google Shape;924;p54"/>
          <p:cNvSpPr/>
          <p:nvPr/>
        </p:nvSpPr>
        <p:spPr>
          <a:xfrm>
            <a:off x="993952" y="4779568"/>
            <a:ext cx="115214" cy="115214"/>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925" name="Google Shape;925;p54"/>
          <p:cNvCxnSpPr/>
          <p:nvPr/>
        </p:nvCxnSpPr>
        <p:spPr>
          <a:xfrm>
            <a:off x="1051560" y="4837176"/>
            <a:ext cx="1463040" cy="9144"/>
          </a:xfrm>
          <a:prstGeom prst="straightConnector1">
            <a:avLst/>
          </a:prstGeom>
          <a:noFill/>
          <a:ln w="12700" cap="flat" cmpd="sng">
            <a:solidFill>
              <a:srgbClr val="59616B"/>
            </a:solidFill>
            <a:prstDash val="solid"/>
            <a:round/>
            <a:headEnd type="none" w="sm" len="sm"/>
            <a:tailEnd type="none" w="sm" len="sm"/>
          </a:ln>
        </p:spPr>
      </p:cxnSp>
      <p:sp>
        <p:nvSpPr>
          <p:cNvPr id="926" name="Google Shape;926;p54"/>
          <p:cNvSpPr/>
          <p:nvPr/>
        </p:nvSpPr>
        <p:spPr>
          <a:xfrm>
            <a:off x="993952" y="5008168"/>
            <a:ext cx="115214" cy="115214"/>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927" name="Google Shape;927;p54"/>
          <p:cNvCxnSpPr/>
          <p:nvPr/>
        </p:nvCxnSpPr>
        <p:spPr>
          <a:xfrm rot="10800000" flipH="1">
            <a:off x="1051560" y="4846320"/>
            <a:ext cx="1463040" cy="219456"/>
          </a:xfrm>
          <a:prstGeom prst="straightConnector1">
            <a:avLst/>
          </a:prstGeom>
          <a:noFill/>
          <a:ln w="12700" cap="flat" cmpd="sng">
            <a:solidFill>
              <a:srgbClr val="59616B"/>
            </a:solidFill>
            <a:prstDash val="solid"/>
            <a:round/>
            <a:headEnd type="none" w="sm" len="sm"/>
            <a:tailEnd type="none" w="sm" len="sm"/>
          </a:ln>
        </p:spPr>
      </p:cxnSp>
      <p:sp>
        <p:nvSpPr>
          <p:cNvPr id="928" name="Google Shape;928;p54"/>
          <p:cNvSpPr/>
          <p:nvPr/>
        </p:nvSpPr>
        <p:spPr>
          <a:xfrm>
            <a:off x="993952" y="5236768"/>
            <a:ext cx="115214" cy="115214"/>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929" name="Google Shape;929;p54"/>
          <p:cNvCxnSpPr/>
          <p:nvPr/>
        </p:nvCxnSpPr>
        <p:spPr>
          <a:xfrm rot="10800000" flipH="1">
            <a:off x="1051560" y="4846320"/>
            <a:ext cx="1463040" cy="448056"/>
          </a:xfrm>
          <a:prstGeom prst="straightConnector1">
            <a:avLst/>
          </a:prstGeom>
          <a:noFill/>
          <a:ln w="12700" cap="flat" cmpd="sng">
            <a:solidFill>
              <a:srgbClr val="59616B"/>
            </a:solidFill>
            <a:prstDash val="solid"/>
            <a:round/>
            <a:headEnd type="none" w="sm" len="sm"/>
            <a:tailEnd type="none" w="sm" len="sm"/>
          </a:ln>
        </p:spPr>
      </p:cxnSp>
      <p:sp>
        <p:nvSpPr>
          <p:cNvPr id="930" name="Google Shape;930;p54"/>
          <p:cNvSpPr/>
          <p:nvPr/>
        </p:nvSpPr>
        <p:spPr>
          <a:xfrm>
            <a:off x="2514600" y="4498848"/>
            <a:ext cx="1307592" cy="640080"/>
          </a:xfrm>
          <a:prstGeom prst="roundRect">
            <a:avLst>
              <a:gd name="adj" fmla="val 9000"/>
            </a:avLst>
          </a:prstGeom>
          <a:solidFill>
            <a:srgbClr val="F5F6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31" name="Google Shape;931;p54"/>
          <p:cNvSpPr txBox="1"/>
          <p:nvPr/>
        </p:nvSpPr>
        <p:spPr>
          <a:xfrm>
            <a:off x="2624328" y="4590288"/>
            <a:ext cx="1088136" cy="484631"/>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500" b="0" i="0" u="none" strike="noStrike" cap="none">
                <a:solidFill>
                  <a:srgbClr val="21252B"/>
                </a:solidFill>
                <a:latin typeface="Arial"/>
                <a:ea typeface="Arial"/>
                <a:cs typeface="Arial"/>
                <a:sym typeface="Arial"/>
              </a:rPr>
              <a:t>fixed-size</a:t>
            </a:r>
            <a:endParaRPr/>
          </a:p>
          <a:p>
            <a:pPr marL="0" marR="0" lvl="0" indent="0" algn="ctr" rtl="0">
              <a:lnSpc>
                <a:spcPct val="108000"/>
              </a:lnSpc>
              <a:spcBef>
                <a:spcPts val="300"/>
              </a:spcBef>
              <a:spcAft>
                <a:spcPts val="0"/>
              </a:spcAft>
              <a:buNone/>
            </a:pPr>
            <a:r>
              <a:rPr lang="en-US" sz="1500" b="0" i="0" u="none" strike="noStrike" cap="none">
                <a:solidFill>
                  <a:srgbClr val="21252B"/>
                </a:solidFill>
                <a:latin typeface="Arial"/>
                <a:ea typeface="Arial"/>
                <a:cs typeface="Arial"/>
                <a:sym typeface="Arial"/>
              </a:rPr>
              <a:t>vector</a:t>
            </a:r>
            <a:endParaRPr/>
          </a:p>
        </p:txBody>
      </p:sp>
      <p:cxnSp>
        <p:nvCxnSpPr>
          <p:cNvPr id="932" name="Google Shape;932;p54"/>
          <p:cNvCxnSpPr/>
          <p:nvPr/>
        </p:nvCxnSpPr>
        <p:spPr>
          <a:xfrm>
            <a:off x="3867912" y="4818888"/>
            <a:ext cx="1069848" cy="0"/>
          </a:xfrm>
          <a:prstGeom prst="straightConnector1">
            <a:avLst/>
          </a:prstGeom>
          <a:noFill/>
          <a:ln w="17775" cap="flat" cmpd="sng">
            <a:solidFill>
              <a:srgbClr val="59616B"/>
            </a:solidFill>
            <a:prstDash val="solid"/>
            <a:round/>
            <a:headEnd type="none" w="sm" len="sm"/>
            <a:tailEnd type="triangle" w="sm" len="sm"/>
          </a:ln>
        </p:spPr>
      </p:cxnSp>
      <p:sp>
        <p:nvSpPr>
          <p:cNvPr id="933" name="Google Shape;933;p54"/>
          <p:cNvSpPr/>
          <p:nvPr/>
        </p:nvSpPr>
        <p:spPr>
          <a:xfrm>
            <a:off x="4937760" y="4736592"/>
            <a:ext cx="164592" cy="164592"/>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34" name="Google Shape;934;p54"/>
          <p:cNvSpPr txBox="1"/>
          <p:nvPr/>
        </p:nvSpPr>
        <p:spPr>
          <a:xfrm>
            <a:off x="685800" y="5468112"/>
            <a:ext cx="5120640" cy="50292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700" b="0" i="0" u="none" strike="noStrike" cap="none">
                <a:solidFill>
                  <a:srgbClr val="59616B"/>
                </a:solidFill>
                <a:latin typeface="Arial"/>
                <a:ea typeface="Arial"/>
                <a:cs typeface="Arial"/>
                <a:sym typeface="Arial"/>
              </a:rPr>
              <a:t>Many signals share a fixed-size channel.</a:t>
            </a:r>
            <a:endParaRPr/>
          </a:p>
        </p:txBody>
      </p:sp>
      <p:sp>
        <p:nvSpPr>
          <p:cNvPr id="935" name="Google Shape;935;p54"/>
          <p:cNvSpPr txBox="1"/>
          <p:nvPr/>
        </p:nvSpPr>
        <p:spPr>
          <a:xfrm>
            <a:off x="6446520" y="3858768"/>
            <a:ext cx="5120640" cy="39319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100" b="1" i="0" u="none" strike="noStrike" cap="none">
                <a:solidFill>
                  <a:srgbClr val="245D68"/>
                </a:solidFill>
                <a:latin typeface="Arial"/>
                <a:ea typeface="Arial"/>
                <a:cs typeface="Arial"/>
                <a:sym typeface="Arial"/>
              </a:rPr>
              <a:t>Over-smoothing</a:t>
            </a:r>
            <a:endParaRPr/>
          </a:p>
        </p:txBody>
      </p:sp>
      <p:sp>
        <p:nvSpPr>
          <p:cNvPr id="936" name="Google Shape;936;p54"/>
          <p:cNvSpPr/>
          <p:nvPr/>
        </p:nvSpPr>
        <p:spPr>
          <a:xfrm>
            <a:off x="6629400" y="4727448"/>
            <a:ext cx="182880" cy="182880"/>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37" name="Google Shape;937;p54"/>
          <p:cNvSpPr/>
          <p:nvPr/>
        </p:nvSpPr>
        <p:spPr>
          <a:xfrm>
            <a:off x="6995160" y="4727448"/>
            <a:ext cx="182880" cy="182880"/>
          </a:xfrm>
          <a:prstGeom prst="ellipse">
            <a:avLst/>
          </a:prstGeom>
          <a:solidFill>
            <a:srgbClr val="C57B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38" name="Google Shape;938;p54"/>
          <p:cNvSpPr/>
          <p:nvPr/>
        </p:nvSpPr>
        <p:spPr>
          <a:xfrm>
            <a:off x="7360920" y="4727448"/>
            <a:ext cx="182880" cy="182880"/>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39" name="Google Shape;939;p54"/>
          <p:cNvSpPr/>
          <p:nvPr/>
        </p:nvSpPr>
        <p:spPr>
          <a:xfrm>
            <a:off x="7726680" y="4727448"/>
            <a:ext cx="182880" cy="182880"/>
          </a:xfrm>
          <a:prstGeom prst="ellipse">
            <a:avLst/>
          </a:prstGeom>
          <a:solidFill>
            <a:srgbClr val="76638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940" name="Google Shape;940;p54"/>
          <p:cNvCxnSpPr/>
          <p:nvPr/>
        </p:nvCxnSpPr>
        <p:spPr>
          <a:xfrm>
            <a:off x="8302752" y="4818888"/>
            <a:ext cx="923544" cy="0"/>
          </a:xfrm>
          <a:prstGeom prst="straightConnector1">
            <a:avLst/>
          </a:prstGeom>
          <a:noFill/>
          <a:ln w="17775" cap="flat" cmpd="sng">
            <a:solidFill>
              <a:srgbClr val="59616B"/>
            </a:solidFill>
            <a:prstDash val="solid"/>
            <a:round/>
            <a:headEnd type="none" w="sm" len="sm"/>
            <a:tailEnd type="triangle" w="sm" len="sm"/>
          </a:ln>
        </p:spPr>
      </p:cxnSp>
      <p:sp>
        <p:nvSpPr>
          <p:cNvPr id="941" name="Google Shape;941;p54"/>
          <p:cNvSpPr/>
          <p:nvPr/>
        </p:nvSpPr>
        <p:spPr>
          <a:xfrm>
            <a:off x="9528048" y="4727448"/>
            <a:ext cx="182880" cy="182880"/>
          </a:xfrm>
          <a:prstGeom prst="ellipse">
            <a:avLst/>
          </a:prstGeom>
          <a:solidFill>
            <a:srgbClr val="ABB4B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42" name="Google Shape;942;p54"/>
          <p:cNvSpPr/>
          <p:nvPr/>
        </p:nvSpPr>
        <p:spPr>
          <a:xfrm>
            <a:off x="9893808" y="4727448"/>
            <a:ext cx="182880" cy="182880"/>
          </a:xfrm>
          <a:prstGeom prst="ellipse">
            <a:avLst/>
          </a:prstGeom>
          <a:solidFill>
            <a:srgbClr val="ABB4B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43" name="Google Shape;943;p54"/>
          <p:cNvSpPr/>
          <p:nvPr/>
        </p:nvSpPr>
        <p:spPr>
          <a:xfrm>
            <a:off x="10259568" y="4727448"/>
            <a:ext cx="182880" cy="182880"/>
          </a:xfrm>
          <a:prstGeom prst="ellipse">
            <a:avLst/>
          </a:prstGeom>
          <a:solidFill>
            <a:srgbClr val="ABB4B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44" name="Google Shape;944;p54"/>
          <p:cNvSpPr/>
          <p:nvPr/>
        </p:nvSpPr>
        <p:spPr>
          <a:xfrm>
            <a:off x="10625328" y="4727448"/>
            <a:ext cx="182880" cy="182880"/>
          </a:xfrm>
          <a:prstGeom prst="ellipse">
            <a:avLst/>
          </a:prstGeom>
          <a:solidFill>
            <a:srgbClr val="ABB4B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45" name="Google Shape;945;p54"/>
          <p:cNvSpPr txBox="1"/>
          <p:nvPr/>
        </p:nvSpPr>
        <p:spPr>
          <a:xfrm>
            <a:off x="6446520" y="5468112"/>
            <a:ext cx="5120640" cy="50292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700" b="0" i="0" u="none" strike="noStrike" cap="none">
                <a:solidFill>
                  <a:srgbClr val="59616B"/>
                </a:solidFill>
                <a:latin typeface="Arial"/>
                <a:ea typeface="Arial"/>
                <a:cs typeface="Arial"/>
                <a:sym typeface="Arial"/>
              </a:rPr>
              <a:t>Repeated mixing erases feature contrast.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50"/>
        <p:cNvGrpSpPr/>
        <p:nvPr/>
      </p:nvGrpSpPr>
      <p:grpSpPr>
        <a:xfrm>
          <a:off x="0" y="0"/>
          <a:ext cx="0" cy="0"/>
          <a:chOff x="0" y="0"/>
          <a:chExt cx="0" cy="0"/>
        </a:xfrm>
      </p:grpSpPr>
      <p:sp>
        <p:nvSpPr>
          <p:cNvPr id="951" name="Google Shape;951;p55"/>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BACKUP · TOKEN UPDATES</a:t>
            </a:r>
            <a:endParaRPr/>
          </a:p>
        </p:txBody>
      </p:sp>
      <p:sp>
        <p:nvSpPr>
          <p:cNvPr id="952" name="Google Shape;952;p55"/>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Sequence, graph and attention updates mix different inputs</a:t>
            </a:r>
            <a:endParaRPr/>
          </a:p>
        </p:txBody>
      </p:sp>
      <p:cxnSp>
        <p:nvCxnSpPr>
          <p:cNvPr id="953" name="Google Shape;953;p55"/>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954" name="Google Shape;954;p55"/>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Dissertation Ch. 1, Fig. 1.3 (a–c).</a:t>
            </a:r>
          </a:p>
        </p:txBody>
      </p:sp>
      <p:sp>
        <p:nvSpPr>
          <p:cNvPr id="955" name="Google Shape;955;p55"/>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BACKUP 03</a:t>
            </a:r>
            <a:endParaRPr/>
          </a:p>
        </p:txBody>
      </p:sp>
      <p:sp>
        <p:nvSpPr>
          <p:cNvPr id="956" name="Google Shape;956;p55"/>
          <p:cNvSpPr txBox="1"/>
          <p:nvPr/>
        </p:nvSpPr>
        <p:spPr>
          <a:xfrm>
            <a:off x="731520" y="1700784"/>
            <a:ext cx="3337560" cy="438912"/>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300" b="1" i="0" u="none" strike="noStrike" cap="none">
                <a:solidFill>
                  <a:srgbClr val="245D68"/>
                </a:solidFill>
                <a:latin typeface="Arial"/>
                <a:ea typeface="Arial"/>
                <a:cs typeface="Arial"/>
                <a:sym typeface="Arial"/>
              </a:rPr>
              <a:t>Sequence-local</a:t>
            </a:r>
            <a:endParaRPr/>
          </a:p>
        </p:txBody>
      </p:sp>
      <p:sp>
        <p:nvSpPr>
          <p:cNvPr id="957" name="Google Shape;957;p55"/>
          <p:cNvSpPr txBox="1"/>
          <p:nvPr/>
        </p:nvSpPr>
        <p:spPr>
          <a:xfrm>
            <a:off x="731520" y="2258568"/>
            <a:ext cx="3337560" cy="68580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700" b="0" i="0" u="none" strike="noStrike" cap="none">
                <a:solidFill>
                  <a:srgbClr val="59616B"/>
                </a:solidFill>
                <a:latin typeface="Arial"/>
                <a:ea typeface="Arial"/>
                <a:cs typeface="Arial"/>
                <a:sym typeface="Arial"/>
              </a:rPr>
              <a:t>Nearby sequence positions</a:t>
            </a:r>
            <a:endParaRPr/>
          </a:p>
        </p:txBody>
      </p:sp>
      <p:sp>
        <p:nvSpPr>
          <p:cNvPr id="958" name="Google Shape;958;p55"/>
          <p:cNvSpPr/>
          <p:nvPr/>
        </p:nvSpPr>
        <p:spPr>
          <a:xfrm>
            <a:off x="896112" y="3154680"/>
            <a:ext cx="457200" cy="530352"/>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9" name="Google Shape;959;p55"/>
          <p:cNvSpPr txBox="1"/>
          <p:nvPr/>
        </p:nvSpPr>
        <p:spPr>
          <a:xfrm>
            <a:off x="1005840" y="3246120"/>
            <a:ext cx="237744" cy="374903"/>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500" b="0" i="0" u="none" strike="noStrike" cap="none">
                <a:solidFill>
                  <a:srgbClr val="21252B"/>
                </a:solidFill>
                <a:latin typeface="Arial"/>
                <a:ea typeface="Arial"/>
                <a:cs typeface="Arial"/>
                <a:sym typeface="Arial"/>
              </a:rPr>
              <a:t>z1</a:t>
            </a:r>
            <a:endParaRPr/>
          </a:p>
        </p:txBody>
      </p:sp>
      <p:sp>
        <p:nvSpPr>
          <p:cNvPr id="960" name="Google Shape;960;p55"/>
          <p:cNvSpPr/>
          <p:nvPr/>
        </p:nvSpPr>
        <p:spPr>
          <a:xfrm>
            <a:off x="1517904" y="3154680"/>
            <a:ext cx="457200" cy="530352"/>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61" name="Google Shape;961;p55"/>
          <p:cNvSpPr txBox="1"/>
          <p:nvPr/>
        </p:nvSpPr>
        <p:spPr>
          <a:xfrm>
            <a:off x="1627632" y="3246120"/>
            <a:ext cx="237744" cy="374903"/>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500" b="0" i="0" u="none" strike="noStrike" cap="none">
                <a:solidFill>
                  <a:srgbClr val="21252B"/>
                </a:solidFill>
                <a:latin typeface="Arial"/>
                <a:ea typeface="Arial"/>
                <a:cs typeface="Arial"/>
                <a:sym typeface="Arial"/>
              </a:rPr>
              <a:t>z2</a:t>
            </a:r>
            <a:endParaRPr/>
          </a:p>
        </p:txBody>
      </p:sp>
      <p:sp>
        <p:nvSpPr>
          <p:cNvPr id="962" name="Google Shape;962;p55"/>
          <p:cNvSpPr/>
          <p:nvPr/>
        </p:nvSpPr>
        <p:spPr>
          <a:xfrm>
            <a:off x="2139696" y="3154680"/>
            <a:ext cx="457200" cy="530352"/>
          </a:xfrm>
          <a:prstGeom prst="roundRect">
            <a:avLst>
              <a:gd name="adj" fmla="val 9000"/>
            </a:avLst>
          </a:prstGeom>
          <a:solidFill>
            <a:srgbClr val="F6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63" name="Google Shape;963;p55"/>
          <p:cNvSpPr txBox="1"/>
          <p:nvPr/>
        </p:nvSpPr>
        <p:spPr>
          <a:xfrm>
            <a:off x="2249424" y="3246120"/>
            <a:ext cx="237744" cy="374903"/>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500" b="0" i="0" u="none" strike="noStrike" cap="none">
                <a:solidFill>
                  <a:srgbClr val="21252B"/>
                </a:solidFill>
                <a:latin typeface="Arial"/>
                <a:ea typeface="Arial"/>
                <a:cs typeface="Arial"/>
                <a:sym typeface="Arial"/>
              </a:rPr>
              <a:t>z3</a:t>
            </a:r>
            <a:endParaRPr/>
          </a:p>
        </p:txBody>
      </p:sp>
      <p:sp>
        <p:nvSpPr>
          <p:cNvPr id="964" name="Google Shape;964;p55"/>
          <p:cNvSpPr/>
          <p:nvPr/>
        </p:nvSpPr>
        <p:spPr>
          <a:xfrm>
            <a:off x="2761488" y="3154680"/>
            <a:ext cx="457200" cy="530352"/>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65" name="Google Shape;965;p55"/>
          <p:cNvSpPr txBox="1"/>
          <p:nvPr/>
        </p:nvSpPr>
        <p:spPr>
          <a:xfrm>
            <a:off x="2871216" y="3246120"/>
            <a:ext cx="237744" cy="374903"/>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500" b="0" i="0" u="none" strike="noStrike" cap="none">
                <a:solidFill>
                  <a:srgbClr val="21252B"/>
                </a:solidFill>
                <a:latin typeface="Arial"/>
                <a:ea typeface="Arial"/>
                <a:cs typeface="Arial"/>
                <a:sym typeface="Arial"/>
              </a:rPr>
              <a:t>z4</a:t>
            </a:r>
            <a:endParaRPr/>
          </a:p>
        </p:txBody>
      </p:sp>
      <p:sp>
        <p:nvSpPr>
          <p:cNvPr id="966" name="Google Shape;966;p55"/>
          <p:cNvSpPr/>
          <p:nvPr/>
        </p:nvSpPr>
        <p:spPr>
          <a:xfrm>
            <a:off x="3383280" y="3154680"/>
            <a:ext cx="457200" cy="530352"/>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67" name="Google Shape;967;p55"/>
          <p:cNvSpPr txBox="1"/>
          <p:nvPr/>
        </p:nvSpPr>
        <p:spPr>
          <a:xfrm>
            <a:off x="3493008" y="3246120"/>
            <a:ext cx="237744" cy="374903"/>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500" b="0" i="0" u="none" strike="noStrike" cap="none">
                <a:solidFill>
                  <a:srgbClr val="21252B"/>
                </a:solidFill>
                <a:latin typeface="Arial"/>
                <a:ea typeface="Arial"/>
                <a:cs typeface="Arial"/>
                <a:sym typeface="Arial"/>
              </a:rPr>
              <a:t>z5</a:t>
            </a:r>
            <a:endParaRPr/>
          </a:p>
        </p:txBody>
      </p:sp>
      <p:sp>
        <p:nvSpPr>
          <p:cNvPr id="968" name="Google Shape;968;p55"/>
          <p:cNvSpPr/>
          <p:nvPr/>
        </p:nvSpPr>
        <p:spPr>
          <a:xfrm>
            <a:off x="1920240" y="4846320"/>
            <a:ext cx="914400" cy="603504"/>
          </a:xfrm>
          <a:prstGeom prst="roundRect">
            <a:avLst>
              <a:gd name="adj" fmla="val 9000"/>
            </a:avLst>
          </a:prstGeom>
          <a:solidFill>
            <a:srgbClr val="F6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69" name="Google Shape;969;p55"/>
          <p:cNvSpPr txBox="1"/>
          <p:nvPr/>
        </p:nvSpPr>
        <p:spPr>
          <a:xfrm>
            <a:off x="2029968" y="4937759"/>
            <a:ext cx="694944" cy="448056"/>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2300" b="0" i="0" u="none" strike="noStrike" cap="none">
                <a:solidFill>
                  <a:srgbClr val="21252B"/>
                </a:solidFill>
                <a:latin typeface="Arial"/>
                <a:ea typeface="Arial"/>
                <a:cs typeface="Arial"/>
                <a:sym typeface="Arial"/>
              </a:rPr>
              <a:t>z′3</a:t>
            </a:r>
            <a:endParaRPr/>
          </a:p>
        </p:txBody>
      </p:sp>
      <p:cxnSp>
        <p:nvCxnSpPr>
          <p:cNvPr id="970" name="Google Shape;970;p55"/>
          <p:cNvCxnSpPr/>
          <p:nvPr/>
        </p:nvCxnSpPr>
        <p:spPr>
          <a:xfrm>
            <a:off x="1746504" y="3712463"/>
            <a:ext cx="630936" cy="1088137"/>
          </a:xfrm>
          <a:prstGeom prst="straightConnector1">
            <a:avLst/>
          </a:prstGeom>
          <a:noFill/>
          <a:ln w="22850" cap="flat" cmpd="sng">
            <a:solidFill>
              <a:srgbClr val="245D68"/>
            </a:solidFill>
            <a:prstDash val="solid"/>
            <a:round/>
            <a:headEnd type="none" w="sm" len="sm"/>
            <a:tailEnd type="triangle" w="sm" len="sm"/>
          </a:ln>
        </p:spPr>
      </p:cxnSp>
      <p:cxnSp>
        <p:nvCxnSpPr>
          <p:cNvPr id="971" name="Google Shape;971;p55"/>
          <p:cNvCxnSpPr/>
          <p:nvPr/>
        </p:nvCxnSpPr>
        <p:spPr>
          <a:xfrm>
            <a:off x="2368296" y="3712463"/>
            <a:ext cx="9144" cy="1088137"/>
          </a:xfrm>
          <a:prstGeom prst="straightConnector1">
            <a:avLst/>
          </a:prstGeom>
          <a:noFill/>
          <a:ln w="15225" cap="flat" cmpd="sng">
            <a:solidFill>
              <a:srgbClr val="245D68"/>
            </a:solidFill>
            <a:prstDash val="solid"/>
            <a:round/>
            <a:headEnd type="none" w="sm" len="sm"/>
            <a:tailEnd type="triangle" w="sm" len="sm"/>
          </a:ln>
        </p:spPr>
      </p:cxnSp>
      <p:cxnSp>
        <p:nvCxnSpPr>
          <p:cNvPr id="972" name="Google Shape;972;p55"/>
          <p:cNvCxnSpPr/>
          <p:nvPr/>
        </p:nvCxnSpPr>
        <p:spPr>
          <a:xfrm flipH="1">
            <a:off x="2377440" y="3712463"/>
            <a:ext cx="612648" cy="1088137"/>
          </a:xfrm>
          <a:prstGeom prst="straightConnector1">
            <a:avLst/>
          </a:prstGeom>
          <a:noFill/>
          <a:ln w="22850" cap="flat" cmpd="sng">
            <a:solidFill>
              <a:srgbClr val="245D68"/>
            </a:solidFill>
            <a:prstDash val="solid"/>
            <a:round/>
            <a:headEnd type="none" w="sm" len="sm"/>
            <a:tailEnd type="triangle" w="sm" len="sm"/>
          </a:ln>
        </p:spPr>
      </p:cxnSp>
      <p:sp>
        <p:nvSpPr>
          <p:cNvPr id="973" name="Google Shape;973;p55"/>
          <p:cNvSpPr txBox="1"/>
          <p:nvPr/>
        </p:nvSpPr>
        <p:spPr>
          <a:xfrm>
            <a:off x="4572000" y="1700784"/>
            <a:ext cx="3337560" cy="438912"/>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300" b="1" i="0" u="none" strike="noStrike" cap="none">
                <a:solidFill>
                  <a:srgbClr val="245D68"/>
                </a:solidFill>
                <a:latin typeface="Arial"/>
                <a:ea typeface="Arial"/>
                <a:cs typeface="Arial"/>
                <a:sym typeface="Arial"/>
              </a:rPr>
              <a:t>Graph</a:t>
            </a:r>
            <a:endParaRPr/>
          </a:p>
        </p:txBody>
      </p:sp>
      <p:sp>
        <p:nvSpPr>
          <p:cNvPr id="974" name="Google Shape;974;p55"/>
          <p:cNvSpPr txBox="1"/>
          <p:nvPr/>
        </p:nvSpPr>
        <p:spPr>
          <a:xfrm>
            <a:off x="4572000" y="2258568"/>
            <a:ext cx="3337560" cy="68580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700" b="0" i="0" u="none" strike="noStrike" cap="none">
                <a:solidFill>
                  <a:srgbClr val="59616B"/>
                </a:solidFill>
                <a:latin typeface="Arial"/>
                <a:ea typeface="Arial"/>
                <a:cs typeface="Arial"/>
                <a:sym typeface="Arial"/>
              </a:rPr>
              <a:t>Bond or contact neighbors</a:t>
            </a:r>
            <a:endParaRPr/>
          </a:p>
        </p:txBody>
      </p:sp>
      <p:sp>
        <p:nvSpPr>
          <p:cNvPr id="975" name="Google Shape;975;p55"/>
          <p:cNvSpPr/>
          <p:nvPr/>
        </p:nvSpPr>
        <p:spPr>
          <a:xfrm>
            <a:off x="4736592" y="3154680"/>
            <a:ext cx="457200" cy="530352"/>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6" name="Google Shape;976;p55"/>
          <p:cNvSpPr txBox="1"/>
          <p:nvPr/>
        </p:nvSpPr>
        <p:spPr>
          <a:xfrm>
            <a:off x="4846320" y="3246120"/>
            <a:ext cx="237744" cy="374903"/>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500" b="0" i="0" u="none" strike="noStrike" cap="none">
                <a:solidFill>
                  <a:srgbClr val="21252B"/>
                </a:solidFill>
                <a:latin typeface="Arial"/>
                <a:ea typeface="Arial"/>
                <a:cs typeface="Arial"/>
                <a:sym typeface="Arial"/>
              </a:rPr>
              <a:t>z1</a:t>
            </a:r>
            <a:endParaRPr/>
          </a:p>
        </p:txBody>
      </p:sp>
      <p:sp>
        <p:nvSpPr>
          <p:cNvPr id="977" name="Google Shape;977;p55"/>
          <p:cNvSpPr/>
          <p:nvPr/>
        </p:nvSpPr>
        <p:spPr>
          <a:xfrm>
            <a:off x="5358383" y="3154680"/>
            <a:ext cx="457200" cy="530352"/>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8" name="Google Shape;978;p55"/>
          <p:cNvSpPr txBox="1"/>
          <p:nvPr/>
        </p:nvSpPr>
        <p:spPr>
          <a:xfrm>
            <a:off x="5468112" y="3246120"/>
            <a:ext cx="237744" cy="374903"/>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500" b="0" i="0" u="none" strike="noStrike" cap="none">
                <a:solidFill>
                  <a:srgbClr val="21252B"/>
                </a:solidFill>
                <a:latin typeface="Arial"/>
                <a:ea typeface="Arial"/>
                <a:cs typeface="Arial"/>
                <a:sym typeface="Arial"/>
              </a:rPr>
              <a:t>z2</a:t>
            </a:r>
            <a:endParaRPr/>
          </a:p>
        </p:txBody>
      </p:sp>
      <p:sp>
        <p:nvSpPr>
          <p:cNvPr id="979" name="Google Shape;979;p55"/>
          <p:cNvSpPr/>
          <p:nvPr/>
        </p:nvSpPr>
        <p:spPr>
          <a:xfrm>
            <a:off x="5980176" y="3154680"/>
            <a:ext cx="457200" cy="530352"/>
          </a:xfrm>
          <a:prstGeom prst="roundRect">
            <a:avLst>
              <a:gd name="adj" fmla="val 9000"/>
            </a:avLst>
          </a:prstGeom>
          <a:solidFill>
            <a:srgbClr val="F6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80" name="Google Shape;980;p55"/>
          <p:cNvSpPr txBox="1"/>
          <p:nvPr/>
        </p:nvSpPr>
        <p:spPr>
          <a:xfrm>
            <a:off x="6089904" y="3246120"/>
            <a:ext cx="237744" cy="374903"/>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500" b="0" i="0" u="none" strike="noStrike" cap="none">
                <a:solidFill>
                  <a:srgbClr val="21252B"/>
                </a:solidFill>
                <a:latin typeface="Arial"/>
                <a:ea typeface="Arial"/>
                <a:cs typeface="Arial"/>
                <a:sym typeface="Arial"/>
              </a:rPr>
              <a:t>z3</a:t>
            </a:r>
            <a:endParaRPr/>
          </a:p>
        </p:txBody>
      </p:sp>
      <p:sp>
        <p:nvSpPr>
          <p:cNvPr id="981" name="Google Shape;981;p55"/>
          <p:cNvSpPr/>
          <p:nvPr/>
        </p:nvSpPr>
        <p:spPr>
          <a:xfrm>
            <a:off x="6601968" y="3154680"/>
            <a:ext cx="457200" cy="530352"/>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82" name="Google Shape;982;p55"/>
          <p:cNvSpPr txBox="1"/>
          <p:nvPr/>
        </p:nvSpPr>
        <p:spPr>
          <a:xfrm>
            <a:off x="6711696" y="3246120"/>
            <a:ext cx="237744" cy="374903"/>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500" b="0" i="0" u="none" strike="noStrike" cap="none">
                <a:solidFill>
                  <a:srgbClr val="21252B"/>
                </a:solidFill>
                <a:latin typeface="Arial"/>
                <a:ea typeface="Arial"/>
                <a:cs typeface="Arial"/>
                <a:sym typeface="Arial"/>
              </a:rPr>
              <a:t>z4</a:t>
            </a:r>
            <a:endParaRPr/>
          </a:p>
        </p:txBody>
      </p:sp>
      <p:sp>
        <p:nvSpPr>
          <p:cNvPr id="983" name="Google Shape;983;p55"/>
          <p:cNvSpPr/>
          <p:nvPr/>
        </p:nvSpPr>
        <p:spPr>
          <a:xfrm>
            <a:off x="7223760" y="3154680"/>
            <a:ext cx="457200" cy="530352"/>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84" name="Google Shape;984;p55"/>
          <p:cNvSpPr txBox="1"/>
          <p:nvPr/>
        </p:nvSpPr>
        <p:spPr>
          <a:xfrm>
            <a:off x="7333488" y="3246120"/>
            <a:ext cx="237744" cy="374903"/>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500" b="0" i="0" u="none" strike="noStrike" cap="none">
                <a:solidFill>
                  <a:srgbClr val="21252B"/>
                </a:solidFill>
                <a:latin typeface="Arial"/>
                <a:ea typeface="Arial"/>
                <a:cs typeface="Arial"/>
                <a:sym typeface="Arial"/>
              </a:rPr>
              <a:t>z5</a:t>
            </a:r>
            <a:endParaRPr/>
          </a:p>
        </p:txBody>
      </p:sp>
      <p:sp>
        <p:nvSpPr>
          <p:cNvPr id="985" name="Google Shape;985;p55"/>
          <p:cNvSpPr/>
          <p:nvPr/>
        </p:nvSpPr>
        <p:spPr>
          <a:xfrm>
            <a:off x="5760720" y="4846320"/>
            <a:ext cx="914400" cy="603504"/>
          </a:xfrm>
          <a:prstGeom prst="roundRect">
            <a:avLst>
              <a:gd name="adj" fmla="val 9000"/>
            </a:avLst>
          </a:prstGeom>
          <a:solidFill>
            <a:srgbClr val="F6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86" name="Google Shape;986;p55"/>
          <p:cNvSpPr txBox="1"/>
          <p:nvPr/>
        </p:nvSpPr>
        <p:spPr>
          <a:xfrm>
            <a:off x="5870448" y="4937759"/>
            <a:ext cx="694944" cy="448056"/>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2300" b="0" i="0" u="none" strike="noStrike" cap="none">
                <a:solidFill>
                  <a:srgbClr val="21252B"/>
                </a:solidFill>
                <a:latin typeface="Arial"/>
                <a:ea typeface="Arial"/>
                <a:cs typeface="Arial"/>
                <a:sym typeface="Arial"/>
              </a:rPr>
              <a:t>z′3</a:t>
            </a:r>
            <a:endParaRPr/>
          </a:p>
        </p:txBody>
      </p:sp>
      <p:cxnSp>
        <p:nvCxnSpPr>
          <p:cNvPr id="987" name="Google Shape;987;p55"/>
          <p:cNvCxnSpPr/>
          <p:nvPr/>
        </p:nvCxnSpPr>
        <p:spPr>
          <a:xfrm>
            <a:off x="4965192" y="3712463"/>
            <a:ext cx="1252728" cy="1088137"/>
          </a:xfrm>
          <a:prstGeom prst="straightConnector1">
            <a:avLst/>
          </a:prstGeom>
          <a:noFill/>
          <a:ln w="15225" cap="flat" cmpd="sng">
            <a:solidFill>
              <a:srgbClr val="245D68"/>
            </a:solidFill>
            <a:prstDash val="solid"/>
            <a:round/>
            <a:headEnd type="none" w="sm" len="sm"/>
            <a:tailEnd type="triangle" w="sm" len="sm"/>
          </a:ln>
        </p:spPr>
      </p:cxnSp>
      <p:cxnSp>
        <p:nvCxnSpPr>
          <p:cNvPr id="988" name="Google Shape;988;p55"/>
          <p:cNvCxnSpPr/>
          <p:nvPr/>
        </p:nvCxnSpPr>
        <p:spPr>
          <a:xfrm>
            <a:off x="6208776" y="3712463"/>
            <a:ext cx="9144" cy="1088137"/>
          </a:xfrm>
          <a:prstGeom prst="straightConnector1">
            <a:avLst/>
          </a:prstGeom>
          <a:noFill/>
          <a:ln w="15225" cap="flat" cmpd="sng">
            <a:solidFill>
              <a:srgbClr val="245D68"/>
            </a:solidFill>
            <a:prstDash val="solid"/>
            <a:round/>
            <a:headEnd type="none" w="sm" len="sm"/>
            <a:tailEnd type="triangle" w="sm" len="sm"/>
          </a:ln>
        </p:spPr>
      </p:cxnSp>
      <p:cxnSp>
        <p:nvCxnSpPr>
          <p:cNvPr id="989" name="Google Shape;989;p55"/>
          <p:cNvCxnSpPr/>
          <p:nvPr/>
        </p:nvCxnSpPr>
        <p:spPr>
          <a:xfrm flipH="1">
            <a:off x="6217920" y="3712463"/>
            <a:ext cx="1234440" cy="1088137"/>
          </a:xfrm>
          <a:prstGeom prst="straightConnector1">
            <a:avLst/>
          </a:prstGeom>
          <a:noFill/>
          <a:ln w="15225" cap="flat" cmpd="sng">
            <a:solidFill>
              <a:srgbClr val="245D68"/>
            </a:solidFill>
            <a:prstDash val="solid"/>
            <a:round/>
            <a:headEnd type="none" w="sm" len="sm"/>
            <a:tailEnd type="triangle" w="sm" len="sm"/>
          </a:ln>
        </p:spPr>
      </p:cxnSp>
      <p:sp>
        <p:nvSpPr>
          <p:cNvPr id="990" name="Google Shape;990;p55"/>
          <p:cNvSpPr txBox="1"/>
          <p:nvPr/>
        </p:nvSpPr>
        <p:spPr>
          <a:xfrm>
            <a:off x="8412480" y="1700784"/>
            <a:ext cx="3337560" cy="438912"/>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300" b="1" i="0" u="none" strike="noStrike" cap="none">
                <a:solidFill>
                  <a:srgbClr val="245D68"/>
                </a:solidFill>
                <a:latin typeface="Arial"/>
                <a:ea typeface="Arial"/>
                <a:cs typeface="Arial"/>
                <a:sym typeface="Arial"/>
              </a:rPr>
              <a:t>Self-attention</a:t>
            </a:r>
            <a:endParaRPr/>
          </a:p>
        </p:txBody>
      </p:sp>
      <p:sp>
        <p:nvSpPr>
          <p:cNvPr id="991" name="Google Shape;991;p55"/>
          <p:cNvSpPr txBox="1"/>
          <p:nvPr/>
        </p:nvSpPr>
        <p:spPr>
          <a:xfrm>
            <a:off x="8412480" y="2258568"/>
            <a:ext cx="3337560" cy="68580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700" b="0" i="0" u="none" strike="noStrike" cap="none">
                <a:solidFill>
                  <a:srgbClr val="59616B"/>
                </a:solidFill>
                <a:latin typeface="Arial"/>
                <a:ea typeface="Arial"/>
                <a:cs typeface="Arial"/>
                <a:sym typeface="Arial"/>
              </a:rPr>
              <a:t>All unmasked tokens</a:t>
            </a:r>
            <a:endParaRPr/>
          </a:p>
        </p:txBody>
      </p:sp>
      <p:sp>
        <p:nvSpPr>
          <p:cNvPr id="992" name="Google Shape;992;p55"/>
          <p:cNvSpPr/>
          <p:nvPr/>
        </p:nvSpPr>
        <p:spPr>
          <a:xfrm>
            <a:off x="8577072" y="3154680"/>
            <a:ext cx="457200" cy="530352"/>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93" name="Google Shape;993;p55"/>
          <p:cNvSpPr txBox="1"/>
          <p:nvPr/>
        </p:nvSpPr>
        <p:spPr>
          <a:xfrm>
            <a:off x="8686800" y="3246120"/>
            <a:ext cx="237744" cy="374903"/>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500" b="0" i="0" u="none" strike="noStrike" cap="none">
                <a:solidFill>
                  <a:srgbClr val="21252B"/>
                </a:solidFill>
                <a:latin typeface="Arial"/>
                <a:ea typeface="Arial"/>
                <a:cs typeface="Arial"/>
                <a:sym typeface="Arial"/>
              </a:rPr>
              <a:t>z1</a:t>
            </a:r>
            <a:endParaRPr/>
          </a:p>
        </p:txBody>
      </p:sp>
      <p:sp>
        <p:nvSpPr>
          <p:cNvPr id="994" name="Google Shape;994;p55"/>
          <p:cNvSpPr/>
          <p:nvPr/>
        </p:nvSpPr>
        <p:spPr>
          <a:xfrm>
            <a:off x="9198864" y="3154680"/>
            <a:ext cx="457200" cy="530352"/>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95" name="Google Shape;995;p55"/>
          <p:cNvSpPr txBox="1"/>
          <p:nvPr/>
        </p:nvSpPr>
        <p:spPr>
          <a:xfrm>
            <a:off x="9308592" y="3246120"/>
            <a:ext cx="237744" cy="374903"/>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500" b="0" i="0" u="none" strike="noStrike" cap="none">
                <a:solidFill>
                  <a:srgbClr val="21252B"/>
                </a:solidFill>
                <a:latin typeface="Arial"/>
                <a:ea typeface="Arial"/>
                <a:cs typeface="Arial"/>
                <a:sym typeface="Arial"/>
              </a:rPr>
              <a:t>z2</a:t>
            </a:r>
            <a:endParaRPr/>
          </a:p>
        </p:txBody>
      </p:sp>
      <p:sp>
        <p:nvSpPr>
          <p:cNvPr id="996" name="Google Shape;996;p55"/>
          <p:cNvSpPr/>
          <p:nvPr/>
        </p:nvSpPr>
        <p:spPr>
          <a:xfrm>
            <a:off x="9820656" y="3154680"/>
            <a:ext cx="457200" cy="530352"/>
          </a:xfrm>
          <a:prstGeom prst="roundRect">
            <a:avLst>
              <a:gd name="adj" fmla="val 9000"/>
            </a:avLst>
          </a:prstGeom>
          <a:solidFill>
            <a:srgbClr val="F6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97" name="Google Shape;997;p55"/>
          <p:cNvSpPr txBox="1"/>
          <p:nvPr/>
        </p:nvSpPr>
        <p:spPr>
          <a:xfrm>
            <a:off x="9930384" y="3246120"/>
            <a:ext cx="237744" cy="374903"/>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500" b="0" i="0" u="none" strike="noStrike" cap="none">
                <a:solidFill>
                  <a:srgbClr val="21252B"/>
                </a:solidFill>
                <a:latin typeface="Arial"/>
                <a:ea typeface="Arial"/>
                <a:cs typeface="Arial"/>
                <a:sym typeface="Arial"/>
              </a:rPr>
              <a:t>z3</a:t>
            </a:r>
            <a:endParaRPr/>
          </a:p>
        </p:txBody>
      </p:sp>
      <p:sp>
        <p:nvSpPr>
          <p:cNvPr id="998" name="Google Shape;998;p55"/>
          <p:cNvSpPr/>
          <p:nvPr/>
        </p:nvSpPr>
        <p:spPr>
          <a:xfrm>
            <a:off x="10442448" y="3154680"/>
            <a:ext cx="457200" cy="530352"/>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99" name="Google Shape;999;p55"/>
          <p:cNvSpPr txBox="1"/>
          <p:nvPr/>
        </p:nvSpPr>
        <p:spPr>
          <a:xfrm>
            <a:off x="10552176" y="3246120"/>
            <a:ext cx="237744" cy="374903"/>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500" b="0" i="0" u="none" strike="noStrike" cap="none">
                <a:solidFill>
                  <a:srgbClr val="21252B"/>
                </a:solidFill>
                <a:latin typeface="Arial"/>
                <a:ea typeface="Arial"/>
                <a:cs typeface="Arial"/>
                <a:sym typeface="Arial"/>
              </a:rPr>
              <a:t>z4</a:t>
            </a:r>
            <a:endParaRPr/>
          </a:p>
        </p:txBody>
      </p:sp>
      <p:sp>
        <p:nvSpPr>
          <p:cNvPr id="1000" name="Google Shape;1000;p55"/>
          <p:cNvSpPr/>
          <p:nvPr/>
        </p:nvSpPr>
        <p:spPr>
          <a:xfrm>
            <a:off x="11064240" y="3154680"/>
            <a:ext cx="457200" cy="530352"/>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01" name="Google Shape;1001;p55"/>
          <p:cNvSpPr txBox="1"/>
          <p:nvPr/>
        </p:nvSpPr>
        <p:spPr>
          <a:xfrm>
            <a:off x="11173968" y="3246120"/>
            <a:ext cx="237744" cy="374903"/>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500" b="0" i="0" u="none" strike="noStrike" cap="none">
                <a:solidFill>
                  <a:srgbClr val="21252B"/>
                </a:solidFill>
                <a:latin typeface="Arial"/>
                <a:ea typeface="Arial"/>
                <a:cs typeface="Arial"/>
                <a:sym typeface="Arial"/>
              </a:rPr>
              <a:t>z5</a:t>
            </a:r>
            <a:endParaRPr/>
          </a:p>
        </p:txBody>
      </p:sp>
      <p:sp>
        <p:nvSpPr>
          <p:cNvPr id="1002" name="Google Shape;1002;p55"/>
          <p:cNvSpPr/>
          <p:nvPr/>
        </p:nvSpPr>
        <p:spPr>
          <a:xfrm>
            <a:off x="9601200" y="4846320"/>
            <a:ext cx="914400" cy="603504"/>
          </a:xfrm>
          <a:prstGeom prst="roundRect">
            <a:avLst>
              <a:gd name="adj" fmla="val 9000"/>
            </a:avLst>
          </a:prstGeom>
          <a:solidFill>
            <a:srgbClr val="F6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03" name="Google Shape;1003;p55"/>
          <p:cNvSpPr txBox="1"/>
          <p:nvPr/>
        </p:nvSpPr>
        <p:spPr>
          <a:xfrm>
            <a:off x="9710928" y="4937759"/>
            <a:ext cx="694944" cy="448056"/>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2300" b="0" i="0" u="none" strike="noStrike" cap="none">
                <a:solidFill>
                  <a:srgbClr val="21252B"/>
                </a:solidFill>
                <a:latin typeface="Arial"/>
                <a:ea typeface="Arial"/>
                <a:cs typeface="Arial"/>
                <a:sym typeface="Arial"/>
              </a:rPr>
              <a:t>z′3</a:t>
            </a:r>
            <a:endParaRPr/>
          </a:p>
        </p:txBody>
      </p:sp>
      <p:cxnSp>
        <p:nvCxnSpPr>
          <p:cNvPr id="1004" name="Google Shape;1004;p55"/>
          <p:cNvCxnSpPr/>
          <p:nvPr/>
        </p:nvCxnSpPr>
        <p:spPr>
          <a:xfrm>
            <a:off x="8805672" y="3712463"/>
            <a:ext cx="1252728" cy="1088137"/>
          </a:xfrm>
          <a:prstGeom prst="straightConnector1">
            <a:avLst/>
          </a:prstGeom>
          <a:noFill/>
          <a:ln w="15225" cap="flat" cmpd="sng">
            <a:solidFill>
              <a:srgbClr val="245D68"/>
            </a:solidFill>
            <a:prstDash val="solid"/>
            <a:round/>
            <a:headEnd type="none" w="sm" len="sm"/>
            <a:tailEnd type="triangle" w="sm" len="sm"/>
          </a:ln>
        </p:spPr>
      </p:cxnSp>
      <p:cxnSp>
        <p:nvCxnSpPr>
          <p:cNvPr id="1005" name="Google Shape;1005;p55"/>
          <p:cNvCxnSpPr/>
          <p:nvPr/>
        </p:nvCxnSpPr>
        <p:spPr>
          <a:xfrm>
            <a:off x="9427464" y="3712463"/>
            <a:ext cx="630936" cy="1088137"/>
          </a:xfrm>
          <a:prstGeom prst="straightConnector1">
            <a:avLst/>
          </a:prstGeom>
          <a:noFill/>
          <a:ln w="22850" cap="flat" cmpd="sng">
            <a:solidFill>
              <a:srgbClr val="245D68"/>
            </a:solidFill>
            <a:prstDash val="solid"/>
            <a:round/>
            <a:headEnd type="none" w="sm" len="sm"/>
            <a:tailEnd type="triangle" w="sm" len="sm"/>
          </a:ln>
        </p:spPr>
      </p:cxnSp>
      <p:cxnSp>
        <p:nvCxnSpPr>
          <p:cNvPr id="1006" name="Google Shape;1006;p55"/>
          <p:cNvCxnSpPr/>
          <p:nvPr/>
        </p:nvCxnSpPr>
        <p:spPr>
          <a:xfrm>
            <a:off x="10049256" y="3712463"/>
            <a:ext cx="9144" cy="1088137"/>
          </a:xfrm>
          <a:prstGeom prst="straightConnector1">
            <a:avLst/>
          </a:prstGeom>
          <a:noFill/>
          <a:ln w="15225" cap="flat" cmpd="sng">
            <a:solidFill>
              <a:srgbClr val="245D68"/>
            </a:solidFill>
            <a:prstDash val="solid"/>
            <a:round/>
            <a:headEnd type="none" w="sm" len="sm"/>
            <a:tailEnd type="triangle" w="sm" len="sm"/>
          </a:ln>
        </p:spPr>
      </p:cxnSp>
      <p:cxnSp>
        <p:nvCxnSpPr>
          <p:cNvPr id="1007" name="Google Shape;1007;p55"/>
          <p:cNvCxnSpPr/>
          <p:nvPr/>
        </p:nvCxnSpPr>
        <p:spPr>
          <a:xfrm flipH="1">
            <a:off x="10058400" y="3712463"/>
            <a:ext cx="612648" cy="1088137"/>
          </a:xfrm>
          <a:prstGeom prst="straightConnector1">
            <a:avLst/>
          </a:prstGeom>
          <a:noFill/>
          <a:ln w="22850" cap="flat" cmpd="sng">
            <a:solidFill>
              <a:srgbClr val="245D68"/>
            </a:solidFill>
            <a:prstDash val="solid"/>
            <a:round/>
            <a:headEnd type="none" w="sm" len="sm"/>
            <a:tailEnd type="triangle" w="sm" len="sm"/>
          </a:ln>
        </p:spPr>
      </p:cxnSp>
      <p:cxnSp>
        <p:nvCxnSpPr>
          <p:cNvPr id="1008" name="Google Shape;1008;p55"/>
          <p:cNvCxnSpPr/>
          <p:nvPr/>
        </p:nvCxnSpPr>
        <p:spPr>
          <a:xfrm flipH="1">
            <a:off x="10058400" y="3712463"/>
            <a:ext cx="1234440" cy="1088137"/>
          </a:xfrm>
          <a:prstGeom prst="straightConnector1">
            <a:avLst/>
          </a:prstGeom>
          <a:noFill/>
          <a:ln w="15225" cap="flat" cmpd="sng">
            <a:solidFill>
              <a:srgbClr val="245D68"/>
            </a:solidFill>
            <a:prstDash val="solid"/>
            <a:round/>
            <a:headEnd type="none" w="sm" len="sm"/>
            <a:tailEnd type="triangle" w="sm" len="sm"/>
          </a:ln>
        </p:spPr>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13"/>
        <p:cNvGrpSpPr/>
        <p:nvPr/>
      </p:nvGrpSpPr>
      <p:grpSpPr>
        <a:xfrm>
          <a:off x="0" y="0"/>
          <a:ext cx="0" cy="0"/>
          <a:chOff x="0" y="0"/>
          <a:chExt cx="0" cy="0"/>
        </a:xfrm>
      </p:grpSpPr>
      <p:sp>
        <p:nvSpPr>
          <p:cNvPr id="1014" name="Google Shape;1014;p56"/>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BACKUP · MOLECULAR HIERARCHY</a:t>
            </a:r>
            <a:endParaRPr/>
          </a:p>
        </p:txBody>
      </p:sp>
      <p:sp>
        <p:nvSpPr>
          <p:cNvPr id="1015" name="Google Shape;1015;p56"/>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Hierarchy changes the representation, not the MD resolution</a:t>
            </a:r>
            <a:endParaRPr/>
          </a:p>
        </p:txBody>
      </p:sp>
      <p:cxnSp>
        <p:nvCxnSpPr>
          <p:cNvPr id="1016" name="Google Shape;1016;p56"/>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1017" name="Google Shape;1017;p56"/>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Dissertation Ch. 1, Fig. 1.3 (d, e). SubFormer: Pengmei et al. (2023); token merging: Pengmei et al., J. Chem. Phys. (2026).</a:t>
            </a:r>
          </a:p>
        </p:txBody>
      </p:sp>
      <p:sp>
        <p:nvSpPr>
          <p:cNvPr id="1018" name="Google Shape;1018;p56"/>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BACKUP 04</a:t>
            </a:r>
            <a:endParaRPr/>
          </a:p>
        </p:txBody>
      </p:sp>
      <p:sp>
        <p:nvSpPr>
          <p:cNvPr id="1019" name="Google Shape;1019;p56"/>
          <p:cNvSpPr txBox="1"/>
          <p:nvPr/>
        </p:nvSpPr>
        <p:spPr>
          <a:xfrm>
            <a:off x="786384" y="1636776"/>
            <a:ext cx="10515600" cy="42062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200" b="1" i="0" u="none" strike="noStrike" cap="none">
                <a:solidFill>
                  <a:srgbClr val="245D68"/>
                </a:solidFill>
                <a:latin typeface="Arial"/>
                <a:ea typeface="Arial"/>
                <a:cs typeface="Arial"/>
                <a:sym typeface="Arial"/>
              </a:rPr>
              <a:t>SubFormer: atoms → chemical fragments</a:t>
            </a:r>
            <a:endParaRPr/>
          </a:p>
        </p:txBody>
      </p:sp>
      <p:sp>
        <p:nvSpPr>
          <p:cNvPr id="1020" name="Google Shape;1020;p56"/>
          <p:cNvSpPr txBox="1"/>
          <p:nvPr/>
        </p:nvSpPr>
        <p:spPr>
          <a:xfrm>
            <a:off x="786384" y="3968496"/>
            <a:ext cx="10515600" cy="42062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200" b="1" i="0" u="none" strike="noStrike" cap="none">
                <a:solidFill>
                  <a:srgbClr val="245D68"/>
                </a:solidFill>
                <a:latin typeface="Arial"/>
                <a:ea typeface="Arial"/>
                <a:cs typeface="Arial"/>
                <a:sym typeface="Arial"/>
              </a:rPr>
              <a:t>Token merging: spatial exchange → sequence windows</a:t>
            </a:r>
            <a:endParaRPr/>
          </a:p>
        </p:txBody>
      </p:sp>
      <p:sp>
        <p:nvSpPr>
          <p:cNvPr id="1021" name="Google Shape;1021;p56"/>
          <p:cNvSpPr/>
          <p:nvPr/>
        </p:nvSpPr>
        <p:spPr>
          <a:xfrm>
            <a:off x="1074420" y="2336291"/>
            <a:ext cx="137160" cy="137160"/>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22" name="Google Shape;1022;p56"/>
          <p:cNvSpPr/>
          <p:nvPr/>
        </p:nvSpPr>
        <p:spPr>
          <a:xfrm>
            <a:off x="1467612" y="2601468"/>
            <a:ext cx="137160" cy="137160"/>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23" name="Google Shape;1023;p56"/>
          <p:cNvSpPr/>
          <p:nvPr/>
        </p:nvSpPr>
        <p:spPr>
          <a:xfrm>
            <a:off x="1860803" y="2336291"/>
            <a:ext cx="137160" cy="137160"/>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24" name="Google Shape;1024;p56"/>
          <p:cNvSpPr/>
          <p:nvPr/>
        </p:nvSpPr>
        <p:spPr>
          <a:xfrm>
            <a:off x="2253996" y="2601468"/>
            <a:ext cx="137160" cy="137160"/>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25" name="Google Shape;1025;p56"/>
          <p:cNvSpPr/>
          <p:nvPr/>
        </p:nvSpPr>
        <p:spPr>
          <a:xfrm>
            <a:off x="2647187" y="2336291"/>
            <a:ext cx="137160" cy="137160"/>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26" name="Google Shape;1026;p56"/>
          <p:cNvSpPr/>
          <p:nvPr/>
        </p:nvSpPr>
        <p:spPr>
          <a:xfrm>
            <a:off x="3040379" y="2601468"/>
            <a:ext cx="137160" cy="137160"/>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1027" name="Google Shape;1027;p56"/>
          <p:cNvCxnSpPr/>
          <p:nvPr/>
        </p:nvCxnSpPr>
        <p:spPr>
          <a:xfrm>
            <a:off x="1143000" y="2404872"/>
            <a:ext cx="393192" cy="265176"/>
          </a:xfrm>
          <a:prstGeom prst="straightConnector1">
            <a:avLst/>
          </a:prstGeom>
          <a:noFill/>
          <a:ln w="12700" cap="flat" cmpd="sng">
            <a:solidFill>
              <a:srgbClr val="59616B"/>
            </a:solidFill>
            <a:prstDash val="solid"/>
            <a:round/>
            <a:headEnd type="none" w="sm" len="sm"/>
            <a:tailEnd type="none" w="sm" len="sm"/>
          </a:ln>
        </p:spPr>
      </p:cxnSp>
      <p:cxnSp>
        <p:nvCxnSpPr>
          <p:cNvPr id="1028" name="Google Shape;1028;p56"/>
          <p:cNvCxnSpPr/>
          <p:nvPr/>
        </p:nvCxnSpPr>
        <p:spPr>
          <a:xfrm rot="10800000" flipH="1">
            <a:off x="1536192" y="2404872"/>
            <a:ext cx="393192" cy="265176"/>
          </a:xfrm>
          <a:prstGeom prst="straightConnector1">
            <a:avLst/>
          </a:prstGeom>
          <a:noFill/>
          <a:ln w="12700" cap="flat" cmpd="sng">
            <a:solidFill>
              <a:srgbClr val="59616B"/>
            </a:solidFill>
            <a:prstDash val="solid"/>
            <a:round/>
            <a:headEnd type="none" w="sm" len="sm"/>
            <a:tailEnd type="none" w="sm" len="sm"/>
          </a:ln>
        </p:spPr>
      </p:cxnSp>
      <p:cxnSp>
        <p:nvCxnSpPr>
          <p:cNvPr id="1029" name="Google Shape;1029;p56"/>
          <p:cNvCxnSpPr/>
          <p:nvPr/>
        </p:nvCxnSpPr>
        <p:spPr>
          <a:xfrm>
            <a:off x="1929384" y="2404872"/>
            <a:ext cx="393192" cy="265176"/>
          </a:xfrm>
          <a:prstGeom prst="straightConnector1">
            <a:avLst/>
          </a:prstGeom>
          <a:noFill/>
          <a:ln w="12700" cap="flat" cmpd="sng">
            <a:solidFill>
              <a:srgbClr val="59616B"/>
            </a:solidFill>
            <a:prstDash val="solid"/>
            <a:round/>
            <a:headEnd type="none" w="sm" len="sm"/>
            <a:tailEnd type="none" w="sm" len="sm"/>
          </a:ln>
        </p:spPr>
      </p:cxnSp>
      <p:cxnSp>
        <p:nvCxnSpPr>
          <p:cNvPr id="1030" name="Google Shape;1030;p56"/>
          <p:cNvCxnSpPr/>
          <p:nvPr/>
        </p:nvCxnSpPr>
        <p:spPr>
          <a:xfrm rot="10800000" flipH="1">
            <a:off x="2322576" y="2404872"/>
            <a:ext cx="393192" cy="265176"/>
          </a:xfrm>
          <a:prstGeom prst="straightConnector1">
            <a:avLst/>
          </a:prstGeom>
          <a:noFill/>
          <a:ln w="12700" cap="flat" cmpd="sng">
            <a:solidFill>
              <a:srgbClr val="59616B"/>
            </a:solidFill>
            <a:prstDash val="solid"/>
            <a:round/>
            <a:headEnd type="none" w="sm" len="sm"/>
            <a:tailEnd type="none" w="sm" len="sm"/>
          </a:ln>
        </p:spPr>
      </p:cxnSp>
      <p:cxnSp>
        <p:nvCxnSpPr>
          <p:cNvPr id="1031" name="Google Shape;1031;p56"/>
          <p:cNvCxnSpPr/>
          <p:nvPr/>
        </p:nvCxnSpPr>
        <p:spPr>
          <a:xfrm>
            <a:off x="2715768" y="2404872"/>
            <a:ext cx="393192" cy="265176"/>
          </a:xfrm>
          <a:prstGeom prst="straightConnector1">
            <a:avLst/>
          </a:prstGeom>
          <a:noFill/>
          <a:ln w="12700" cap="flat" cmpd="sng">
            <a:solidFill>
              <a:srgbClr val="59616B"/>
            </a:solidFill>
            <a:prstDash val="solid"/>
            <a:round/>
            <a:headEnd type="none" w="sm" len="sm"/>
            <a:tailEnd type="none" w="sm" len="sm"/>
          </a:ln>
        </p:spPr>
      </p:cxnSp>
      <p:cxnSp>
        <p:nvCxnSpPr>
          <p:cNvPr id="1032" name="Google Shape;1032;p56"/>
          <p:cNvCxnSpPr/>
          <p:nvPr/>
        </p:nvCxnSpPr>
        <p:spPr>
          <a:xfrm>
            <a:off x="3621024" y="2523744"/>
            <a:ext cx="667512" cy="0"/>
          </a:xfrm>
          <a:prstGeom prst="straightConnector1">
            <a:avLst/>
          </a:prstGeom>
          <a:noFill/>
          <a:ln w="19050" cap="flat" cmpd="sng">
            <a:solidFill>
              <a:srgbClr val="59616B"/>
            </a:solidFill>
            <a:prstDash val="solid"/>
            <a:round/>
            <a:headEnd type="none" w="sm" len="sm"/>
            <a:tailEnd type="triangle" w="sm" len="sm"/>
          </a:ln>
        </p:spPr>
      </p:cxnSp>
      <p:sp>
        <p:nvSpPr>
          <p:cNvPr id="1033" name="Google Shape;1033;p56"/>
          <p:cNvSpPr/>
          <p:nvPr/>
        </p:nvSpPr>
        <p:spPr>
          <a:xfrm>
            <a:off x="4672584" y="2212848"/>
            <a:ext cx="576072" cy="621792"/>
          </a:xfrm>
          <a:prstGeom prst="roundRect">
            <a:avLst>
              <a:gd name="adj" fmla="val 9000"/>
            </a:avLst>
          </a:prstGeom>
          <a:solidFill>
            <a:srgbClr val="F6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4" name="Google Shape;1034;p56"/>
          <p:cNvSpPr txBox="1"/>
          <p:nvPr/>
        </p:nvSpPr>
        <p:spPr>
          <a:xfrm>
            <a:off x="4782312" y="2304288"/>
            <a:ext cx="356616" cy="466344"/>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800" b="0" i="0" u="none" strike="noStrike" cap="none">
                <a:solidFill>
                  <a:srgbClr val="21252B"/>
                </a:solidFill>
                <a:latin typeface="Arial"/>
                <a:ea typeface="Arial"/>
                <a:cs typeface="Arial"/>
                <a:sym typeface="Arial"/>
              </a:rPr>
              <a:t>f1</a:t>
            </a:r>
            <a:endParaRPr/>
          </a:p>
        </p:txBody>
      </p:sp>
      <p:sp>
        <p:nvSpPr>
          <p:cNvPr id="1035" name="Google Shape;1035;p56"/>
          <p:cNvSpPr/>
          <p:nvPr/>
        </p:nvSpPr>
        <p:spPr>
          <a:xfrm>
            <a:off x="5404104" y="2212848"/>
            <a:ext cx="576072" cy="621792"/>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6" name="Google Shape;1036;p56"/>
          <p:cNvSpPr txBox="1"/>
          <p:nvPr/>
        </p:nvSpPr>
        <p:spPr>
          <a:xfrm>
            <a:off x="5513832" y="2304288"/>
            <a:ext cx="356616" cy="466344"/>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800" b="0" i="0" u="none" strike="noStrike" cap="none">
                <a:solidFill>
                  <a:srgbClr val="21252B"/>
                </a:solidFill>
                <a:latin typeface="Arial"/>
                <a:ea typeface="Arial"/>
                <a:cs typeface="Arial"/>
                <a:sym typeface="Arial"/>
              </a:rPr>
              <a:t>f2</a:t>
            </a:r>
            <a:endParaRPr/>
          </a:p>
        </p:txBody>
      </p:sp>
      <p:sp>
        <p:nvSpPr>
          <p:cNvPr id="1037" name="Google Shape;1037;p56"/>
          <p:cNvSpPr/>
          <p:nvPr/>
        </p:nvSpPr>
        <p:spPr>
          <a:xfrm>
            <a:off x="6135624" y="2212848"/>
            <a:ext cx="576072" cy="621792"/>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8" name="Google Shape;1038;p56"/>
          <p:cNvSpPr txBox="1"/>
          <p:nvPr/>
        </p:nvSpPr>
        <p:spPr>
          <a:xfrm>
            <a:off x="6245352" y="2304288"/>
            <a:ext cx="356616" cy="466344"/>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800" b="0" i="0" u="none" strike="noStrike" cap="none">
                <a:solidFill>
                  <a:srgbClr val="21252B"/>
                </a:solidFill>
                <a:latin typeface="Arial"/>
                <a:ea typeface="Arial"/>
                <a:cs typeface="Arial"/>
                <a:sym typeface="Arial"/>
              </a:rPr>
              <a:t>f3</a:t>
            </a:r>
            <a:endParaRPr/>
          </a:p>
        </p:txBody>
      </p:sp>
      <p:cxnSp>
        <p:nvCxnSpPr>
          <p:cNvPr id="1039" name="Google Shape;1039;p56"/>
          <p:cNvCxnSpPr/>
          <p:nvPr/>
        </p:nvCxnSpPr>
        <p:spPr>
          <a:xfrm>
            <a:off x="6940296" y="2523744"/>
            <a:ext cx="704087" cy="0"/>
          </a:xfrm>
          <a:prstGeom prst="straightConnector1">
            <a:avLst/>
          </a:prstGeom>
          <a:noFill/>
          <a:ln w="19050" cap="flat" cmpd="sng">
            <a:solidFill>
              <a:srgbClr val="59616B"/>
            </a:solidFill>
            <a:prstDash val="solid"/>
            <a:round/>
            <a:headEnd type="none" w="sm" len="sm"/>
            <a:tailEnd type="triangle" w="sm" len="sm"/>
          </a:ln>
        </p:spPr>
      </p:cxnSp>
      <p:cxnSp>
        <p:nvCxnSpPr>
          <p:cNvPr id="1040" name="Google Shape;1040;p56"/>
          <p:cNvCxnSpPr/>
          <p:nvPr/>
        </p:nvCxnSpPr>
        <p:spPr>
          <a:xfrm rot="10800000" flipH="1">
            <a:off x="8275320" y="2157984"/>
            <a:ext cx="1069848" cy="685800"/>
          </a:xfrm>
          <a:prstGeom prst="straightConnector1">
            <a:avLst/>
          </a:prstGeom>
          <a:noFill/>
          <a:ln w="17775" cap="flat" cmpd="sng">
            <a:solidFill>
              <a:srgbClr val="245D68"/>
            </a:solidFill>
            <a:prstDash val="solid"/>
            <a:round/>
            <a:headEnd type="none" w="sm" len="sm"/>
            <a:tailEnd type="triangle" w="sm" len="sm"/>
          </a:ln>
        </p:spPr>
      </p:cxnSp>
      <p:cxnSp>
        <p:nvCxnSpPr>
          <p:cNvPr id="1041" name="Google Shape;1041;p56"/>
          <p:cNvCxnSpPr/>
          <p:nvPr/>
        </p:nvCxnSpPr>
        <p:spPr>
          <a:xfrm>
            <a:off x="9345168" y="2157984"/>
            <a:ext cx="1097280" cy="685800"/>
          </a:xfrm>
          <a:prstGeom prst="straightConnector1">
            <a:avLst/>
          </a:prstGeom>
          <a:noFill/>
          <a:ln w="17775" cap="flat" cmpd="sng">
            <a:solidFill>
              <a:srgbClr val="245D68"/>
            </a:solidFill>
            <a:prstDash val="solid"/>
            <a:round/>
            <a:headEnd type="none" w="sm" len="sm"/>
            <a:tailEnd type="triangle" w="sm" len="sm"/>
          </a:ln>
        </p:spPr>
      </p:cxnSp>
      <p:cxnSp>
        <p:nvCxnSpPr>
          <p:cNvPr id="1042" name="Google Shape;1042;p56"/>
          <p:cNvCxnSpPr/>
          <p:nvPr/>
        </p:nvCxnSpPr>
        <p:spPr>
          <a:xfrm>
            <a:off x="8275320" y="2843784"/>
            <a:ext cx="2167128" cy="0"/>
          </a:xfrm>
          <a:prstGeom prst="straightConnector1">
            <a:avLst/>
          </a:prstGeom>
          <a:noFill/>
          <a:ln w="17775" cap="flat" cmpd="sng">
            <a:solidFill>
              <a:srgbClr val="245D68"/>
            </a:solidFill>
            <a:prstDash val="solid"/>
            <a:round/>
            <a:headEnd type="none" w="sm" len="sm"/>
            <a:tailEnd type="triangle" w="sm" len="sm"/>
          </a:ln>
        </p:spPr>
      </p:cxnSp>
      <p:sp>
        <p:nvSpPr>
          <p:cNvPr id="1043" name="Google Shape;1043;p56"/>
          <p:cNvSpPr/>
          <p:nvPr/>
        </p:nvSpPr>
        <p:spPr>
          <a:xfrm>
            <a:off x="8019288" y="2615184"/>
            <a:ext cx="512064" cy="457200"/>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44" name="Google Shape;1044;p56"/>
          <p:cNvSpPr txBox="1"/>
          <p:nvPr/>
        </p:nvSpPr>
        <p:spPr>
          <a:xfrm>
            <a:off x="8129016" y="2706624"/>
            <a:ext cx="292608" cy="301751"/>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600" b="0" i="0" u="none" strike="noStrike" cap="none">
                <a:solidFill>
                  <a:srgbClr val="21252B"/>
                </a:solidFill>
                <a:latin typeface="Arial"/>
                <a:ea typeface="Arial"/>
                <a:cs typeface="Arial"/>
                <a:sym typeface="Arial"/>
              </a:rPr>
              <a:t>f1</a:t>
            </a:r>
            <a:endParaRPr/>
          </a:p>
        </p:txBody>
      </p:sp>
      <p:sp>
        <p:nvSpPr>
          <p:cNvPr id="1045" name="Google Shape;1045;p56"/>
          <p:cNvSpPr/>
          <p:nvPr/>
        </p:nvSpPr>
        <p:spPr>
          <a:xfrm>
            <a:off x="9089136" y="1929384"/>
            <a:ext cx="512064" cy="457200"/>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46" name="Google Shape;1046;p56"/>
          <p:cNvSpPr txBox="1"/>
          <p:nvPr/>
        </p:nvSpPr>
        <p:spPr>
          <a:xfrm>
            <a:off x="9198864" y="2020824"/>
            <a:ext cx="292608" cy="301751"/>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600" b="0" i="0" u="none" strike="noStrike" cap="none">
                <a:solidFill>
                  <a:srgbClr val="21252B"/>
                </a:solidFill>
                <a:latin typeface="Arial"/>
                <a:ea typeface="Arial"/>
                <a:cs typeface="Arial"/>
                <a:sym typeface="Arial"/>
              </a:rPr>
              <a:t>f2</a:t>
            </a:r>
            <a:endParaRPr/>
          </a:p>
        </p:txBody>
      </p:sp>
      <p:sp>
        <p:nvSpPr>
          <p:cNvPr id="1047" name="Google Shape;1047;p56"/>
          <p:cNvSpPr/>
          <p:nvPr/>
        </p:nvSpPr>
        <p:spPr>
          <a:xfrm>
            <a:off x="10186416" y="2615184"/>
            <a:ext cx="512064" cy="457200"/>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48" name="Google Shape;1048;p56"/>
          <p:cNvSpPr txBox="1"/>
          <p:nvPr/>
        </p:nvSpPr>
        <p:spPr>
          <a:xfrm>
            <a:off x="10296144" y="2706624"/>
            <a:ext cx="292608" cy="301751"/>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600" b="0" i="0" u="none" strike="noStrike" cap="none">
                <a:solidFill>
                  <a:srgbClr val="21252B"/>
                </a:solidFill>
                <a:latin typeface="Arial"/>
                <a:ea typeface="Arial"/>
                <a:cs typeface="Arial"/>
                <a:sym typeface="Arial"/>
              </a:rPr>
              <a:t>f3</a:t>
            </a:r>
            <a:endParaRPr/>
          </a:p>
        </p:txBody>
      </p:sp>
      <p:sp>
        <p:nvSpPr>
          <p:cNvPr id="1049" name="Google Shape;1049;p56"/>
          <p:cNvSpPr/>
          <p:nvPr/>
        </p:nvSpPr>
        <p:spPr>
          <a:xfrm>
            <a:off x="1074420" y="4631436"/>
            <a:ext cx="137160" cy="137160"/>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50" name="Google Shape;1050;p56"/>
          <p:cNvSpPr/>
          <p:nvPr/>
        </p:nvSpPr>
        <p:spPr>
          <a:xfrm>
            <a:off x="1467612" y="4896612"/>
            <a:ext cx="137160" cy="137160"/>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51" name="Google Shape;1051;p56"/>
          <p:cNvSpPr/>
          <p:nvPr/>
        </p:nvSpPr>
        <p:spPr>
          <a:xfrm>
            <a:off x="1860803" y="4631436"/>
            <a:ext cx="137160" cy="137160"/>
          </a:xfrm>
          <a:prstGeom prst="ellipse">
            <a:avLst/>
          </a:prstGeom>
          <a:solidFill>
            <a:srgbClr val="8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52" name="Google Shape;1052;p56"/>
          <p:cNvSpPr/>
          <p:nvPr/>
        </p:nvSpPr>
        <p:spPr>
          <a:xfrm>
            <a:off x="2253996" y="4896612"/>
            <a:ext cx="137160" cy="137160"/>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53" name="Google Shape;1053;p56"/>
          <p:cNvSpPr/>
          <p:nvPr/>
        </p:nvSpPr>
        <p:spPr>
          <a:xfrm>
            <a:off x="2647187" y="4631436"/>
            <a:ext cx="137160" cy="137160"/>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54" name="Google Shape;1054;p56"/>
          <p:cNvSpPr/>
          <p:nvPr/>
        </p:nvSpPr>
        <p:spPr>
          <a:xfrm>
            <a:off x="3040379" y="4896612"/>
            <a:ext cx="137160" cy="137160"/>
          </a:xfrm>
          <a:prstGeom prst="ellipse">
            <a:avLst/>
          </a:prstGeom>
          <a:solidFill>
            <a:srgbClr val="245D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1055" name="Google Shape;1055;p56"/>
          <p:cNvCxnSpPr/>
          <p:nvPr/>
        </p:nvCxnSpPr>
        <p:spPr>
          <a:xfrm>
            <a:off x="1143000" y="4700016"/>
            <a:ext cx="393192" cy="265176"/>
          </a:xfrm>
          <a:prstGeom prst="straightConnector1">
            <a:avLst/>
          </a:prstGeom>
          <a:noFill/>
          <a:ln w="12700" cap="flat" cmpd="sng">
            <a:solidFill>
              <a:srgbClr val="59616B"/>
            </a:solidFill>
            <a:prstDash val="solid"/>
            <a:round/>
            <a:headEnd type="none" w="sm" len="sm"/>
            <a:tailEnd type="none" w="sm" len="sm"/>
          </a:ln>
        </p:spPr>
      </p:cxnSp>
      <p:cxnSp>
        <p:nvCxnSpPr>
          <p:cNvPr id="1056" name="Google Shape;1056;p56"/>
          <p:cNvCxnSpPr/>
          <p:nvPr/>
        </p:nvCxnSpPr>
        <p:spPr>
          <a:xfrm rot="10800000" flipH="1">
            <a:off x="1536192" y="4700016"/>
            <a:ext cx="393192" cy="265176"/>
          </a:xfrm>
          <a:prstGeom prst="straightConnector1">
            <a:avLst/>
          </a:prstGeom>
          <a:noFill/>
          <a:ln w="12700" cap="flat" cmpd="sng">
            <a:solidFill>
              <a:srgbClr val="59616B"/>
            </a:solidFill>
            <a:prstDash val="solid"/>
            <a:round/>
            <a:headEnd type="none" w="sm" len="sm"/>
            <a:tailEnd type="none" w="sm" len="sm"/>
          </a:ln>
        </p:spPr>
      </p:cxnSp>
      <p:cxnSp>
        <p:nvCxnSpPr>
          <p:cNvPr id="1057" name="Google Shape;1057;p56"/>
          <p:cNvCxnSpPr/>
          <p:nvPr/>
        </p:nvCxnSpPr>
        <p:spPr>
          <a:xfrm>
            <a:off x="1929384" y="4700016"/>
            <a:ext cx="393192" cy="265176"/>
          </a:xfrm>
          <a:prstGeom prst="straightConnector1">
            <a:avLst/>
          </a:prstGeom>
          <a:noFill/>
          <a:ln w="12700" cap="flat" cmpd="sng">
            <a:solidFill>
              <a:srgbClr val="59616B"/>
            </a:solidFill>
            <a:prstDash val="solid"/>
            <a:round/>
            <a:headEnd type="none" w="sm" len="sm"/>
            <a:tailEnd type="none" w="sm" len="sm"/>
          </a:ln>
        </p:spPr>
      </p:cxnSp>
      <p:cxnSp>
        <p:nvCxnSpPr>
          <p:cNvPr id="1058" name="Google Shape;1058;p56"/>
          <p:cNvCxnSpPr/>
          <p:nvPr/>
        </p:nvCxnSpPr>
        <p:spPr>
          <a:xfrm rot="10800000" flipH="1">
            <a:off x="2322576" y="4700016"/>
            <a:ext cx="393192" cy="265176"/>
          </a:xfrm>
          <a:prstGeom prst="straightConnector1">
            <a:avLst/>
          </a:prstGeom>
          <a:noFill/>
          <a:ln w="12700" cap="flat" cmpd="sng">
            <a:solidFill>
              <a:srgbClr val="59616B"/>
            </a:solidFill>
            <a:prstDash val="solid"/>
            <a:round/>
            <a:headEnd type="none" w="sm" len="sm"/>
            <a:tailEnd type="none" w="sm" len="sm"/>
          </a:ln>
        </p:spPr>
      </p:cxnSp>
      <p:cxnSp>
        <p:nvCxnSpPr>
          <p:cNvPr id="1059" name="Google Shape;1059;p56"/>
          <p:cNvCxnSpPr/>
          <p:nvPr/>
        </p:nvCxnSpPr>
        <p:spPr>
          <a:xfrm>
            <a:off x="2715768" y="4700016"/>
            <a:ext cx="393192" cy="265176"/>
          </a:xfrm>
          <a:prstGeom prst="straightConnector1">
            <a:avLst/>
          </a:prstGeom>
          <a:noFill/>
          <a:ln w="12700" cap="flat" cmpd="sng">
            <a:solidFill>
              <a:srgbClr val="59616B"/>
            </a:solidFill>
            <a:prstDash val="solid"/>
            <a:round/>
            <a:headEnd type="none" w="sm" len="sm"/>
            <a:tailEnd type="none" w="sm" len="sm"/>
          </a:ln>
        </p:spPr>
      </p:cxnSp>
      <p:cxnSp>
        <p:nvCxnSpPr>
          <p:cNvPr id="1060" name="Google Shape;1060;p56"/>
          <p:cNvCxnSpPr/>
          <p:nvPr/>
        </p:nvCxnSpPr>
        <p:spPr>
          <a:xfrm>
            <a:off x="3621024" y="4818888"/>
            <a:ext cx="667512" cy="0"/>
          </a:xfrm>
          <a:prstGeom prst="straightConnector1">
            <a:avLst/>
          </a:prstGeom>
          <a:noFill/>
          <a:ln w="19050" cap="flat" cmpd="sng">
            <a:solidFill>
              <a:srgbClr val="59616B"/>
            </a:solidFill>
            <a:prstDash val="solid"/>
            <a:round/>
            <a:headEnd type="none" w="sm" len="sm"/>
            <a:tailEnd type="triangle" w="sm" len="sm"/>
          </a:ln>
        </p:spPr>
      </p:cxnSp>
      <p:sp>
        <p:nvSpPr>
          <p:cNvPr id="1061" name="Google Shape;1061;p56"/>
          <p:cNvSpPr/>
          <p:nvPr/>
        </p:nvSpPr>
        <p:spPr>
          <a:xfrm>
            <a:off x="4672584" y="4507992"/>
            <a:ext cx="576072" cy="621792"/>
          </a:xfrm>
          <a:prstGeom prst="roundRect">
            <a:avLst>
              <a:gd name="adj" fmla="val 9000"/>
            </a:avLst>
          </a:prstGeom>
          <a:solidFill>
            <a:srgbClr val="F6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2" name="Google Shape;1062;p56"/>
          <p:cNvSpPr txBox="1"/>
          <p:nvPr/>
        </p:nvSpPr>
        <p:spPr>
          <a:xfrm>
            <a:off x="4782312" y="4599431"/>
            <a:ext cx="356616" cy="466344"/>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800" b="0" i="0" u="none" strike="noStrike" cap="none">
                <a:solidFill>
                  <a:srgbClr val="21252B"/>
                </a:solidFill>
                <a:latin typeface="Arial"/>
                <a:ea typeface="Arial"/>
                <a:cs typeface="Arial"/>
                <a:sym typeface="Arial"/>
              </a:rPr>
              <a:t>f1</a:t>
            </a:r>
            <a:endParaRPr/>
          </a:p>
        </p:txBody>
      </p:sp>
      <p:sp>
        <p:nvSpPr>
          <p:cNvPr id="1063" name="Google Shape;1063;p56"/>
          <p:cNvSpPr/>
          <p:nvPr/>
        </p:nvSpPr>
        <p:spPr>
          <a:xfrm>
            <a:off x="5404104" y="4507992"/>
            <a:ext cx="576072" cy="621792"/>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4" name="Google Shape;1064;p56"/>
          <p:cNvSpPr txBox="1"/>
          <p:nvPr/>
        </p:nvSpPr>
        <p:spPr>
          <a:xfrm>
            <a:off x="5513832" y="4599431"/>
            <a:ext cx="356616" cy="466344"/>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800" b="0" i="0" u="none" strike="noStrike" cap="none">
                <a:solidFill>
                  <a:srgbClr val="21252B"/>
                </a:solidFill>
                <a:latin typeface="Arial"/>
                <a:ea typeface="Arial"/>
                <a:cs typeface="Arial"/>
                <a:sym typeface="Arial"/>
              </a:rPr>
              <a:t>f2</a:t>
            </a:r>
            <a:endParaRPr/>
          </a:p>
        </p:txBody>
      </p:sp>
      <p:sp>
        <p:nvSpPr>
          <p:cNvPr id="1065" name="Google Shape;1065;p56"/>
          <p:cNvSpPr/>
          <p:nvPr/>
        </p:nvSpPr>
        <p:spPr>
          <a:xfrm>
            <a:off x="6135624" y="4507992"/>
            <a:ext cx="576072" cy="621792"/>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6" name="Google Shape;1066;p56"/>
          <p:cNvSpPr txBox="1"/>
          <p:nvPr/>
        </p:nvSpPr>
        <p:spPr>
          <a:xfrm>
            <a:off x="6245352" y="4599431"/>
            <a:ext cx="356616" cy="466344"/>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800" b="0" i="0" u="none" strike="noStrike" cap="none">
                <a:solidFill>
                  <a:srgbClr val="21252B"/>
                </a:solidFill>
                <a:latin typeface="Arial"/>
                <a:ea typeface="Arial"/>
                <a:cs typeface="Arial"/>
                <a:sym typeface="Arial"/>
              </a:rPr>
              <a:t>f3</a:t>
            </a:r>
            <a:endParaRPr/>
          </a:p>
        </p:txBody>
      </p:sp>
      <p:cxnSp>
        <p:nvCxnSpPr>
          <p:cNvPr id="1067" name="Google Shape;1067;p56"/>
          <p:cNvCxnSpPr/>
          <p:nvPr/>
        </p:nvCxnSpPr>
        <p:spPr>
          <a:xfrm>
            <a:off x="6940296" y="4818888"/>
            <a:ext cx="704087" cy="0"/>
          </a:xfrm>
          <a:prstGeom prst="straightConnector1">
            <a:avLst/>
          </a:prstGeom>
          <a:noFill/>
          <a:ln w="19050" cap="flat" cmpd="sng">
            <a:solidFill>
              <a:srgbClr val="59616B"/>
            </a:solidFill>
            <a:prstDash val="solid"/>
            <a:round/>
            <a:headEnd type="none" w="sm" len="sm"/>
            <a:tailEnd type="triangle" w="sm" len="sm"/>
          </a:ln>
        </p:spPr>
      </p:cxnSp>
      <p:cxnSp>
        <p:nvCxnSpPr>
          <p:cNvPr id="1068" name="Google Shape;1068;p56"/>
          <p:cNvCxnSpPr/>
          <p:nvPr/>
        </p:nvCxnSpPr>
        <p:spPr>
          <a:xfrm rot="10800000" flipH="1">
            <a:off x="8275320" y="4453127"/>
            <a:ext cx="1069848" cy="685800"/>
          </a:xfrm>
          <a:prstGeom prst="straightConnector1">
            <a:avLst/>
          </a:prstGeom>
          <a:noFill/>
          <a:ln w="17775" cap="flat" cmpd="sng">
            <a:solidFill>
              <a:srgbClr val="245D68"/>
            </a:solidFill>
            <a:prstDash val="solid"/>
            <a:round/>
            <a:headEnd type="none" w="sm" len="sm"/>
            <a:tailEnd type="triangle" w="sm" len="sm"/>
          </a:ln>
        </p:spPr>
      </p:cxnSp>
      <p:cxnSp>
        <p:nvCxnSpPr>
          <p:cNvPr id="1069" name="Google Shape;1069;p56"/>
          <p:cNvCxnSpPr/>
          <p:nvPr/>
        </p:nvCxnSpPr>
        <p:spPr>
          <a:xfrm>
            <a:off x="9345168" y="4453127"/>
            <a:ext cx="1097280" cy="685800"/>
          </a:xfrm>
          <a:prstGeom prst="straightConnector1">
            <a:avLst/>
          </a:prstGeom>
          <a:noFill/>
          <a:ln w="17775" cap="flat" cmpd="sng">
            <a:solidFill>
              <a:srgbClr val="245D68"/>
            </a:solidFill>
            <a:prstDash val="solid"/>
            <a:round/>
            <a:headEnd type="none" w="sm" len="sm"/>
            <a:tailEnd type="triangle" w="sm" len="sm"/>
          </a:ln>
        </p:spPr>
      </p:cxnSp>
      <p:cxnSp>
        <p:nvCxnSpPr>
          <p:cNvPr id="1070" name="Google Shape;1070;p56"/>
          <p:cNvCxnSpPr/>
          <p:nvPr/>
        </p:nvCxnSpPr>
        <p:spPr>
          <a:xfrm>
            <a:off x="8275320" y="5138927"/>
            <a:ext cx="2167128" cy="0"/>
          </a:xfrm>
          <a:prstGeom prst="straightConnector1">
            <a:avLst/>
          </a:prstGeom>
          <a:noFill/>
          <a:ln w="17775" cap="flat" cmpd="sng">
            <a:solidFill>
              <a:srgbClr val="245D68"/>
            </a:solidFill>
            <a:prstDash val="solid"/>
            <a:round/>
            <a:headEnd type="none" w="sm" len="sm"/>
            <a:tailEnd type="triangle" w="sm" len="sm"/>
          </a:ln>
        </p:spPr>
      </p:cxnSp>
      <p:sp>
        <p:nvSpPr>
          <p:cNvPr id="1071" name="Google Shape;1071;p56"/>
          <p:cNvSpPr/>
          <p:nvPr/>
        </p:nvSpPr>
        <p:spPr>
          <a:xfrm>
            <a:off x="8019288" y="4910327"/>
            <a:ext cx="512064" cy="457200"/>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72" name="Google Shape;1072;p56"/>
          <p:cNvSpPr txBox="1"/>
          <p:nvPr/>
        </p:nvSpPr>
        <p:spPr>
          <a:xfrm>
            <a:off x="8129016" y="5001767"/>
            <a:ext cx="292608" cy="301751"/>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600" b="0" i="0" u="none" strike="noStrike" cap="none">
                <a:solidFill>
                  <a:srgbClr val="21252B"/>
                </a:solidFill>
                <a:latin typeface="Arial"/>
                <a:ea typeface="Arial"/>
                <a:cs typeface="Arial"/>
                <a:sym typeface="Arial"/>
              </a:rPr>
              <a:t>f1</a:t>
            </a:r>
            <a:endParaRPr/>
          </a:p>
        </p:txBody>
      </p:sp>
      <p:sp>
        <p:nvSpPr>
          <p:cNvPr id="1073" name="Google Shape;1073;p56"/>
          <p:cNvSpPr/>
          <p:nvPr/>
        </p:nvSpPr>
        <p:spPr>
          <a:xfrm>
            <a:off x="9089136" y="4224527"/>
            <a:ext cx="512064" cy="457200"/>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74" name="Google Shape;1074;p56"/>
          <p:cNvSpPr txBox="1"/>
          <p:nvPr/>
        </p:nvSpPr>
        <p:spPr>
          <a:xfrm>
            <a:off x="9198864" y="4315967"/>
            <a:ext cx="292608" cy="301751"/>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600" b="0" i="0" u="none" strike="noStrike" cap="none">
                <a:solidFill>
                  <a:srgbClr val="21252B"/>
                </a:solidFill>
                <a:latin typeface="Arial"/>
                <a:ea typeface="Arial"/>
                <a:cs typeface="Arial"/>
                <a:sym typeface="Arial"/>
              </a:rPr>
              <a:t>f2</a:t>
            </a:r>
            <a:endParaRPr/>
          </a:p>
        </p:txBody>
      </p:sp>
      <p:sp>
        <p:nvSpPr>
          <p:cNvPr id="1075" name="Google Shape;1075;p56"/>
          <p:cNvSpPr/>
          <p:nvPr/>
        </p:nvSpPr>
        <p:spPr>
          <a:xfrm>
            <a:off x="10186416" y="4910327"/>
            <a:ext cx="512064" cy="457200"/>
          </a:xfrm>
          <a:prstGeom prst="roundRect">
            <a:avLst>
              <a:gd name="adj" fmla="val 9000"/>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76" name="Google Shape;1076;p56"/>
          <p:cNvSpPr txBox="1"/>
          <p:nvPr/>
        </p:nvSpPr>
        <p:spPr>
          <a:xfrm>
            <a:off x="10296144" y="5001767"/>
            <a:ext cx="292608" cy="301751"/>
          </a:xfrm>
          <a:prstGeom prst="rect">
            <a:avLst/>
          </a:prstGeom>
          <a:noFill/>
          <a:ln>
            <a:noFill/>
          </a:ln>
        </p:spPr>
        <p:txBody>
          <a:bodyPr spcFirstLastPara="1" wrap="square" lIns="0" tIns="0" rIns="0" bIns="0" anchor="ctr" anchorCtr="0">
            <a:spAutoFit/>
          </a:bodyPr>
          <a:lstStyle/>
          <a:p>
            <a:pPr marL="0" marR="0" lvl="0" indent="0" algn="ctr" rtl="0">
              <a:lnSpc>
                <a:spcPct val="108000"/>
              </a:lnSpc>
              <a:spcBef>
                <a:spcPts val="0"/>
              </a:spcBef>
              <a:spcAft>
                <a:spcPts val="0"/>
              </a:spcAft>
              <a:buNone/>
            </a:pPr>
            <a:r>
              <a:rPr lang="en-US" sz="1600" b="0" i="0" u="none" strike="noStrike" cap="none">
                <a:solidFill>
                  <a:srgbClr val="21252B"/>
                </a:solidFill>
                <a:latin typeface="Arial"/>
                <a:ea typeface="Arial"/>
                <a:cs typeface="Arial"/>
                <a:sym typeface="Arial"/>
              </a:rPr>
              <a:t>f3</a:t>
            </a:r>
            <a:endParaRPr/>
          </a:p>
        </p:txBody>
      </p:sp>
      <p:sp>
        <p:nvSpPr>
          <p:cNvPr id="1077" name="Google Shape;1077;p56"/>
          <p:cNvSpPr txBox="1"/>
          <p:nvPr/>
        </p:nvSpPr>
        <p:spPr>
          <a:xfrm>
            <a:off x="786384" y="5596128"/>
            <a:ext cx="3090672" cy="54864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600" b="0" i="0" u="none" strike="noStrike" cap="none">
                <a:solidFill>
                  <a:srgbClr val="59616B"/>
                </a:solidFill>
                <a:latin typeface="Arial"/>
                <a:ea typeface="Arial"/>
                <a:cs typeface="Arial"/>
                <a:sym typeface="Arial"/>
              </a:rPr>
              <a:t>local atomic / residue information</a:t>
            </a:r>
            <a:endParaRPr/>
          </a:p>
        </p:txBody>
      </p:sp>
      <p:sp>
        <p:nvSpPr>
          <p:cNvPr id="1078" name="Google Shape;1078;p56"/>
          <p:cNvSpPr txBox="1"/>
          <p:nvPr/>
        </p:nvSpPr>
        <p:spPr>
          <a:xfrm>
            <a:off x="4434840" y="5596128"/>
            <a:ext cx="2752344" cy="54864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600" b="0" i="0" u="none" strike="noStrike" cap="none">
                <a:solidFill>
                  <a:srgbClr val="59616B"/>
                </a:solidFill>
                <a:latin typeface="Arial"/>
                <a:ea typeface="Arial"/>
                <a:cs typeface="Arial"/>
                <a:sym typeface="Arial"/>
              </a:rPr>
              <a:t>learned pooled representation</a:t>
            </a:r>
            <a:endParaRPr/>
          </a:p>
        </p:txBody>
      </p:sp>
      <p:sp>
        <p:nvSpPr>
          <p:cNvPr id="1079" name="Google Shape;1079;p56"/>
          <p:cNvSpPr txBox="1"/>
          <p:nvPr/>
        </p:nvSpPr>
        <p:spPr>
          <a:xfrm>
            <a:off x="7900416" y="5596128"/>
            <a:ext cx="2953512" cy="54864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1600" b="0" i="0" u="none" strike="noStrike" cap="none">
                <a:solidFill>
                  <a:srgbClr val="59616B"/>
                </a:solidFill>
                <a:latin typeface="Arial"/>
                <a:ea typeface="Arial"/>
                <a:cs typeface="Arial"/>
                <a:sym typeface="Arial"/>
              </a:rPr>
              <a:t>global mixing</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51"/>
        <p:cNvGrpSpPr/>
        <p:nvPr/>
      </p:nvGrpSpPr>
      <p:grpSpPr>
        <a:xfrm>
          <a:off x="0" y="0"/>
          <a:ext cx="0" cy="0"/>
          <a:chOff x="0" y="0"/>
          <a:chExt cx="0" cy="0"/>
        </a:xfrm>
      </p:grpSpPr>
      <p:sp>
        <p:nvSpPr>
          <p:cNvPr id="852" name="Google Shape;852;p52"/>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BACKUP · VAMP ESTIMATOR</a:t>
            </a:r>
            <a:endParaRPr/>
          </a:p>
        </p:txBody>
      </p:sp>
      <p:sp>
        <p:nvSpPr>
          <p:cNvPr id="853" name="Google Shape;853;p52"/>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The kinetic score uses centered empirical covariances</a:t>
            </a:r>
            <a:endParaRPr/>
          </a:p>
        </p:txBody>
      </p:sp>
      <p:cxnSp>
        <p:nvCxnSpPr>
          <p:cNvPr id="854" name="Google Shape;854;p52"/>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855" name="Google Shape;855;p52"/>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GESPO (manuscript, 2026), Eqs. for the VAMP-2 estimator.</a:t>
            </a:r>
          </a:p>
        </p:txBody>
      </p:sp>
      <p:sp>
        <p:nvSpPr>
          <p:cNvPr id="856" name="Google Shape;856;p52"/>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BACKUP 05</a:t>
            </a:r>
            <a:endParaRPr/>
          </a:p>
        </p:txBody>
      </p:sp>
      <p:sp>
        <p:nvSpPr>
          <p:cNvPr id="857" name="Google Shape;857;p52"/>
          <p:cNvSpPr txBox="1"/>
          <p:nvPr/>
        </p:nvSpPr>
        <p:spPr>
          <a:xfrm>
            <a:off x="978408" y="1645920"/>
            <a:ext cx="10213848" cy="64008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200" b="0" i="0">
                <a:solidFill>
                  <a:srgbClr val="21252B"/>
                </a:solidFill>
                <a:latin typeface="Cambria Math"/>
                <a:ea typeface="Cambria Math"/>
                <a:cs typeface="Cambria Math"/>
                <a:sym typeface="Cambria Math"/>
              </a:rPr>
              <a:t>u = χ(X</a:t>
            </a:r>
            <a:r>
              <a:rPr lang="en-US" sz="2200" b="0" i="0" baseline="-25000">
                <a:solidFill>
                  <a:srgbClr val="21252B"/>
                </a:solidFill>
                <a:latin typeface="Cambria Math"/>
                <a:ea typeface="Cambria Math"/>
                <a:cs typeface="Cambria Math"/>
                <a:sym typeface="Cambria Math"/>
              </a:rPr>
              <a:t>t</a:t>
            </a:r>
            <a:r>
              <a:rPr lang="en-US" sz="2200" b="0" i="0">
                <a:solidFill>
                  <a:srgbClr val="21252B"/>
                </a:solidFill>
                <a:latin typeface="Cambria Math"/>
                <a:ea typeface="Cambria Math"/>
                <a:cs typeface="Cambria Math"/>
                <a:sym typeface="Cambria Math"/>
              </a:rPr>
              <a:t>),     v = χ(X</a:t>
            </a:r>
            <a:r>
              <a:rPr lang="en-US" sz="2200" b="0" i="0" baseline="-25000">
                <a:solidFill>
                  <a:srgbClr val="21252B"/>
                </a:solidFill>
                <a:latin typeface="Cambria Math"/>
                <a:ea typeface="Cambria Math"/>
                <a:cs typeface="Cambria Math"/>
                <a:sym typeface="Cambria Math"/>
              </a:rPr>
              <a:t>t+τ</a:t>
            </a:r>
            <a:r>
              <a:rPr lang="en-US" sz="2200" b="0" i="0">
                <a:solidFill>
                  <a:srgbClr val="21252B"/>
                </a:solidFill>
                <a:latin typeface="Cambria Math"/>
                <a:ea typeface="Cambria Math"/>
                <a:cs typeface="Cambria Math"/>
                <a:sym typeface="Cambria Math"/>
              </a:rPr>
              <a:t>)</a:t>
            </a:r>
          </a:p>
        </p:txBody>
      </p:sp>
      <p:sp>
        <p:nvSpPr>
          <p:cNvPr id="858" name="Google Shape;858;p52"/>
          <p:cNvSpPr txBox="1"/>
          <p:nvPr/>
        </p:nvSpPr>
        <p:spPr>
          <a:xfrm>
            <a:off x="978408" y="2651760"/>
            <a:ext cx="10213848" cy="64008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200" b="0" i="0">
                <a:solidFill>
                  <a:srgbClr val="21252B"/>
                </a:solidFill>
                <a:latin typeface="Cambria Math"/>
                <a:ea typeface="Cambria Math"/>
                <a:cs typeface="Cambria Math"/>
                <a:sym typeface="Cambria Math"/>
              </a:rPr>
              <a:t>C</a:t>
            </a:r>
            <a:r>
              <a:rPr lang="en-US" sz="2200" b="0" i="0" baseline="-25000">
                <a:solidFill>
                  <a:srgbClr val="21252B"/>
                </a:solidFill>
                <a:latin typeface="Cambria Math"/>
                <a:ea typeface="Cambria Math"/>
                <a:cs typeface="Cambria Math"/>
                <a:sym typeface="Cambria Math"/>
              </a:rPr>
              <a:t>00</a:t>
            </a:r>
            <a:r>
              <a:rPr lang="en-US" sz="2200" b="0" i="0">
                <a:solidFill>
                  <a:srgbClr val="21252B"/>
                </a:solidFill>
                <a:latin typeface="Cambria Math"/>
                <a:ea typeface="Cambria Math"/>
                <a:cs typeface="Cambria Math"/>
                <a:sym typeface="Cambria Math"/>
              </a:rPr>
              <a:t> = ⟨(u − μ</a:t>
            </a:r>
            <a:r>
              <a:rPr lang="en-US" sz="2200" b="0" i="0" baseline="-25000">
                <a:solidFill>
                  <a:srgbClr val="21252B"/>
                </a:solidFill>
                <a:latin typeface="Cambria Math"/>
                <a:ea typeface="Cambria Math"/>
                <a:cs typeface="Cambria Math"/>
                <a:sym typeface="Cambria Math"/>
              </a:rPr>
              <a:t>u</a:t>
            </a:r>
            <a:r>
              <a:rPr lang="en-US" sz="2200" b="0" i="0">
                <a:solidFill>
                  <a:srgbClr val="21252B"/>
                </a:solidFill>
                <a:latin typeface="Cambria Math"/>
                <a:ea typeface="Cambria Math"/>
                <a:cs typeface="Cambria Math"/>
                <a:sym typeface="Cambria Math"/>
              </a:rPr>
              <a:t>)(u − μ</a:t>
            </a:r>
            <a:r>
              <a:rPr lang="en-US" sz="2200" b="0" i="0" baseline="-25000">
                <a:solidFill>
                  <a:srgbClr val="21252B"/>
                </a:solidFill>
                <a:latin typeface="Cambria Math"/>
                <a:ea typeface="Cambria Math"/>
                <a:cs typeface="Cambria Math"/>
                <a:sym typeface="Cambria Math"/>
              </a:rPr>
              <a:t>u</a:t>
            </a:r>
            <a:r>
              <a:rPr lang="en-US" sz="2200" b="0" i="0">
                <a:solidFill>
                  <a:srgbClr val="21252B"/>
                </a:solidFill>
                <a:latin typeface="Cambria Math"/>
                <a:ea typeface="Cambria Math"/>
                <a:cs typeface="Cambria Math"/>
                <a:sym typeface="Cambria Math"/>
              </a:rPr>
              <a:t>)</a:t>
            </a:r>
            <a:r>
              <a:rPr lang="en-US" sz="2200" b="0" i="0" baseline="30000">
                <a:solidFill>
                  <a:srgbClr val="21252B"/>
                </a:solidFill>
                <a:latin typeface="Cambria Math"/>
                <a:ea typeface="Cambria Math"/>
                <a:cs typeface="Cambria Math"/>
                <a:sym typeface="Cambria Math"/>
              </a:rPr>
              <a:t>⊤</a:t>
            </a:r>
            <a:r>
              <a:rPr lang="en-US" sz="2200" b="0" i="0">
                <a:solidFill>
                  <a:srgbClr val="21252B"/>
                </a:solidFill>
                <a:latin typeface="Cambria Math"/>
                <a:ea typeface="Cambria Math"/>
                <a:cs typeface="Cambria Math"/>
                <a:sym typeface="Cambria Math"/>
              </a:rPr>
              <a:t>⟩</a:t>
            </a:r>
          </a:p>
        </p:txBody>
      </p:sp>
      <p:sp>
        <p:nvSpPr>
          <p:cNvPr id="859" name="Google Shape;859;p52"/>
          <p:cNvSpPr txBox="1"/>
          <p:nvPr/>
        </p:nvSpPr>
        <p:spPr>
          <a:xfrm>
            <a:off x="978408" y="3657600"/>
            <a:ext cx="10213848" cy="64008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200" b="0" i="0">
                <a:solidFill>
                  <a:srgbClr val="21252B"/>
                </a:solidFill>
                <a:latin typeface="Cambria Math"/>
                <a:ea typeface="Cambria Math"/>
                <a:cs typeface="Cambria Math"/>
                <a:sym typeface="Cambria Math"/>
              </a:rPr>
              <a:t>C</a:t>
            </a:r>
            <a:r>
              <a:rPr lang="en-US" sz="2200" b="0" i="0" baseline="-25000">
                <a:solidFill>
                  <a:srgbClr val="21252B"/>
                </a:solidFill>
                <a:latin typeface="Cambria Math"/>
                <a:ea typeface="Cambria Math"/>
                <a:cs typeface="Cambria Math"/>
                <a:sym typeface="Cambria Math"/>
              </a:rPr>
              <a:t>0τ</a:t>
            </a:r>
            <a:r>
              <a:rPr lang="en-US" sz="2200" b="0" i="0">
                <a:solidFill>
                  <a:srgbClr val="21252B"/>
                </a:solidFill>
                <a:latin typeface="Cambria Math"/>
                <a:ea typeface="Cambria Math"/>
                <a:cs typeface="Cambria Math"/>
                <a:sym typeface="Cambria Math"/>
              </a:rPr>
              <a:t> = ⟨(u − μ</a:t>
            </a:r>
            <a:r>
              <a:rPr lang="en-US" sz="2200" b="0" i="0" baseline="-25000">
                <a:solidFill>
                  <a:srgbClr val="21252B"/>
                </a:solidFill>
                <a:latin typeface="Cambria Math"/>
                <a:ea typeface="Cambria Math"/>
                <a:cs typeface="Cambria Math"/>
                <a:sym typeface="Cambria Math"/>
              </a:rPr>
              <a:t>u</a:t>
            </a:r>
            <a:r>
              <a:rPr lang="en-US" sz="2200" b="0" i="0">
                <a:solidFill>
                  <a:srgbClr val="21252B"/>
                </a:solidFill>
                <a:latin typeface="Cambria Math"/>
                <a:ea typeface="Cambria Math"/>
                <a:cs typeface="Cambria Math"/>
                <a:sym typeface="Cambria Math"/>
              </a:rPr>
              <a:t>)(v − μ</a:t>
            </a:r>
            <a:r>
              <a:rPr lang="en-US" sz="2200" b="0" i="0" baseline="-25000">
                <a:solidFill>
                  <a:srgbClr val="21252B"/>
                </a:solidFill>
                <a:latin typeface="Cambria Math"/>
                <a:ea typeface="Cambria Math"/>
                <a:cs typeface="Cambria Math"/>
                <a:sym typeface="Cambria Math"/>
              </a:rPr>
              <a:t>v</a:t>
            </a:r>
            <a:r>
              <a:rPr lang="en-US" sz="2200" b="0" i="0">
                <a:solidFill>
                  <a:srgbClr val="21252B"/>
                </a:solidFill>
                <a:latin typeface="Cambria Math"/>
                <a:ea typeface="Cambria Math"/>
                <a:cs typeface="Cambria Math"/>
                <a:sym typeface="Cambria Math"/>
              </a:rPr>
              <a:t>)</a:t>
            </a:r>
            <a:r>
              <a:rPr lang="en-US" sz="2200" b="0" i="0" baseline="30000">
                <a:solidFill>
                  <a:srgbClr val="21252B"/>
                </a:solidFill>
                <a:latin typeface="Cambria Math"/>
                <a:ea typeface="Cambria Math"/>
                <a:cs typeface="Cambria Math"/>
                <a:sym typeface="Cambria Math"/>
              </a:rPr>
              <a:t>⊤</a:t>
            </a:r>
            <a:r>
              <a:rPr lang="en-US" sz="2200" b="0" i="0">
                <a:solidFill>
                  <a:srgbClr val="21252B"/>
                </a:solidFill>
                <a:latin typeface="Cambria Math"/>
                <a:ea typeface="Cambria Math"/>
                <a:cs typeface="Cambria Math"/>
                <a:sym typeface="Cambria Math"/>
              </a:rPr>
              <a:t>⟩</a:t>
            </a:r>
          </a:p>
        </p:txBody>
      </p:sp>
      <p:sp>
        <p:nvSpPr>
          <p:cNvPr id="860" name="Google Shape;860;p52"/>
          <p:cNvSpPr txBox="1"/>
          <p:nvPr/>
        </p:nvSpPr>
        <p:spPr>
          <a:xfrm>
            <a:off x="978408" y="4663440"/>
            <a:ext cx="10213848" cy="64008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2200" b="0" i="0">
                <a:solidFill>
                  <a:srgbClr val="21252B"/>
                </a:solidFill>
                <a:latin typeface="Cambria Math"/>
                <a:ea typeface="Cambria Math"/>
                <a:cs typeface="Cambria Math"/>
                <a:sym typeface="Cambria Math"/>
              </a:rPr>
              <a:t>C</a:t>
            </a:r>
            <a:r>
              <a:rPr lang="en-US" sz="2200" b="0" i="0" baseline="-25000">
                <a:solidFill>
                  <a:srgbClr val="21252B"/>
                </a:solidFill>
                <a:latin typeface="Cambria Math"/>
                <a:ea typeface="Cambria Math"/>
                <a:cs typeface="Cambria Math"/>
                <a:sym typeface="Cambria Math"/>
              </a:rPr>
              <a:t>ττ</a:t>
            </a:r>
            <a:r>
              <a:rPr lang="en-US" sz="2200" b="0" i="0">
                <a:solidFill>
                  <a:srgbClr val="21252B"/>
                </a:solidFill>
                <a:latin typeface="Cambria Math"/>
                <a:ea typeface="Cambria Math"/>
                <a:cs typeface="Cambria Math"/>
                <a:sym typeface="Cambria Math"/>
              </a:rPr>
              <a:t> = ⟨(v − μ</a:t>
            </a:r>
            <a:r>
              <a:rPr lang="en-US" sz="2200" b="0" i="0" baseline="-25000">
                <a:solidFill>
                  <a:srgbClr val="21252B"/>
                </a:solidFill>
                <a:latin typeface="Cambria Math"/>
                <a:ea typeface="Cambria Math"/>
                <a:cs typeface="Cambria Math"/>
                <a:sym typeface="Cambria Math"/>
              </a:rPr>
              <a:t>v</a:t>
            </a:r>
            <a:r>
              <a:rPr lang="en-US" sz="2200" b="0" i="0">
                <a:solidFill>
                  <a:srgbClr val="21252B"/>
                </a:solidFill>
                <a:latin typeface="Cambria Math"/>
                <a:ea typeface="Cambria Math"/>
                <a:cs typeface="Cambria Math"/>
                <a:sym typeface="Cambria Math"/>
              </a:rPr>
              <a:t>)(v − μ</a:t>
            </a:r>
            <a:r>
              <a:rPr lang="en-US" sz="2200" b="0" i="0" baseline="-25000">
                <a:solidFill>
                  <a:srgbClr val="21252B"/>
                </a:solidFill>
                <a:latin typeface="Cambria Math"/>
                <a:ea typeface="Cambria Math"/>
                <a:cs typeface="Cambria Math"/>
                <a:sym typeface="Cambria Math"/>
              </a:rPr>
              <a:t>v</a:t>
            </a:r>
            <a:r>
              <a:rPr lang="en-US" sz="2200" b="0" i="0">
                <a:solidFill>
                  <a:srgbClr val="21252B"/>
                </a:solidFill>
                <a:latin typeface="Cambria Math"/>
                <a:ea typeface="Cambria Math"/>
                <a:cs typeface="Cambria Math"/>
                <a:sym typeface="Cambria Math"/>
              </a:rPr>
              <a:t>)</a:t>
            </a:r>
            <a:r>
              <a:rPr lang="en-US" sz="2200" b="0" i="0" baseline="30000">
                <a:solidFill>
                  <a:srgbClr val="21252B"/>
                </a:solidFill>
                <a:latin typeface="Cambria Math"/>
                <a:ea typeface="Cambria Math"/>
                <a:cs typeface="Cambria Math"/>
                <a:sym typeface="Cambria Math"/>
              </a:rPr>
              <a:t>⊤</a:t>
            </a:r>
            <a:r>
              <a:rPr lang="en-US" sz="2200" b="0" i="0">
                <a:solidFill>
                  <a:srgbClr val="21252B"/>
                </a:solidFill>
                <a:latin typeface="Cambria Math"/>
                <a:ea typeface="Cambria Math"/>
                <a:cs typeface="Cambria Math"/>
                <a:sym typeface="Cambria Math"/>
              </a:rPr>
              <a:t>⟩</a:t>
            </a:r>
          </a:p>
        </p:txBody>
      </p:sp>
      <p:sp>
        <p:nvSpPr>
          <p:cNvPr id="861" name="Google Shape;861;p52"/>
          <p:cNvSpPr/>
          <p:nvPr/>
        </p:nvSpPr>
        <p:spPr>
          <a:xfrm>
            <a:off x="502920" y="5971032"/>
            <a:ext cx="11155680" cy="356616"/>
          </a:xfrm>
          <a:prstGeom prst="rect">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2" name="Google Shape;862;p52"/>
          <p:cNvSpPr txBox="1"/>
          <p:nvPr/>
        </p:nvSpPr>
        <p:spPr>
          <a:xfrm>
            <a:off x="658368" y="6021324"/>
            <a:ext cx="10844784" cy="246888"/>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750" b="1" i="0" u="none" strike="noStrike" cap="none">
                <a:solidFill>
                  <a:srgbClr val="245D68"/>
                </a:solidFill>
                <a:latin typeface="Arial"/>
                <a:ea typeface="Arial"/>
                <a:cs typeface="Arial"/>
                <a:sym typeface="Arial"/>
              </a:rPr>
              <a:t>Removing a segment changes the empirical means as well as the cross-products.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67"/>
        <p:cNvGrpSpPr/>
        <p:nvPr/>
      </p:nvGrpSpPr>
      <p:grpSpPr>
        <a:xfrm>
          <a:off x="0" y="0"/>
          <a:ext cx="0" cy="0"/>
          <a:chOff x="0" y="0"/>
          <a:chExt cx="0" cy="0"/>
        </a:xfrm>
      </p:grpSpPr>
      <p:sp>
        <p:nvSpPr>
          <p:cNvPr id="868" name="Google Shape;868;p53"/>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BACKUP · GESPO SETTINGS</a:t>
            </a:r>
            <a:endParaRPr/>
          </a:p>
        </p:txBody>
      </p:sp>
      <p:sp>
        <p:nvSpPr>
          <p:cNvPr id="869" name="Google Shape;869;p53"/>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GESPO settings for the two production campaigns</a:t>
            </a:r>
            <a:endParaRPr/>
          </a:p>
        </p:txBody>
      </p:sp>
      <p:cxnSp>
        <p:nvCxnSpPr>
          <p:cNvPr id="870" name="Google Shape;870;p53"/>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871" name="Google Shape;871;p53"/>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GESPO (manuscript, 2026), Appendix: reproducibility tables.</a:t>
            </a:r>
          </a:p>
        </p:txBody>
      </p:sp>
      <p:sp>
        <p:nvSpPr>
          <p:cNvPr id="872" name="Google Shape;872;p53"/>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BACKUP 06</a:t>
            </a:r>
            <a:endParaRPr/>
          </a:p>
        </p:txBody>
      </p:sp>
      <p:sp>
        <p:nvSpPr>
          <p:cNvPr id="5001" name="Shape 5001"/>
          <p:cNvSpPr/>
          <p:nvPr/>
        </p:nvSpPr>
        <p:spPr>
          <a:xfrm>
            <a:off x="548640" y="1417320"/>
            <a:ext cx="11064240" cy="384048"/>
          </a:xfrm>
          <a:prstGeom prst="rect">
            <a:avLst/>
          </a:prstGeom>
          <a:solidFill>
            <a:srgbClr val="E9EDF1"/>
          </a:solidFill>
          <a:ln w="12700">
            <a:solidFill>
              <a:srgbClr val="D5DCE2"/>
            </a:solidFill>
          </a:ln>
        </p:spPr>
        <p:txBody>
          <a:bodyPr spcFirstLastPara="1" wrap="square" lIns="45720" tIns="0" rIns="45720" bIns="0" anchor="ctr" anchorCtr="0">
            <a:noAutofit/>
          </a:bodyPr>
          <a:lstStyle/>
          <a:p>
            <a:endParaRPr lang="en-US"/>
          </a:p>
        </p:txBody>
      </p:sp>
      <p:sp>
        <p:nvSpPr>
          <p:cNvPr id="5002" name="Text 5002"/>
          <p:cNvSpPr txBox="1"/>
          <p:nvPr/>
        </p:nvSpPr>
        <p:spPr>
          <a:xfrm>
            <a:off x="640080" y="1481328"/>
            <a:ext cx="1874520" cy="292608"/>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endParaRPr/>
          </a:p>
        </p:txBody>
      </p:sp>
      <p:sp>
        <p:nvSpPr>
          <p:cNvPr id="5003" name="Text 5003"/>
          <p:cNvSpPr txBox="1"/>
          <p:nvPr/>
        </p:nvSpPr>
        <p:spPr>
          <a:xfrm>
            <a:off x="2651760" y="1481328"/>
            <a:ext cx="4389120" cy="292608"/>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200" b="1" i="0" u="none" strike="noStrike" cap="none">
                <a:solidFill>
                  <a:srgbClr val="59616B"/>
                </a:solidFill>
                <a:latin typeface="Arial"/>
                <a:ea typeface="Arial"/>
                <a:cs typeface="Arial"/>
                <a:sym typeface="Arial"/>
              </a:rPr>
              <a:t>Trp-cage</a:t>
            </a:r>
          </a:p>
        </p:txBody>
      </p:sp>
      <p:sp>
        <p:nvSpPr>
          <p:cNvPr id="5004" name="Text 5004"/>
          <p:cNvSpPr txBox="1"/>
          <p:nvPr/>
        </p:nvSpPr>
        <p:spPr>
          <a:xfrm>
            <a:off x="7178040" y="1481328"/>
            <a:ext cx="4389120" cy="292608"/>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200" b="1" i="0" u="none" strike="noStrike" cap="none">
                <a:solidFill>
                  <a:srgbClr val="59616B"/>
                </a:solidFill>
                <a:latin typeface="Arial"/>
                <a:ea typeface="Arial"/>
                <a:cs typeface="Arial"/>
                <a:sym typeface="Arial"/>
              </a:rPr>
              <a:t>Trypsin–benzamidine</a:t>
            </a:r>
          </a:p>
        </p:txBody>
      </p:sp>
      <p:sp>
        <p:nvSpPr>
          <p:cNvPr id="5005" name="Shape 5005"/>
          <p:cNvSpPr/>
          <p:nvPr/>
        </p:nvSpPr>
        <p:spPr>
          <a:xfrm>
            <a:off x="548640" y="1801368"/>
            <a:ext cx="11064240" cy="548640"/>
          </a:xfrm>
          <a:prstGeom prst="rect">
            <a:avLst/>
          </a:prstGeom>
          <a:solidFill>
            <a:srgbClr val="FFFFFF"/>
          </a:solidFill>
          <a:ln w="12700">
            <a:solidFill>
              <a:srgbClr val="D5DCE2"/>
            </a:solidFill>
          </a:ln>
        </p:spPr>
        <p:txBody>
          <a:bodyPr spcFirstLastPara="1" wrap="square" lIns="45720" tIns="0" rIns="45720" bIns="0" anchor="ctr" anchorCtr="0">
            <a:noAutofit/>
          </a:bodyPr>
          <a:lstStyle/>
          <a:p>
            <a:endParaRPr lang="en-US"/>
          </a:p>
        </p:txBody>
      </p:sp>
      <p:sp>
        <p:nvSpPr>
          <p:cNvPr id="5006" name="Text 5006"/>
          <p:cNvSpPr txBox="1"/>
          <p:nvPr/>
        </p:nvSpPr>
        <p:spPr>
          <a:xfrm>
            <a:off x="640080" y="1865376"/>
            <a:ext cx="18745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1" i="0" u="none" strike="noStrike" cap="none">
                <a:solidFill>
                  <a:srgbClr val="21252B"/>
                </a:solidFill>
                <a:latin typeface="Arial"/>
                <a:ea typeface="Arial"/>
                <a:cs typeface="Arial"/>
                <a:sym typeface="Arial"/>
              </a:rPr>
              <a:t>Force field, T</a:t>
            </a:r>
          </a:p>
        </p:txBody>
      </p:sp>
      <p:sp>
        <p:nvSpPr>
          <p:cNvPr id="5007" name="Text 5007"/>
          <p:cNvSpPr txBox="1"/>
          <p:nvPr/>
        </p:nvSpPr>
        <p:spPr>
          <a:xfrm>
            <a:off x="2651760" y="1865376"/>
            <a:ext cx="43891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CHARMM36, TIP3P; 300 K</a:t>
            </a:r>
          </a:p>
        </p:txBody>
      </p:sp>
      <p:sp>
        <p:nvSpPr>
          <p:cNvPr id="5008" name="Text 5008"/>
          <p:cNvSpPr txBox="1"/>
          <p:nvPr/>
        </p:nvSpPr>
        <p:spPr>
          <a:xfrm>
            <a:off x="7178040" y="1865376"/>
            <a:ext cx="43891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AMBER14 + GAFF2, TIP3P; 298 K</a:t>
            </a:r>
          </a:p>
        </p:txBody>
      </p:sp>
      <p:sp>
        <p:nvSpPr>
          <p:cNvPr id="5009" name="Shape 5009"/>
          <p:cNvSpPr/>
          <p:nvPr/>
        </p:nvSpPr>
        <p:spPr>
          <a:xfrm>
            <a:off x="548640" y="2350008"/>
            <a:ext cx="11064240" cy="548640"/>
          </a:xfrm>
          <a:prstGeom prst="rect">
            <a:avLst/>
          </a:prstGeom>
          <a:solidFill>
            <a:srgbClr val="FFFFFF"/>
          </a:solidFill>
          <a:ln w="12700">
            <a:solidFill>
              <a:srgbClr val="D5DCE2"/>
            </a:solidFill>
          </a:ln>
        </p:spPr>
        <p:txBody>
          <a:bodyPr spcFirstLastPara="1" wrap="square" lIns="45720" tIns="0" rIns="45720" bIns="0" anchor="ctr" anchorCtr="0">
            <a:noAutofit/>
          </a:bodyPr>
          <a:lstStyle/>
          <a:p>
            <a:endParaRPr lang="en-US"/>
          </a:p>
        </p:txBody>
      </p:sp>
      <p:sp>
        <p:nvSpPr>
          <p:cNvPr id="5010" name="Text 5010"/>
          <p:cNvSpPr txBox="1"/>
          <p:nvPr/>
        </p:nvSpPr>
        <p:spPr>
          <a:xfrm>
            <a:off x="640080" y="2414016"/>
            <a:ext cx="18745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1" i="0" u="none" strike="noStrike" cap="none">
                <a:solidFill>
                  <a:srgbClr val="21252B"/>
                </a:solidFill>
                <a:latin typeface="Arial"/>
                <a:ea typeface="Arial"/>
                <a:cs typeface="Arial"/>
                <a:sym typeface="Arial"/>
              </a:rPr>
              <a:t>Trajectories</a:t>
            </a:r>
          </a:p>
        </p:txBody>
      </p:sp>
      <p:sp>
        <p:nvSpPr>
          <p:cNvPr id="5011" name="Text 5011"/>
          <p:cNvSpPr txBox="1"/>
          <p:nvPr/>
        </p:nvSpPr>
        <p:spPr>
          <a:xfrm>
            <a:off x="2651760" y="2414016"/>
            <a:ext cx="43891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G = 12 per epoch, 200 ps each</a:t>
            </a:r>
          </a:p>
        </p:txBody>
      </p:sp>
      <p:sp>
        <p:nvSpPr>
          <p:cNvPr id="5012" name="Text 5012"/>
          <p:cNvSpPr txBox="1"/>
          <p:nvPr/>
        </p:nvSpPr>
        <p:spPr>
          <a:xfrm>
            <a:off x="7178040" y="2414016"/>
            <a:ext cx="43891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G = 12 per epoch, 2 ns each</a:t>
            </a:r>
          </a:p>
        </p:txBody>
      </p:sp>
      <p:sp>
        <p:nvSpPr>
          <p:cNvPr id="5013" name="Shape 5013"/>
          <p:cNvSpPr/>
          <p:nvPr/>
        </p:nvSpPr>
        <p:spPr>
          <a:xfrm>
            <a:off x="548640" y="2898648"/>
            <a:ext cx="11064240" cy="548640"/>
          </a:xfrm>
          <a:prstGeom prst="rect">
            <a:avLst/>
          </a:prstGeom>
          <a:solidFill>
            <a:srgbClr val="FFFFFF"/>
          </a:solidFill>
          <a:ln w="12700">
            <a:solidFill>
              <a:srgbClr val="D5DCE2"/>
            </a:solidFill>
          </a:ln>
        </p:spPr>
        <p:txBody>
          <a:bodyPr spcFirstLastPara="1" wrap="square" lIns="45720" tIns="0" rIns="45720" bIns="0" anchor="ctr" anchorCtr="0">
            <a:noAutofit/>
          </a:bodyPr>
          <a:lstStyle/>
          <a:p>
            <a:endParaRPr lang="en-US"/>
          </a:p>
        </p:txBody>
      </p:sp>
      <p:sp>
        <p:nvSpPr>
          <p:cNvPr id="5014" name="Text 5014"/>
          <p:cNvSpPr txBox="1"/>
          <p:nvPr/>
        </p:nvSpPr>
        <p:spPr>
          <a:xfrm>
            <a:off x="640080" y="2962656"/>
            <a:ext cx="18745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1" i="0" u="none" strike="noStrike" cap="none">
                <a:solidFill>
                  <a:srgbClr val="21252B"/>
                </a:solidFill>
                <a:latin typeface="Arial"/>
                <a:ea typeface="Arial"/>
                <a:cs typeface="Arial"/>
                <a:sym typeface="Arial"/>
              </a:rPr>
              <a:t>Campaign</a:t>
            </a:r>
          </a:p>
        </p:txBody>
      </p:sp>
      <p:sp>
        <p:nvSpPr>
          <p:cNvPr id="5015" name="Text 5015"/>
          <p:cNvSpPr txBox="1"/>
          <p:nvPr/>
        </p:nvSpPr>
        <p:spPr>
          <a:xfrm>
            <a:off x="2651760" y="2962656"/>
            <a:ext cx="43891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3 rounds (10, 12, 24 epochs); 115.2 ns</a:t>
            </a:r>
          </a:p>
        </p:txBody>
      </p:sp>
      <p:sp>
        <p:nvSpPr>
          <p:cNvPr id="5016" name="Text 5016"/>
          <p:cNvSpPr txBox="1"/>
          <p:nvPr/>
        </p:nvSpPr>
        <p:spPr>
          <a:xfrm>
            <a:off x="7178040" y="2962656"/>
            <a:ext cx="43891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2 rounds × 15 epochs; 720 ns</a:t>
            </a:r>
          </a:p>
        </p:txBody>
      </p:sp>
      <p:sp>
        <p:nvSpPr>
          <p:cNvPr id="5017" name="Shape 5017"/>
          <p:cNvSpPr/>
          <p:nvPr/>
        </p:nvSpPr>
        <p:spPr>
          <a:xfrm>
            <a:off x="548640" y="3447288"/>
            <a:ext cx="11064240" cy="548640"/>
          </a:xfrm>
          <a:prstGeom prst="rect">
            <a:avLst/>
          </a:prstGeom>
          <a:solidFill>
            <a:srgbClr val="FFFFFF"/>
          </a:solidFill>
          <a:ln w="12700">
            <a:solidFill>
              <a:srgbClr val="D5DCE2"/>
            </a:solidFill>
          </a:ln>
        </p:spPr>
        <p:txBody>
          <a:bodyPr spcFirstLastPara="1" wrap="square" lIns="45720" tIns="0" rIns="45720" bIns="0" anchor="ctr" anchorCtr="0">
            <a:noAutofit/>
          </a:bodyPr>
          <a:lstStyle/>
          <a:p>
            <a:endParaRPr lang="en-US"/>
          </a:p>
        </p:txBody>
      </p:sp>
      <p:sp>
        <p:nvSpPr>
          <p:cNvPr id="5018" name="Text 5018"/>
          <p:cNvSpPr txBox="1"/>
          <p:nvPr/>
        </p:nvSpPr>
        <p:spPr>
          <a:xfrm>
            <a:off x="640080" y="3511296"/>
            <a:ext cx="18745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1" i="0" u="none" strike="noStrike" cap="none">
                <a:solidFill>
                  <a:srgbClr val="21252B"/>
                </a:solidFill>
                <a:latin typeface="Arial"/>
                <a:ea typeface="Arial"/>
                <a:cs typeface="Arial"/>
                <a:sym typeface="Arial"/>
              </a:rPr>
              <a:t>Initial data</a:t>
            </a:r>
          </a:p>
        </p:txBody>
      </p:sp>
      <p:sp>
        <p:nvSpPr>
          <p:cNvPr id="5019" name="Text 5019"/>
          <p:cNvSpPr txBox="1"/>
          <p:nvPr/>
        </p:nvSpPr>
        <p:spPr>
          <a:xfrm>
            <a:off x="2651760" y="3511296"/>
            <a:ext cx="43891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4.8 ns bootstrap (discrete-state variant)</a:t>
            </a:r>
          </a:p>
        </p:txBody>
      </p:sp>
      <p:sp>
        <p:nvSpPr>
          <p:cNvPr id="5020" name="Text 5020"/>
          <p:cNvSpPr txBox="1"/>
          <p:nvPr/>
        </p:nvSpPr>
        <p:spPr>
          <a:xfrm>
            <a:off x="7178040" y="3511296"/>
            <a:ext cx="43891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100 ns well-tempered metadynamics (excluded from kinetics)</a:t>
            </a:r>
          </a:p>
        </p:txBody>
      </p:sp>
      <p:sp>
        <p:nvSpPr>
          <p:cNvPr id="5021" name="Shape 5021"/>
          <p:cNvSpPr/>
          <p:nvPr/>
        </p:nvSpPr>
        <p:spPr>
          <a:xfrm>
            <a:off x="548640" y="3995928"/>
            <a:ext cx="11064240" cy="548640"/>
          </a:xfrm>
          <a:prstGeom prst="rect">
            <a:avLst/>
          </a:prstGeom>
          <a:solidFill>
            <a:srgbClr val="FFFFFF"/>
          </a:solidFill>
          <a:ln w="12700">
            <a:solidFill>
              <a:srgbClr val="D5DCE2"/>
            </a:solidFill>
          </a:ln>
        </p:spPr>
        <p:txBody>
          <a:bodyPr spcFirstLastPara="1" wrap="square" lIns="45720" tIns="0" rIns="45720" bIns="0" anchor="ctr" anchorCtr="0">
            <a:noAutofit/>
          </a:bodyPr>
          <a:lstStyle/>
          <a:p>
            <a:endParaRPr lang="en-US"/>
          </a:p>
        </p:txBody>
      </p:sp>
      <p:sp>
        <p:nvSpPr>
          <p:cNvPr id="5022" name="Text 5022"/>
          <p:cNvSpPr txBox="1"/>
          <p:nvPr/>
        </p:nvSpPr>
        <p:spPr>
          <a:xfrm>
            <a:off x="640080" y="4059936"/>
            <a:ext cx="18745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1" i="0" u="none" strike="noStrike" cap="none">
                <a:solidFill>
                  <a:srgbClr val="21252B"/>
                </a:solidFill>
                <a:latin typeface="Arial"/>
                <a:ea typeface="Arial"/>
                <a:cs typeface="Arial"/>
                <a:sym typeface="Arial"/>
              </a:rPr>
              <a:t>Policy</a:t>
            </a:r>
          </a:p>
        </p:txBody>
      </p:sp>
      <p:sp>
        <p:nvSpPr>
          <p:cNvPr id="5023" name="Text 5023"/>
          <p:cNvSpPr txBox="1"/>
          <p:nvPr/>
        </p:nvSpPr>
        <p:spPr>
          <a:xfrm>
            <a:off x="2651760" y="4059936"/>
            <a:ext cx="43891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4 layers, d = 256, 8 heads, 8 mixtures; 3 descriptors + 20 residues</a:t>
            </a:r>
          </a:p>
        </p:txBody>
      </p:sp>
      <p:sp>
        <p:nvSpPr>
          <p:cNvPr id="5024" name="Text 5024"/>
          <p:cNvSpPr txBox="1"/>
          <p:nvPr/>
        </p:nvSpPr>
        <p:spPr>
          <a:xfrm>
            <a:off x="7178040" y="4059936"/>
            <a:ext cx="43891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5 descriptors + 223 residues + 2 ligand torsions</a:t>
            </a:r>
          </a:p>
        </p:txBody>
      </p:sp>
      <p:sp>
        <p:nvSpPr>
          <p:cNvPr id="5025" name="Shape 5025"/>
          <p:cNvSpPr/>
          <p:nvPr/>
        </p:nvSpPr>
        <p:spPr>
          <a:xfrm>
            <a:off x="548640" y="4544568"/>
            <a:ext cx="11064240" cy="548640"/>
          </a:xfrm>
          <a:prstGeom prst="rect">
            <a:avLst/>
          </a:prstGeom>
          <a:solidFill>
            <a:srgbClr val="FFFFFF"/>
          </a:solidFill>
          <a:ln w="12700">
            <a:solidFill>
              <a:srgbClr val="D5DCE2"/>
            </a:solidFill>
          </a:ln>
        </p:spPr>
        <p:txBody>
          <a:bodyPr spcFirstLastPara="1" wrap="square" lIns="45720" tIns="0" rIns="45720" bIns="0" anchor="ctr" anchorCtr="0">
            <a:noAutofit/>
          </a:bodyPr>
          <a:lstStyle/>
          <a:p>
            <a:endParaRPr lang="en-US"/>
          </a:p>
        </p:txBody>
      </p:sp>
      <p:sp>
        <p:nvSpPr>
          <p:cNvPr id="5026" name="Text 5026"/>
          <p:cNvSpPr txBox="1"/>
          <p:nvPr/>
        </p:nvSpPr>
        <p:spPr>
          <a:xfrm>
            <a:off x="640080" y="4608576"/>
            <a:ext cx="18745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1" i="0" u="none" strike="noStrike" cap="none">
                <a:solidFill>
                  <a:srgbClr val="21252B"/>
                </a:solidFill>
                <a:latin typeface="Arial"/>
                <a:ea typeface="Arial"/>
                <a:cs typeface="Arial"/>
                <a:sym typeface="Arial"/>
              </a:rPr>
              <a:t>GRPO</a:t>
            </a:r>
          </a:p>
        </p:txBody>
      </p:sp>
      <p:sp>
        <p:nvSpPr>
          <p:cNvPr id="5027" name="Text 5027"/>
          <p:cNvSpPr txBox="1"/>
          <p:nvPr/>
        </p:nvSpPr>
        <p:spPr>
          <a:xfrm>
            <a:off x="2651760" y="4608576"/>
            <a:ext cx="43891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lr 2×10⁻⁴; 10 iterations/epoch; ε = 0.1; KL 0.2; entropy 0.1–0.2</a:t>
            </a:r>
          </a:p>
        </p:txBody>
      </p:sp>
      <p:sp>
        <p:nvSpPr>
          <p:cNvPr id="5028" name="Text 5028"/>
          <p:cNvSpPr txBox="1"/>
          <p:nvPr/>
        </p:nvSpPr>
        <p:spPr>
          <a:xfrm>
            <a:off x="7178040" y="4608576"/>
            <a:ext cx="43891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lr 5×10⁻⁵; 20 iterations/epoch; ε = 0.1; KL 0.1; entropy 0.15</a:t>
            </a:r>
          </a:p>
        </p:txBody>
      </p:sp>
      <p:sp>
        <p:nvSpPr>
          <p:cNvPr id="5029" name="Shape 5029"/>
          <p:cNvSpPr/>
          <p:nvPr/>
        </p:nvSpPr>
        <p:spPr>
          <a:xfrm>
            <a:off x="548640" y="5093208"/>
            <a:ext cx="11064240" cy="548640"/>
          </a:xfrm>
          <a:prstGeom prst="rect">
            <a:avLst/>
          </a:prstGeom>
          <a:solidFill>
            <a:srgbClr val="FFFFFF"/>
          </a:solidFill>
          <a:ln w="12700">
            <a:solidFill>
              <a:srgbClr val="D5DCE2"/>
            </a:solidFill>
          </a:ln>
        </p:spPr>
        <p:txBody>
          <a:bodyPr spcFirstLastPara="1" wrap="square" lIns="45720" tIns="0" rIns="45720" bIns="0" anchor="ctr" anchorCtr="0">
            <a:noAutofit/>
          </a:bodyPr>
          <a:lstStyle/>
          <a:p>
            <a:endParaRPr lang="en-US"/>
          </a:p>
        </p:txBody>
      </p:sp>
      <p:sp>
        <p:nvSpPr>
          <p:cNvPr id="5030" name="Text 5030"/>
          <p:cNvSpPr txBox="1"/>
          <p:nvPr/>
        </p:nvSpPr>
        <p:spPr>
          <a:xfrm>
            <a:off x="640080" y="5157216"/>
            <a:ext cx="18745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1" i="0" u="none" strike="noStrike" cap="none">
                <a:solidFill>
                  <a:srgbClr val="21252B"/>
                </a:solidFill>
                <a:latin typeface="Arial"/>
                <a:ea typeface="Arial"/>
                <a:cs typeface="Arial"/>
                <a:sym typeface="Arial"/>
              </a:rPr>
              <a:t>Realization</a:t>
            </a:r>
          </a:p>
        </p:txBody>
      </p:sp>
      <p:sp>
        <p:nvSpPr>
          <p:cNvPr id="5031" name="Text 5031"/>
          <p:cNvSpPr txBox="1"/>
          <p:nvPr/>
        </p:nvSpPr>
        <p:spPr>
          <a:xfrm>
            <a:off x="2651760" y="5157216"/>
            <a:ext cx="43891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Restrain bank frame toward proposal, release before production</a:t>
            </a:r>
          </a:p>
        </p:txBody>
      </p:sp>
      <p:sp>
        <p:nvSpPr>
          <p:cNvPr id="5032" name="Text 5032"/>
          <p:cNvSpPr txBox="1"/>
          <p:nvPr/>
        </p:nvSpPr>
        <p:spPr>
          <a:xfrm>
            <a:off x="7178040" y="5157216"/>
            <a:ext cx="4389120" cy="457200"/>
          </a:xfrm>
          <a:prstGeom prst="rect">
            <a:avLst/>
          </a:prstGeom>
          <a:noFill/>
          <a:ln>
            <a:noFill/>
          </a:ln>
        </p:spPr>
        <p:txBody>
          <a:bodyPr spcFirstLastPara="1" wrap="square" lIns="0" tIns="0" rIns="0" bIns="0" anchor="t" anchorCtr="0">
            <a:noAutofit/>
          </a:bodyPr>
          <a:lstStyle/>
          <a:p>
            <a:pPr marL="0" marR="0" lvl="0" indent="0" algn="l" rtl="0">
              <a:lnSpc>
                <a:spcPct val="108000"/>
              </a:lnSpc>
              <a:spcBef>
                <a:spcPts val="0"/>
              </a:spcBef>
              <a:spcAft>
                <a:spcPts val="0"/>
              </a:spcAft>
              <a:buNone/>
            </a:pPr>
            <a:r>
              <a:rPr lang="en-US" sz="1150" b="0" i="0" u="none" strike="noStrike" cap="none">
                <a:solidFill>
                  <a:srgbClr val="21252B"/>
                </a:solidFill>
                <a:latin typeface="Arial"/>
                <a:ea typeface="Arial"/>
                <a:cs typeface="Arial"/>
                <a:sym typeface="Arial"/>
              </a:rPr>
              <a:t>Same; ligand–pocket flat-bottom restraint only during realization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0"/>
        <p:cNvGrpSpPr/>
        <p:nvPr/>
      </p:nvGrpSpPr>
      <p:grpSpPr>
        <a:xfrm>
          <a:off x="0" y="0"/>
          <a:ext cx="0" cy="0"/>
          <a:chOff x="0" y="0"/>
          <a:chExt cx="0" cy="0"/>
        </a:xfrm>
      </p:grpSpPr>
      <p:sp>
        <p:nvSpPr>
          <p:cNvPr id="401" name="Google Shape;401;g40a1acaee85_0_0"/>
          <p:cNvSpPr txBox="1"/>
          <p:nvPr/>
        </p:nvSpPr>
        <p:spPr>
          <a:xfrm>
            <a:off x="521207" y="292608"/>
            <a:ext cx="10058400" cy="1692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BACKUP · RL POST-TRAINING IN LANGUAGE MODELS</a:t>
            </a:r>
            <a:endParaRPr/>
          </a:p>
        </p:txBody>
      </p:sp>
      <p:sp>
        <p:nvSpPr>
          <p:cNvPr id="402" name="Google Shape;402;g40a1acaee85_0_0"/>
          <p:cNvSpPr txBox="1"/>
          <p:nvPr/>
        </p:nvSpPr>
        <p:spPr>
          <a:xfrm>
            <a:off x="502920" y="658368"/>
            <a:ext cx="11119200" cy="4542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Analogy: RL post-training of a language model (DeepSeek-R1)</a:t>
            </a:r>
            <a:endParaRPr/>
          </a:p>
        </p:txBody>
      </p:sp>
      <p:cxnSp>
        <p:nvCxnSpPr>
          <p:cNvPr id="403" name="Google Shape;403;g40a1acaee85_0_0"/>
          <p:cNvCxnSpPr/>
          <p:nvPr/>
        </p:nvCxnSpPr>
        <p:spPr>
          <a:xfrm>
            <a:off x="502920" y="6473952"/>
            <a:ext cx="11183100" cy="0"/>
          </a:xfrm>
          <a:prstGeom prst="straightConnector1">
            <a:avLst/>
          </a:prstGeom>
          <a:noFill/>
          <a:ln w="9525" cap="flat" cmpd="sng">
            <a:solidFill>
              <a:srgbClr val="CFD5DC"/>
            </a:solidFill>
            <a:prstDash val="solid"/>
            <a:round/>
            <a:headEnd type="none" w="sm" len="sm"/>
            <a:tailEnd type="none" w="sm" len="sm"/>
          </a:ln>
        </p:spPr>
      </p:cxnSp>
      <p:sp>
        <p:nvSpPr>
          <p:cNvPr id="404" name="Google Shape;404;g40a1acaee85_0_0"/>
          <p:cNvSpPr txBox="1"/>
          <p:nvPr/>
        </p:nvSpPr>
        <p:spPr>
          <a:xfrm>
            <a:off x="530352" y="6519672"/>
            <a:ext cx="9692700" cy="1260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Figure: DeepSeek-AI, DeepSeek-R1 (2025); shown as an analogy only</a:t>
            </a:r>
            <a:endParaRPr/>
          </a:p>
        </p:txBody>
      </p:sp>
      <p:sp>
        <p:nvSpPr>
          <p:cNvPr id="405" name="Google Shape;405;g40a1acaee85_0_0"/>
          <p:cNvSpPr txBox="1"/>
          <p:nvPr/>
        </p:nvSpPr>
        <p:spPr>
          <a:xfrm>
            <a:off x="10424160" y="6510528"/>
            <a:ext cx="1216200" cy="14610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BACKUP 07</a:t>
            </a:r>
            <a:endParaRPr/>
          </a:p>
        </p:txBody>
      </p:sp>
      <p:sp>
        <p:nvSpPr>
          <p:cNvPr id="406" name="Google Shape;406;g40a1acaee85_0_0"/>
          <p:cNvSpPr/>
          <p:nvPr/>
        </p:nvSpPr>
        <p:spPr>
          <a:xfrm>
            <a:off x="502920" y="5971032"/>
            <a:ext cx="11155800" cy="356700"/>
          </a:xfrm>
          <a:prstGeom prst="rect">
            <a:avLst/>
          </a:prstGeom>
          <a:solidFill>
            <a:srgbClr val="EFF5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7" name="Google Shape;407;g40a1acaee85_0_0"/>
          <p:cNvSpPr txBox="1"/>
          <p:nvPr/>
        </p:nvSpPr>
        <p:spPr>
          <a:xfrm>
            <a:off x="658368" y="6021324"/>
            <a:ext cx="10844700" cy="2772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800" b="1" i="0" u="none" strike="noStrike" cap="none">
                <a:solidFill>
                  <a:srgbClr val="245D68"/>
                </a:solidFill>
                <a:latin typeface="Arial"/>
                <a:ea typeface="Arial"/>
                <a:cs typeface="Arial"/>
                <a:sym typeface="Arial"/>
              </a:rPr>
              <a:t>GESPO borrows the update rule (GRPO), not the model or the data.</a:t>
            </a:r>
            <a:endParaRPr/>
          </a:p>
        </p:txBody>
      </p:sp>
      <p:pic>
        <p:nvPicPr>
          <p:cNvPr id="408" name="Google Shape;408;g40a1acaee85_0_0" title="Screenshot From 2026-09-22 17-50-14.png"/>
          <p:cNvPicPr preferRelativeResize="0"/>
          <p:nvPr/>
        </p:nvPicPr>
        <p:blipFill>
          <a:blip r:embed="rId3">
            <a:alphaModFix/>
          </a:blip>
          <a:stretch>
            <a:fillRect/>
          </a:stretch>
        </p:blipFill>
        <p:spPr>
          <a:xfrm>
            <a:off x="55700" y="1675837"/>
            <a:ext cx="7689799" cy="3584087"/>
          </a:xfrm>
          <a:prstGeom prst="rect">
            <a:avLst/>
          </a:prstGeom>
          <a:noFill/>
          <a:ln>
            <a:noFill/>
          </a:ln>
        </p:spPr>
      </p:pic>
      <p:pic>
        <p:nvPicPr>
          <p:cNvPr id="409" name="Google Shape;409;g40a1acaee85_0_0" title="Screenshot From 2026-09-22 17-51-51.png"/>
          <p:cNvPicPr preferRelativeResize="0"/>
          <p:nvPr/>
        </p:nvPicPr>
        <p:blipFill>
          <a:blip r:embed="rId4">
            <a:alphaModFix/>
          </a:blip>
          <a:stretch>
            <a:fillRect/>
          </a:stretch>
        </p:blipFill>
        <p:spPr>
          <a:xfrm>
            <a:off x="7700325" y="1787549"/>
            <a:ext cx="4491651" cy="325767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82"/>
        <p:cNvGrpSpPr/>
        <p:nvPr/>
      </p:nvGrpSpPr>
      <p:grpSpPr>
        <a:xfrm>
          <a:off x="0" y="0"/>
          <a:ext cx="0" cy="0"/>
          <a:chOff x="0" y="0"/>
          <a:chExt cx="0" cy="0"/>
        </a:xfrm>
      </p:grpSpPr>
      <p:sp>
        <p:nvSpPr>
          <p:cNvPr id="783" name="Google Shape;783;p44"/>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BACKUP · POLICY MARGINALS</a:t>
            </a:r>
            <a:endParaRPr/>
          </a:p>
        </p:txBody>
      </p:sp>
      <p:sp>
        <p:nvSpPr>
          <p:cNvPr id="784" name="Google Shape;784;p44"/>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Launch-policy torsion marginals for ten Trp-cage residues</a:t>
            </a:r>
            <a:endParaRPr/>
          </a:p>
        </p:txBody>
      </p:sp>
      <p:cxnSp>
        <p:nvCxnSpPr>
          <p:cNvPr id="785" name="Google Shape;785;p44"/>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786" name="Google Shape;786;p44"/>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GESPO (manuscript, 2026). Epochs 0 (dashed gray), 3 (blue) and 6 (red) over the accumulated sampling density.</a:t>
            </a:r>
          </a:p>
        </p:txBody>
      </p:sp>
      <p:sp>
        <p:nvSpPr>
          <p:cNvPr id="787" name="Google Shape;787;p44"/>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BACKUP 08</a:t>
            </a:r>
            <a:endParaRPr/>
          </a:p>
        </p:txBody>
      </p:sp>
      <p:pic>
        <p:nvPicPr>
          <p:cNvPr id="788" name="Google Shape;788;p44" descr="Source evolve_res.png; crop left/top/right/bottom (0, 0, 1, 1). Original scientific plot, not redrawn."/>
          <p:cNvPicPr preferRelativeResize="0"/>
          <p:nvPr/>
        </p:nvPicPr>
        <p:blipFill rotWithShape="1">
          <a:blip r:embed="rId3">
            <a:alphaModFix/>
          </a:blip>
          <a:srcRect/>
          <a:stretch/>
        </p:blipFill>
        <p:spPr>
          <a:xfrm>
            <a:off x="1089072" y="1618488"/>
            <a:ext cx="10010806" cy="452628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59"/>
        <p:cNvGrpSpPr/>
        <p:nvPr/>
      </p:nvGrpSpPr>
      <p:grpSpPr>
        <a:xfrm>
          <a:off x="0" y="0"/>
          <a:ext cx="0" cy="0"/>
          <a:chOff x="0" y="0"/>
          <a:chExt cx="0" cy="0"/>
        </a:xfrm>
      </p:grpSpPr>
      <p:sp>
        <p:nvSpPr>
          <p:cNvPr id="760" name="Google Shape;760;p40"/>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BACKUP · ALANINE DIPEPTIDE</a:t>
            </a:r>
            <a:endParaRPr/>
          </a:p>
        </p:txBody>
      </p:sp>
      <p:sp>
        <p:nvSpPr>
          <p:cNvPr id="761" name="Google Shape;761;p40"/>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Alanine dipeptide: basins and committors from 0.8 ns</a:t>
            </a:r>
            <a:endParaRPr/>
          </a:p>
        </p:txBody>
      </p:sp>
      <p:cxnSp>
        <p:nvCxnSpPr>
          <p:cNvPr id="762" name="Google Shape;762;p40"/>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763" name="Google Shape;763;p40"/>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GESPO (manuscript, 2026). Reference: three 250 ns unbiased trajectories (mdshare), same force field and temperature.</a:t>
            </a:r>
          </a:p>
        </p:txBody>
      </p:sp>
      <p:sp>
        <p:nvSpPr>
          <p:cNvPr id="764" name="Google Shape;764;p40"/>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BACKUP 09</a:t>
            </a:r>
            <a:endParaRPr/>
          </a:p>
        </p:txBody>
      </p:sp>
      <p:pic>
        <p:nvPicPr>
          <p:cNvPr id="765" name="Google Shape;765;p40"/>
          <p:cNvPicPr preferRelativeResize="0"/>
          <p:nvPr/>
        </p:nvPicPr>
        <p:blipFill>
          <a:blip r:embed="rId3">
            <a:alphaModFix/>
          </a:blip>
          <a:stretch>
            <a:fillRect/>
          </a:stretch>
        </p:blipFill>
        <p:spPr>
          <a:xfrm>
            <a:off x="152400" y="1393987"/>
            <a:ext cx="11636814" cy="485241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93"/>
        <p:cNvGrpSpPr/>
        <p:nvPr/>
      </p:nvGrpSpPr>
      <p:grpSpPr>
        <a:xfrm>
          <a:off x="0" y="0"/>
          <a:ext cx="0" cy="0"/>
          <a:chOff x="0" y="0"/>
          <a:chExt cx="0" cy="0"/>
        </a:xfrm>
      </p:grpSpPr>
      <p:sp>
        <p:nvSpPr>
          <p:cNvPr id="794" name="Google Shape;794;p46"/>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BACKUP · TRP-CAGE COMMITTOR</a:t>
            </a:r>
            <a:endParaRPr/>
          </a:p>
        </p:txBody>
      </p:sp>
      <p:sp>
        <p:nvSpPr>
          <p:cNvPr id="795" name="Google Shape;795;p46"/>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The Trp-cage committor varies smoothly across coordinates</a:t>
            </a:r>
            <a:endParaRPr/>
          </a:p>
        </p:txBody>
      </p:sp>
      <p:cxnSp>
        <p:nvCxnSpPr>
          <p:cNvPr id="796" name="Google Shape;796;p46"/>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797" name="Google Shape;797;p46"/>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GESPO (manuscript, 2026). DGA committor q⁺ on pairwise projections of the GESPO data.</a:t>
            </a:r>
          </a:p>
        </p:txBody>
      </p:sp>
      <p:sp>
        <p:nvSpPr>
          <p:cNvPr id="798" name="Google Shape;798;p46"/>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BACKUP 10</a:t>
            </a:r>
            <a:endParaRPr/>
          </a:p>
        </p:txBody>
      </p:sp>
      <p:pic>
        <p:nvPicPr>
          <p:cNvPr id="799" name="Google Shape;799;p46" descr="Source corner_DGA_committor_msm_roundALL_delay_nn_reduc3_emb3_del2_shift.png; crop left/top/right/bottom (0, 0, 1, 1). Original scientific plot, not redrawn."/>
          <p:cNvPicPr preferRelativeResize="0"/>
          <p:nvPr/>
        </p:nvPicPr>
        <p:blipFill rotWithShape="1">
          <a:blip r:embed="rId3">
            <a:alphaModFix/>
          </a:blip>
          <a:srcRect/>
          <a:stretch/>
        </p:blipFill>
        <p:spPr>
          <a:xfrm>
            <a:off x="3039942" y="1435608"/>
            <a:ext cx="6173075" cy="4864608"/>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04"/>
        <p:cNvGrpSpPr/>
        <p:nvPr/>
      </p:nvGrpSpPr>
      <p:grpSpPr>
        <a:xfrm>
          <a:off x="0" y="0"/>
          <a:ext cx="0" cy="0"/>
          <a:chOff x="0" y="0"/>
          <a:chExt cx="0" cy="0"/>
        </a:xfrm>
      </p:grpSpPr>
      <p:sp>
        <p:nvSpPr>
          <p:cNvPr id="805" name="Google Shape;805;p47"/>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BACKUP · TRP-CAGE REFERENCE</a:t>
            </a:r>
            <a:endParaRPr/>
          </a:p>
        </p:txBody>
      </p:sp>
      <p:sp>
        <p:nvSpPr>
          <p:cNvPr id="806" name="Google Shape;806;p47"/>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The 208 μs reference and GESPO share one topography</a:t>
            </a:r>
            <a:endParaRPr/>
          </a:p>
        </p:txBody>
      </p:sp>
      <p:cxnSp>
        <p:nvCxnSpPr>
          <p:cNvPr id="807" name="Google Shape;807;p47"/>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808" name="Google Shape;808;p47"/>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GESPO (manuscript, 2026). Left: Anton, K8A TC10b, CHARMM22*, 290 K (Lindorff-Larsen et al., 2011). Right: GESPO, CHARMM36, 300 K; sampling density, not equilibrium.</a:t>
            </a:r>
          </a:p>
        </p:txBody>
      </p:sp>
      <p:sp>
        <p:nvSpPr>
          <p:cNvPr id="809" name="Google Shape;809;p47"/>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BACKUP 11</a:t>
            </a:r>
            <a:endParaRPr/>
          </a:p>
        </p:txBody>
      </p:sp>
      <p:sp>
        <p:nvSpPr>
          <p:cNvPr id="810" name="Google Shape;810;p47"/>
          <p:cNvSpPr txBox="1"/>
          <p:nvPr/>
        </p:nvSpPr>
        <p:spPr>
          <a:xfrm>
            <a:off x="658368" y="1527048"/>
            <a:ext cx="5294376" cy="521207"/>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700" b="1" i="0" u="none" strike="noStrike" cap="none">
                <a:solidFill>
                  <a:srgbClr val="245D68"/>
                </a:solidFill>
                <a:latin typeface="Arial"/>
                <a:ea typeface="Arial"/>
                <a:cs typeface="Arial"/>
                <a:sym typeface="Arial"/>
              </a:rPr>
              <a:t>Anton reference: 208.8 μs</a:t>
            </a:r>
            <a:endParaRPr/>
          </a:p>
        </p:txBody>
      </p:sp>
      <p:sp>
        <p:nvSpPr>
          <p:cNvPr id="811" name="Google Shape;811;p47"/>
          <p:cNvSpPr txBox="1"/>
          <p:nvPr/>
        </p:nvSpPr>
        <p:spPr>
          <a:xfrm>
            <a:off x="6373368" y="1527048"/>
            <a:ext cx="5230368" cy="521207"/>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700" b="1" i="0" u="none" strike="noStrike" cap="none">
                <a:solidFill>
                  <a:srgbClr val="245D68"/>
                </a:solidFill>
                <a:latin typeface="Arial"/>
                <a:ea typeface="Arial"/>
                <a:cs typeface="Arial"/>
                <a:sym typeface="Arial"/>
              </a:rPr>
              <a:t>GESPO: 115.2 ns of short trajectories</a:t>
            </a:r>
            <a:endParaRPr/>
          </a:p>
        </p:txBody>
      </p:sp>
      <p:pic>
        <p:nvPicPr>
          <p:cNvPr id="812" name="Google Shape;812;p47" descr="Source anton_pmfs.png; crop left/top/right/bottom (0, 0, 1, 1). Original scientific plot, not redrawn."/>
          <p:cNvPicPr preferRelativeResize="0"/>
          <p:nvPr/>
        </p:nvPicPr>
        <p:blipFill rotWithShape="1">
          <a:blip r:embed="rId3">
            <a:alphaModFix/>
          </a:blip>
          <a:srcRect/>
          <a:stretch/>
        </p:blipFill>
        <p:spPr>
          <a:xfrm>
            <a:off x="816643" y="2185416"/>
            <a:ext cx="5005257" cy="3941063"/>
          </a:xfrm>
          <a:prstGeom prst="rect">
            <a:avLst/>
          </a:prstGeom>
          <a:noFill/>
          <a:ln>
            <a:noFill/>
          </a:ln>
        </p:spPr>
      </p:pic>
      <p:pic>
        <p:nvPicPr>
          <p:cNvPr id="813" name="Google Shape;813;p47" descr="Source corner_pmf_kT_msm.png; crop left/top/right/bottom (0, 0, 1, 1). Original scientific plot, not redrawn."/>
          <p:cNvPicPr preferRelativeResize="0"/>
          <p:nvPr/>
        </p:nvPicPr>
        <p:blipFill rotWithShape="1">
          <a:blip r:embed="rId4">
            <a:alphaModFix/>
          </a:blip>
          <a:srcRect/>
          <a:stretch/>
        </p:blipFill>
        <p:spPr>
          <a:xfrm>
            <a:off x="6443163" y="2185416"/>
            <a:ext cx="5017624" cy="3941063"/>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29"/>
        <p:cNvGrpSpPr/>
        <p:nvPr/>
      </p:nvGrpSpPr>
      <p:grpSpPr>
        <a:xfrm>
          <a:off x="0" y="0"/>
          <a:ext cx="0" cy="0"/>
          <a:chOff x="0" y="0"/>
          <a:chExt cx="0" cy="0"/>
        </a:xfrm>
      </p:grpSpPr>
      <p:sp>
        <p:nvSpPr>
          <p:cNvPr id="830" name="Google Shape;830;p50"/>
          <p:cNvSpPr txBox="1"/>
          <p:nvPr/>
        </p:nvSpPr>
        <p:spPr>
          <a:xfrm>
            <a:off x="521207" y="292608"/>
            <a:ext cx="10058400" cy="210312"/>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1100" b="1" i="0" u="none" strike="noStrike" cap="none">
                <a:solidFill>
                  <a:srgbClr val="245D68"/>
                </a:solidFill>
                <a:latin typeface="Arial"/>
                <a:ea typeface="Arial"/>
                <a:cs typeface="Arial"/>
                <a:sym typeface="Arial"/>
              </a:rPr>
              <a:t>BACKUP · OPENFOLD3 MSA DEPTH</a:t>
            </a:r>
            <a:endParaRPr/>
          </a:p>
        </p:txBody>
      </p:sp>
      <p:sp>
        <p:nvSpPr>
          <p:cNvPr id="831" name="Google Shape;831;p50"/>
          <p:cNvSpPr txBox="1"/>
          <p:nvPr/>
        </p:nvSpPr>
        <p:spPr>
          <a:xfrm>
            <a:off x="502920" y="658368"/>
            <a:ext cx="11119104" cy="694944"/>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2950" b="1" i="0" u="none" strike="noStrike" cap="none">
                <a:solidFill>
                  <a:srgbClr val="21252B"/>
                </a:solidFill>
                <a:latin typeface="Arial"/>
                <a:ea typeface="Arial"/>
                <a:cs typeface="Arial"/>
                <a:sym typeface="Arial"/>
              </a:rPr>
              <a:t>OpenFold3 sample spread is set by the MSA depth</a:t>
            </a:r>
            <a:endParaRPr/>
          </a:p>
        </p:txBody>
      </p:sp>
      <p:cxnSp>
        <p:nvCxnSpPr>
          <p:cNvPr id="832" name="Google Shape;832;p50"/>
          <p:cNvCxnSpPr/>
          <p:nvPr/>
        </p:nvCxnSpPr>
        <p:spPr>
          <a:xfrm>
            <a:off x="502920" y="6473952"/>
            <a:ext cx="11183112" cy="0"/>
          </a:xfrm>
          <a:prstGeom prst="straightConnector1">
            <a:avLst/>
          </a:prstGeom>
          <a:noFill/>
          <a:ln w="9525" cap="flat" cmpd="sng">
            <a:solidFill>
              <a:srgbClr val="CFD5DC"/>
            </a:solidFill>
            <a:prstDash val="solid"/>
            <a:round/>
            <a:headEnd type="none" w="sm" len="sm"/>
            <a:tailEnd type="none" w="sm" len="sm"/>
          </a:ln>
        </p:spPr>
      </p:cxnSp>
      <p:sp>
        <p:nvSpPr>
          <p:cNvPr id="833" name="Google Shape;833;p50"/>
          <p:cNvSpPr txBox="1"/>
          <p:nvPr/>
        </p:nvSpPr>
        <p:spPr>
          <a:xfrm>
            <a:off x="530352" y="6519672"/>
            <a:ext cx="9692640" cy="18288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19" b="0" i="0" u="none" strike="noStrike" cap="none">
                <a:solidFill>
                  <a:srgbClr val="59616B"/>
                </a:solidFill>
                <a:latin typeface="Arial"/>
                <a:ea typeface="Arial"/>
                <a:cs typeface="Arial"/>
                <a:sym typeface="Arial"/>
              </a:rPr>
              <a:t>Pengmei et al., GESPO (manuscript, 2026). Top: holo, benzamidine–Asp189 distance; bottom: loop RMSDs. Gray: GESPO coverage.</a:t>
            </a:r>
          </a:p>
        </p:txBody>
      </p:sp>
      <p:sp>
        <p:nvSpPr>
          <p:cNvPr id="834" name="Google Shape;834;p50"/>
          <p:cNvSpPr txBox="1"/>
          <p:nvPr/>
        </p:nvSpPr>
        <p:spPr>
          <a:xfrm>
            <a:off x="10424160" y="6510528"/>
            <a:ext cx="1216152" cy="182880"/>
          </a:xfrm>
          <a:prstGeom prst="rect">
            <a:avLst/>
          </a:prstGeom>
          <a:noFill/>
          <a:ln>
            <a:noFill/>
          </a:ln>
        </p:spPr>
        <p:txBody>
          <a:bodyPr spcFirstLastPara="1" wrap="square" lIns="0" tIns="0" rIns="0" bIns="0" anchor="t" anchorCtr="0">
            <a:spAutoFit/>
          </a:bodyPr>
          <a:lstStyle/>
          <a:p>
            <a:pPr marL="0" marR="0" lvl="0" indent="0" algn="r" rtl="0">
              <a:lnSpc>
                <a:spcPct val="108000"/>
              </a:lnSpc>
              <a:spcBef>
                <a:spcPts val="0"/>
              </a:spcBef>
              <a:spcAft>
                <a:spcPts val="0"/>
              </a:spcAft>
              <a:buNone/>
            </a:pPr>
            <a:r>
              <a:rPr lang="en-US" sz="950" b="0" i="0" u="none" strike="noStrike" cap="none">
                <a:solidFill>
                  <a:srgbClr val="59616B"/>
                </a:solidFill>
                <a:latin typeface="Arial"/>
                <a:ea typeface="Arial"/>
                <a:cs typeface="Arial"/>
                <a:sym typeface="Arial"/>
              </a:rPr>
              <a:t>BACKUP 12</a:t>
            </a:r>
            <a:endParaRPr/>
          </a:p>
        </p:txBody>
      </p:sp>
      <p:pic>
        <p:nvPicPr>
          <p:cNvPr id="835" name="Google Shape;835;p50"/>
          <p:cNvPicPr preferRelativeResize="0"/>
          <p:nvPr/>
        </p:nvPicPr>
        <p:blipFill>
          <a:blip r:embed="rId3">
            <a:alphaModFix/>
          </a:blip>
          <a:stretch>
            <a:fillRect/>
          </a:stretch>
        </p:blipFill>
        <p:spPr>
          <a:xfrm>
            <a:off x="1463040" y="1325880"/>
            <a:ext cx="9235440" cy="5082072"/>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778</TotalTime>
  <Words>17246</Words>
  <Application>Microsoft Office PowerPoint</Application>
  <PresentationFormat>Widescreen</PresentationFormat>
  <Paragraphs>1243</Paragraphs>
  <Slides>49</Slides>
  <Notes>48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Cambria Math</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Zihan Pengmei</dc:creator>
  <cp:lastModifiedBy>Zihan Pengmei</cp:lastModifiedBy>
  <cp:revision>3</cp:revision>
  <dcterms:created xsi:type="dcterms:W3CDTF">2013-01-27T09:14:16Z</dcterms:created>
  <dcterms:modified xsi:type="dcterms:W3CDTF">2026-09-24T15:25:52Z</dcterms:modified>
</cp:coreProperties>
</file>